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5" d="100"/>
          <a:sy n="85" d="100"/>
        </p:scale>
        <p:origin x="490"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635290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01 | Opening</a:t>
            </a:r>
          </a:p>
          <a:p>
            <a:endParaRPr/>
          </a:p>
          <a:p>
            <a:r>
              <a:t>Timing: ~45 seconds</a:t>
            </a:r>
          </a:p>
          <a:p>
            <a:endParaRPr/>
          </a:p>
          <a:p>
            <a:r>
              <a:t>Introduce Sahaya as a technically tested educational prototype, not a completed school intervention. The deck is built from the project ZIP and its 48-page report. The session moves from the course mandate and district context to the learner experience, open data, a small model, test evidence and responsible deployment. There are no fabricated school names, participants or learning gains.</a:t>
            </a:r>
          </a:p>
          <a:p>
            <a:endParaRPr/>
          </a:p>
          <a:p>
            <a:r>
              <a:t>Classroom cue: Ask: What makes an educational tool useful beyond simply working on a laptop?</a:t>
            </a:r>
          </a:p>
          <a:p>
            <a:endParaRPr/>
          </a:p>
          <a:p>
            <a:r>
              <a:t>Evidence / source: Report front matter; package README.md</a:t>
            </a:r>
          </a:p>
          <a:p>
            <a:endParaRPr/>
          </a:p>
          <a:p>
            <a:r>
              <a:t>Status discipline: These slides describe the delivered prototype and recorded technical tests. They do not claim school approval, a learner trial, educational impact, or remote Render deployment.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03 | Prescribed project row</a:t>
            </a:r>
          </a:p>
          <a:p>
            <a:endParaRPr/>
          </a:p>
          <a:p>
            <a:r>
              <a:t>Timing: ~1 minute</a:t>
            </a:r>
          </a:p>
          <a:p>
            <a:endParaRPr/>
          </a:p>
          <a:p>
            <a:r>
              <a:t>Read the engineering outcome, emphasizing the words “as per the requirements of the special school.” The title is reproduced only because it is the prescribed course wording. In the rest of the presentation use “learners with intellectual disabilities” or “learners requiring individualized support.” The generic prototype is delivered, but the school-specific part of the outcome is still pending. PO and SDG mapping is intended alignment rather than a certification or achieved score.</a:t>
            </a:r>
          </a:p>
          <a:p>
            <a:endParaRPr/>
          </a:p>
          <a:p>
            <a:r>
              <a:t>Classroom cue: Which part of this outcome cannot be proved with code alone? Answer: requirements from, and acceptance by, the special school.</a:t>
            </a:r>
          </a:p>
          <a:p>
            <a:endParaRPr/>
          </a:p>
          <a:p>
            <a:r>
              <a:t>Evidence / source: Report PDF p. 4; docs/REQUIREMENTS.md</a:t>
            </a:r>
          </a:p>
          <a:p>
            <a:endParaRPr/>
          </a:p>
          <a:p>
            <a:r>
              <a:t>Status discipline: These slides describe the delivered prototype and recorded technical tests. They do not claim school approval, a learner trial, educational impact, or remote Render deployment.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04 | Problem and scope</a:t>
            </a:r>
          </a:p>
          <a:p>
            <a:endParaRPr/>
          </a:p>
          <a:p>
            <a:r>
              <a:t>Timing: ~1 minute</a:t>
            </a:r>
          </a:p>
          <a:p>
            <a:endParaRPr/>
          </a:p>
          <a:p>
            <a:r>
              <a:t>Explain that these are design questions and assumptions, not findings from a local needs survey. The scope is foundational practice supported by an educator. The tool does not assess disability, rank ability, replace instruction or keep identified student accounts. Model selection comes later and serves a narrow demonstrative purpose. Requirements must reflect the actual learner, input method, communication preferences and classroom context.</a:t>
            </a:r>
          </a:p>
          <a:p>
            <a:endParaRPr/>
          </a:p>
          <a:p>
            <a:r>
              <a:t>Classroom cue: Ask learners to name one accessibility requirement that may differ between two users.</a:t>
            </a:r>
          </a:p>
          <a:p>
            <a:endParaRPr/>
          </a:p>
          <a:p>
            <a:r>
              <a:t>Evidence / source: Report Chs. 3–4; docs/REQUIREMENTS.md; docs/FIELD_PROTOCOL.md</a:t>
            </a:r>
          </a:p>
          <a:p>
            <a:endParaRPr/>
          </a:p>
          <a:p>
            <a:r>
              <a:t>Status discipline: These slides describe the delivered prototype and recorded technical tests. They do not claim school approval, a learner trial, educational impact, or remote Render deployment.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05 | District context and map provenance</a:t>
            </a:r>
          </a:p>
          <a:p>
            <a:endParaRPr/>
          </a:p>
          <a:p>
            <a:r>
              <a:t>Timing: ~50 seconds</a:t>
            </a:r>
          </a:p>
          <a:p>
            <a:endParaRPr/>
          </a:p>
          <a:p>
            <a:r>
              <a:t>Identify Karnataka and Mangaluru. The outline is extracted from geoBoundaries India ADM2, represented year 2021, source Pathways Data Pvt. Ltd. and lgdirectory.gov.in. Retrieval in 2026 does not update its boundary vintage. The Mangaluru point is an approximate hand-entered orientation marker; sea shading is schematic. No school location, partnership or service coverage is implied. The derivative GeoJSON is supplied under ODbL 1.0.</a:t>
            </a:r>
          </a:p>
          <a:p>
            <a:endParaRPr/>
          </a:p>
          <a:p>
            <a:r>
              <a:t>Classroom cue: Why is displaying a boundary year important?</a:t>
            </a:r>
          </a:p>
          <a:p>
            <a:endParaRPr/>
          </a:p>
          <a:p>
            <a:r>
              <a:t>Evidence / source: Report Ch. 2 and Appendix A; public/data/dakshina-kannada.geojson; docs/SOURCES.md</a:t>
            </a:r>
          </a:p>
          <a:p>
            <a:endParaRPr/>
          </a:p>
          <a:p>
            <a:r>
              <a:t>Status discipline: These slides describe the delivered prototype and recorded technical tests. They do not claim school approval, a learner trial, educational impact, or remote Render deployment.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06 | Content composition</a:t>
            </a:r>
          </a:p>
          <a:p>
            <a:endParaRPr/>
          </a:p>
          <a:p>
            <a:r>
              <a:t>Timing: ~45 seconds</a:t>
            </a:r>
          </a:p>
          <a:p>
            <a:endParaRPr/>
          </a:p>
          <a:p>
            <a:r>
              <a:t>Count five cards each for numbers, colours, shapes and everyday life: twenty authored cards. Ten additional handwriting cards use UCI test examples and are available from the educator workspace. Do not call the twenty authored cards a secondary dataset or a survey. All thirty have both language fields. A structural language-field check is not proof of good translation or suitable teaching content. Each short session presents three or five cards, so the full pack is not shown at once.</a:t>
            </a:r>
          </a:p>
          <a:p>
            <a:endParaRPr/>
          </a:p>
          <a:p>
            <a:r>
              <a:t>Classroom cue: Ask the class to distinguish “authored teaching content” from “secondary data.”</a:t>
            </a:r>
          </a:p>
          <a:p>
            <a:endParaRPr/>
          </a:p>
          <a:p>
            <a:r>
              <a:t>Evidence / source: Report Ch. 9; public/data/lessons.json; scripts/make_lessons.py</a:t>
            </a:r>
          </a:p>
          <a:p>
            <a:endParaRPr/>
          </a:p>
          <a:p>
            <a:r>
              <a:t>Status discipline: These slides describe the delivered prototype and recorded technical tests. They do not claim school approval, a learner trial, educational impact, or remote Render deployment.</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07 | Home screen walkthrough</a:t>
            </a:r>
          </a:p>
          <a:p>
            <a:endParaRPr/>
          </a:p>
          <a:p>
            <a:r>
              <a:t>Timing: ~45 seconds</a:t>
            </a:r>
          </a:p>
          <a:p>
            <a:endParaRPr/>
          </a:p>
          <a:p>
            <a:r>
              <a:t>Point to the numbers, colours, shapes and everyday-life cards. The interface gives a clear entry point rather than starting with an assessment or profile form. This is a screenshot captured from the delivered app, not evidence of use in a school. Explain where progress, district context and educator resources live in the navigation. The live demonstration later will use the same interface.</a:t>
            </a:r>
          </a:p>
          <a:p>
            <a:endParaRPr/>
          </a:p>
          <a:p>
            <a:r>
              <a:t>Classroom cue: Invite one student to describe the first action they would take on this screen.</a:t>
            </a:r>
          </a:p>
          <a:p>
            <a:endParaRPr/>
          </a:p>
          <a:p>
            <a:r>
              <a:t>Evidence / source: Package evidence/app-desktop.png; report Part A and Ch. 8</a:t>
            </a:r>
          </a:p>
          <a:p>
            <a:endParaRPr/>
          </a:p>
          <a:p>
            <a:r>
              <a:t>Status discipline: These slides describe the delivered prototype and recorded technical tests. They do not claim school approval, a learner trial, educational impact, or remote Render deployment.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08 | Language support</a:t>
            </a:r>
          </a:p>
          <a:p>
            <a:endParaRPr/>
          </a:p>
          <a:p>
            <a:r>
              <a:t>Timing: ~45 seconds</a:t>
            </a:r>
          </a:p>
          <a:p>
            <a:endParaRPr/>
          </a:p>
          <a:p>
            <a:r>
              <a:t>The Kannada screenshot shows the actual language switch, not an English-only mock-up with a translated title. A bundled Noto Sans Kannada font avoids reliance on an external font CDN. However, no local special educator has certified the text. Technical educator notes and map annotations remain English-only. Read-aloud uses the browser’s available voices and is not guaranteed to supply a Kannada voice or work offline.</a:t>
            </a:r>
          </a:p>
          <a:p>
            <a:endParaRPr/>
          </a:p>
          <a:p>
            <a:r>
              <a:t>Classroom cue: What should a local language reviewer check besides literal translation?</a:t>
            </a:r>
          </a:p>
          <a:p>
            <a:endParaRPr/>
          </a:p>
          <a:p>
            <a:r>
              <a:t>Evidence / source: Package evidence/app-kannada.png; docs/SOURCES.md; docs/REQUIREMENTS.md</a:t>
            </a:r>
          </a:p>
          <a:p>
            <a:endParaRPr/>
          </a:p>
          <a:p>
            <a:r>
              <a:t>Status discipline: These slides describe the delivered prototype and recorded technical tests. They do not claim school approval, a learner trial, educational impact, or remote Render deployment.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09 | Practice loop</a:t>
            </a:r>
          </a:p>
          <a:p>
            <a:endParaRPr/>
          </a:p>
          <a:p>
            <a:r>
              <a:t>Timing: ~1 minute</a:t>
            </a:r>
          </a:p>
          <a:p>
            <a:endParaRPr/>
          </a:p>
          <a:p>
            <a:r>
              <a:t>A wrong answer produces supportive feedback and leaves the card available. A correct answer unlocks Next. The log distinguishes first-try success from a card completed after retries, but this does not make it an ability measure. Category sessions rotate using the device completion count; this is a simple deterministic rule, not machine-learning personalization. The screenshot was captured for the presentation from the delivered app with an automated example, not a learner trial.</a:t>
            </a:r>
          </a:p>
          <a:p>
            <a:endParaRPr/>
          </a:p>
          <a:p>
            <a:r>
              <a:t>Classroom cue: Ask: Why should “eventually correct” and “correct on the first try” be recorded separately?</a:t>
            </a:r>
          </a:p>
          <a:p>
            <a:endParaRPr/>
          </a:p>
          <a:p>
            <a:r>
              <a:t>Evidence / source: Report Ch. 8; public/engine.js and app.js; screenshot from the local delivered app</a:t>
            </a:r>
          </a:p>
          <a:p>
            <a:endParaRPr/>
          </a:p>
          <a:p>
            <a:r>
              <a:t>Status discipline: These slides describe the delivered prototype and recorded technical tests. They do not claim school approval, a learner trial, educational impact, or remote Render deployment.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10 | Accessibility and individual needs</a:t>
            </a:r>
          </a:p>
          <a:p>
            <a:endParaRPr/>
          </a:p>
          <a:p>
            <a:r>
              <a:t>Timing: ~1 minute</a:t>
            </a:r>
          </a:p>
          <a:p>
            <a:endParaRPr/>
          </a:p>
          <a:p>
            <a:r>
              <a:t>Describe the included design features without promising universal accessibility. The application provides larger text, contrast settings, visible focus, untimed choices and supportive feedback. Visual recognition activities still require alternatives for some users. A clean automated accessibility scan cannot establish cognitive accessibility, keyboard/switch suitability, screen-reader quality or educational usefulness. Educators and learners must validate the actual device, input method and sensory preferences.</a:t>
            </a:r>
          </a:p>
          <a:p>
            <a:endParaRPr/>
          </a:p>
          <a:p>
            <a:r>
              <a:t>Classroom cue: Use the displayed question. A good answer proposes an equivalent learning goal with a non-visual activity rather than merely increasing contrast.</a:t>
            </a:r>
          </a:p>
          <a:p>
            <a:endParaRPr/>
          </a:p>
          <a:p>
            <a:r>
              <a:t>Evidence / source: Report Ch. 11; docs/FIELD_PROTOCOL.md; evidence/accessibility.json; settings screenshot from delivered app</a:t>
            </a:r>
          </a:p>
          <a:p>
            <a:endParaRPr/>
          </a:p>
          <a:p>
            <a:r>
              <a:t>Status discipline: These slides describe the delivered prototype and recorded technical tests. They do not claim school approval, a learner trial, educational impact, or remote Render deployment.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11 | Privacy and persistence</a:t>
            </a:r>
          </a:p>
          <a:p>
            <a:endParaRPr/>
          </a:p>
          <a:p>
            <a:r>
              <a:t>Timing: ~1 minute</a:t>
            </a:r>
          </a:p>
          <a:p>
            <a:endParaRPr/>
          </a:p>
          <a:p>
            <a:r>
              <a:t>Clarify the distinction between local processing and total anonymity. The app itself does not collect names, diagnoses or accounts and does not upload practice logs. Ordinary hosting request metadata still exists, and optional browser voice providers may use the network. Persistence is off by default; opt-in storage combines practice on a shared browser. Exported CSVs remain files needing responsible handling. The CSV schema is date, session token, category, card, attempts and firstCorrect. There is no secure per-student database.</a:t>
            </a:r>
          </a:p>
          <a:p>
            <a:endParaRPr/>
          </a:p>
          <a:p>
            <a:r>
              <a:t>Classroom cue: Ask why shared-device progress should not be interpreted as one child’s progress.</a:t>
            </a:r>
          </a:p>
          <a:p>
            <a:endParaRPr/>
          </a:p>
          <a:p>
            <a:r>
              <a:t>Evidence / source: Report Ch. 8; docs/REQUIREMENTS.md; docs/DEPLOYMENT.md; public/app.js</a:t>
            </a:r>
          </a:p>
          <a:p>
            <a:endParaRPr/>
          </a:p>
          <a:p>
            <a:r>
              <a:t>Status discipline: These slides describe the delivered prototype and recorded technical tests. They do not claim school approval, a learner trial, educational impact, or remote Render deployment.</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12 | Source register</a:t>
            </a:r>
          </a:p>
          <a:p>
            <a:endParaRPr/>
          </a:p>
          <a:p>
            <a:r>
              <a:t>Timing: ~1 minute</a:t>
            </a:r>
          </a:p>
          <a:p>
            <a:endParaRPr/>
          </a:p>
          <a:p>
            <a:r>
              <a:t>Distinguish data, graphics, model code and fonts. The MIT project licence does not override CC BY, ODbL or OFL obligations on included materials. The district’s actual metadata lists ODbL 1.0, so do not assume every geoBoundaries feature is CC BY. AI4Bharat IndicTrans2 has a model card listing MIT and Kannada support, but is only a future candidate here. Dataset finder links are discovery aids, not live integrations or guarantees of lawful, representative data.</a:t>
            </a:r>
          </a:p>
          <a:p>
            <a:endParaRPr/>
          </a:p>
          <a:p>
            <a:r>
              <a:t>Classroom cue: Ask the class to identify which row contains executable model code rather than a dataset.</a:t>
            </a:r>
          </a:p>
          <a:p>
            <a:endParaRPr/>
          </a:p>
          <a:p>
            <a:r>
              <a:t>Evidence / source: Report Appendix A; docs/SOURCES.md; docs/MODEL_CARD.md</a:t>
            </a:r>
          </a:p>
          <a:p>
            <a:endParaRPr/>
          </a:p>
          <a:p>
            <a:r>
              <a:t>Status discipline: These slides describe the delivered prototype and recorded technical tests. They do not claim school approval, a learner trial, educational impact, or remote Render deployment.</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13 | How 3-NN works</a:t>
            </a:r>
          </a:p>
          <a:p>
            <a:endParaRPr/>
          </a:p>
          <a:p>
            <a:r>
              <a:t>Timing: ~1 minute</a:t>
            </a:r>
          </a:p>
          <a:p>
            <a:endParaRPr/>
          </a:p>
          <a:p>
            <a:r>
              <a:t>Use the illustrated UCI test example, row 3. The source provides sixty-four values for an eight-by-eight image, each between zero and sixteen. The model measures Euclidean distance to training vectors and uses the labels of the three nearest neighbours with uniform voting. The displayed prediction for this example is three. Python uses scikit-learn; the browser has an original small equivalent. Browser tie handling may differ in edge cases, and saved parity tests cover twenty examples. No learner drawing is collected.</a:t>
            </a:r>
          </a:p>
          <a:p>
            <a:endParaRPr/>
          </a:p>
          <a:p>
            <a:r>
              <a:t>Classroom cue: If two of three neighbours vote for 3 and one for 8, what is the result?</a:t>
            </a:r>
          </a:p>
          <a:p>
            <a:endParaRPr/>
          </a:p>
          <a:p>
            <a:r>
              <a:t>Evidence / source: Report Ch. 9; docs/MODEL_CARD.md; public/data/digits-examples.json; public/engine.js</a:t>
            </a:r>
          </a:p>
          <a:p>
            <a:endParaRPr/>
          </a:p>
          <a:p>
            <a:r>
              <a:t>Status discipline: These slides describe the delivered prototype and recorded technical tests. They do not claim school approval, a learner trial, educational impact, or remote Render deployment.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14 | Interpret the evaluation correctly</a:t>
            </a:r>
          </a:p>
          <a:p>
            <a:endParaRPr/>
          </a:p>
          <a:p>
            <a:r>
              <a:t>Timing: ~1 minute</a:t>
            </a:r>
          </a:p>
          <a:p>
            <a:endParaRPr/>
          </a:p>
          <a:p>
            <a:r>
              <a:t>The full Python reference evaluation gives 1,758 correct out of 1,797 held-out source digits, or 97.8297 percent. There are thirty-nine classification errors. Training uses the original 3,823 rows; the original source split has distinct writer groups and was not tuned on test labels here. The browser parity test checks twenty examples only. The dataset is not a validated sample of local special-school learners and does not establish fairness or clinical or pedagogical validity.</a:t>
            </a:r>
          </a:p>
          <a:p>
            <a:endParaRPr/>
          </a:p>
          <a:p>
            <a:r>
              <a:t>Classroom cue: Ask: Which conclusion is justified—“the model classified source digits well” or “children learned 97.83% better”?</a:t>
            </a:r>
          </a:p>
          <a:p>
            <a:endParaRPr/>
          </a:p>
          <a:p>
            <a:r>
              <a:t>Evidence / source: public/data/model-metrics.json; docs/MODEL_CARD.md; report Ch. 9</a:t>
            </a:r>
          </a:p>
          <a:p>
            <a:endParaRPr/>
          </a:p>
          <a:p>
            <a:r>
              <a:t>Status discipline: These slides describe the delivered prototype and recorded technical tests. They do not claim school approval, a learner trial, educational impact, or remote Render deployment.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15 | Architecture</a:t>
            </a:r>
          </a:p>
          <a:p>
            <a:endParaRPr/>
          </a:p>
          <a:p>
            <a:r>
              <a:t>Timing: ~1 minute</a:t>
            </a:r>
          </a:p>
          <a:p>
            <a:endParaRPr/>
          </a:p>
          <a:p>
            <a:r>
              <a:t>Walk left to right. Python is a build and reproducibility dependency, not part of Render’s runtime. The deployable public directory includes the lesson pack, model vectors, font and map. The browser grades practice by the authored answer key; the 3-NN model is a separate educator demonstration. A content-derived service-worker key supports offline caching after an initial complete download. Browser cache can be evicted, and direct file:// opening is not promised. No model API, database or authenticated teacher backend is present.</a:t>
            </a:r>
          </a:p>
          <a:p>
            <a:endParaRPr/>
          </a:p>
          <a:p>
            <a:r>
              <a:t>Classroom cue: Why can Render serve this project without a Python start command?</a:t>
            </a:r>
          </a:p>
          <a:p>
            <a:endParaRPr/>
          </a:p>
          <a:p>
            <a:r>
              <a:t>Evidence / source: Report Chs. 8–10; scripts/prepare_data.py; public/engine.js; render.yaml</a:t>
            </a:r>
          </a:p>
          <a:p>
            <a:endParaRPr/>
          </a:p>
          <a:p>
            <a:r>
              <a:t>Status discipline: These slides describe the delivered prototype and recorded technical tests. They do not claim school approval, a learner trial, educational impact, or remote Render deployment.</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16 | Technical evidence</a:t>
            </a:r>
          </a:p>
          <a:p>
            <a:endParaRPr/>
          </a:p>
          <a:p>
            <a:r>
              <a:t>Timing: ~1 minute</a:t>
            </a:r>
          </a:p>
          <a:p>
            <a:endParaRPr/>
          </a:p>
          <a:p>
            <a:r>
              <a:t>The delivered package records nine passing Node tests and nineteen passing Chromium checks. The browser flow includes wrong-answer feedback, first-try counting, completion, CSV download, persistence opt-in, clearing data, language switch, map serving, model demo, source filtering, mobile width and offline use. Fifteen week checks were each run twice with equal stdout. Twenty-two source/site artifact hashes match before and after regeneration. Timing values and screenshots are not claimed byte-identical. Axe scans found zero violations in four main views but cannot certify universal accessibility. These are existing recorded results, not a new classroom evaluation.</a:t>
            </a:r>
          </a:p>
          <a:p>
            <a:endParaRPr/>
          </a:p>
          <a:p>
            <a:r>
              <a:t>Classroom cue: Which additional checks require real people and the actual school device?</a:t>
            </a:r>
          </a:p>
          <a:p>
            <a:endParaRPr/>
          </a:p>
          <a:p>
            <a:r>
              <a:t>Evidence / source: Package evidence folder; report Chs. 11 and 14</a:t>
            </a:r>
          </a:p>
          <a:p>
            <a:endParaRPr/>
          </a:p>
          <a:p>
            <a:r>
              <a:t>Status discipline: These slides describe the delivered prototype and recorded technical tests. They do not claim school approval, a learner trial, educational impact, or remote Render deployment.</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17 | Live demonstration run sheet</a:t>
            </a:r>
          </a:p>
          <a:p>
            <a:endParaRPr/>
          </a:p>
          <a:p>
            <a:r>
              <a:t>Timing: ~3 minutes</a:t>
            </a:r>
          </a:p>
          <a:p>
            <a:endParaRPr/>
          </a:p>
          <a:p>
            <a:r>
              <a:t>Before presenting, start the app from the extracted sahaya directory using node scripts/build.mjs and node server.mjs, then visit http://localhost:3000 on the presenter computer. No cloud account is required. Have the site ready before starting the three-minute walkthrough. Use a deliberately wrong number choice, then the correct answer; explain the difference between retry and first-try success. Show language/settings, then progress and reset without entering personal data. The educator workspace demonstrates source examples only. Finish on the district map. If the app cannot run, use screenshots on slides 7–10; do not imply a deployment exists.</a:t>
            </a:r>
          </a:p>
          <a:p>
            <a:endParaRPr/>
          </a:p>
          <a:p>
            <a:r>
              <a:t>Classroom cue: Invite the audience to predict what changes after an incorrect answer, then demonstrate it.</a:t>
            </a:r>
          </a:p>
          <a:p>
            <a:endParaRPr/>
          </a:p>
          <a:p>
            <a:r>
              <a:t>Evidence / source: docs/DEPLOYMENT.md; public app; screenshot fallback slides 7–10</a:t>
            </a:r>
          </a:p>
          <a:p>
            <a:endParaRPr/>
          </a:p>
          <a:p>
            <a:r>
              <a:t>Status discipline: These slides describe the delivered prototype and recorded technical tests. They do not claim school approval, a learner trial, educational impact, or remote Render deployment.</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18 | Deployment handover</a:t>
            </a:r>
          </a:p>
          <a:p>
            <a:endParaRPr/>
          </a:p>
          <a:p>
            <a:r>
              <a:t>Timing: ~1 minute</a:t>
            </a:r>
          </a:p>
          <a:p>
            <a:endParaRPr/>
          </a:p>
          <a:p>
            <a:r>
              <a:t>A live sandbox preview is not the same as a public Render service. The owner must create or connect a remote Git repository and authenticate through their own account. The Render Blueprint uses runtime static and publishes public/. The build command is node scripts/build.mjs; there is no backend start command or database. Check current hosting quotas and charges rather than promising universal free hosting. Verify the final HTTPS URL and initial offline cache on the actual device. The supplied Git bundle preserves local history if the source ZIP is copied without .git metadata.</a:t>
            </a:r>
          </a:p>
          <a:p>
            <a:endParaRPr/>
          </a:p>
          <a:p>
            <a:r>
              <a:t>Classroom cue: Ask which steps require the project owner’s account and cannot be claimed complete here.</a:t>
            </a:r>
          </a:p>
          <a:p>
            <a:endParaRPr/>
          </a:p>
          <a:p>
            <a:r>
              <a:t>Evidence / source: Report Ch. 15 and Appendix D; docs/DEPLOYMENT.md; render.yaml</a:t>
            </a:r>
          </a:p>
          <a:p>
            <a:endParaRPr/>
          </a:p>
          <a:p>
            <a:r>
              <a:t>Status discipline: These slides describe the delivered prototype and recorded technical tests. They do not claim school approval, a learner trial, educational impact, or remote Render deployment.</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19 | Course alignment and planning</a:t>
            </a:r>
          </a:p>
          <a:p>
            <a:endParaRPr/>
          </a:p>
          <a:p>
            <a:r>
              <a:t>Timing: ~45 seconds</a:t>
            </a:r>
          </a:p>
          <a:p>
            <a:endParaRPr/>
          </a:p>
          <a:p>
            <a:r>
              <a:t>The 48-page report organizes work according to the same fifteen-week progression as the supplied book. Two hours of term work and two hours of self-learning per week produce thirty plus thirty hours. The engineering prototype was built for the delivery; the schedule is a proposed educational organization of work, not proof that a fifteen-week intervention has happened. Week 12 fieldwork remains pending. Role slots cover coordination and ethics, content and accessibility, engineering and data, and QA and documentation. Team names and guide details must be supplied locally.</a:t>
            </a:r>
          </a:p>
          <a:p>
            <a:endParaRPr/>
          </a:p>
          <a:p>
            <a:r>
              <a:t>Classroom cue: What should the report say if field permission is delayed? Answer: pending—not simulated participation.</a:t>
            </a:r>
          </a:p>
          <a:p>
            <a:endParaRPr/>
          </a:p>
          <a:p>
            <a:r>
              <a:t>Evidence / source: Report TLP table and Ch. 6; docs/plan.json; docs/PLAN.md</a:t>
            </a:r>
          </a:p>
          <a:p>
            <a:endParaRPr/>
          </a:p>
          <a:p>
            <a:r>
              <a:t>Status discipline: These slides describe the delivered prototype and recorded technical tests. They do not claim school approval, a learner trial, educational impact, or remote Render deployment.</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20 | Responsible next steps</a:t>
            </a:r>
          </a:p>
          <a:p>
            <a:endParaRPr/>
          </a:p>
          <a:p>
            <a:r>
              <a:t>Timing: ~1 minute</a:t>
            </a:r>
          </a:p>
          <a:p>
            <a:endParaRPr/>
          </a:p>
          <a:p>
            <a:r>
              <a:t>Make the outcome distinction explicit. The app, code, map, model and receipts are delivered outputs. School acceptance, usefulness, engagement and learning would require approved evaluation. Start with school permission and a special educator’s review. Apply caregiver consent and learner assent where required, allow stopping without penalty, and collect only necessary observations. Do not place signed forms or identifiable records in the public repository. An automation-generated CSV cannot be presented as a learner session.</a:t>
            </a:r>
          </a:p>
          <a:p>
            <a:endParaRPr/>
          </a:p>
          <a:p>
            <a:r>
              <a:t>Classroom cue: Ask the class to place “30 cards” and “improved independence” in the correct columns.</a:t>
            </a:r>
          </a:p>
          <a:p>
            <a:endParaRPr/>
          </a:p>
          <a:p>
            <a:r>
              <a:t>Evidence / source: Report Chs. 12–13; docs/FIELD_PROTOCOL.md; docs/REQUIREMENTS.md</a:t>
            </a:r>
          </a:p>
          <a:p>
            <a:endParaRPr/>
          </a:p>
          <a:p>
            <a:r>
              <a:t>Status discipline: These slides describe the delivered prototype and recorded technical tests. They do not claim school approval, a learner trial, educational impact, or remote Render deployment.</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21 | Research &amp; academic service</a:t>
            </a:r>
          </a:p>
          <a:p>
            <a:endParaRPr/>
          </a:p>
          <a:p>
            <a:r>
              <a:t>Timing: ~45 seconds</a:t>
            </a:r>
          </a:p>
          <a:p>
            <a:endParaRPr/>
          </a:p>
          <a:p>
            <a:r>
              <a:t>The supplied professional profile lists Cyber-Physical Systems, Artificial Immune Systems, Fault-Tolerant Computing and Multi-Agent Systems as Dr. Lokesh M R’s specialisations. It also states extensive publication in Scopus-indexed and UGC-approved journals, a granted patent, current supervision of Ph.D. scholars under VTU, invited talks at FDPs, workshops and conferences, and contributions to KSCST- and AICTE-funded projects. Life memberships: CSI and ISTE. No publication total, patent number or specific grant value has been added because none was supplied.</a:t>
            </a:r>
          </a:p>
          <a:p>
            <a:endParaRPr/>
          </a:p>
          <a:p>
            <a:r>
              <a:t>Classroom cue: Use the scholarly-profile links on the next slide for the author’s publication and professional records.</a:t>
            </a:r>
          </a:p>
          <a:p>
            <a:endParaRPr/>
          </a:p>
          <a:p>
            <a:r>
              <a:t>Evidence / source: Author biography supplied by the user; not independently verified.</a:t>
            </a:r>
          </a:p>
          <a:p>
            <a:endParaRPr/>
          </a:p>
          <a:p>
            <a:r>
              <a:t>Status discipline: These slides describe the delivered prototype and recorded technical tests. They do not claim school approval, a learner trial, educational impact, or remote Render deployment.</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22 | Contact &amp; scholarly profiles</a:t>
            </a:r>
          </a:p>
          <a:p>
            <a:endParaRPr/>
          </a:p>
          <a:p>
            <a:r>
              <a:t>Timing: Reference only</a:t>
            </a:r>
          </a:p>
          <a:p>
            <a:endParaRPr/>
          </a:p>
          <a:p>
            <a:r>
              <a:t>All contact details and profile URLs are reproduced from the information supplied by the user. Email: lokeshmrmysore@gmail.com. Mobile: +91 9964050926. ORCID: https://orcid.org/0000-0003-0025-7941 . Scopus: https://www.scopus.com/authid/detail.uri?authorId=57687382800 . Google Scholar: https://scholar.google.co.in/citations?user=CCfMxaMAAAAJ . LinkedIn: https://www.linkedin.com/in/lokesh-m-r-b6880b169/ . GitHub: https://github.com/lokeshmr23 . VIDWAN: https://vidwan.inflibnet.ac.in/profile/344450 . Web of Science ID: JCF-0012-2023. Links are embedded; opening external profiles requires connectivity.</a:t>
            </a:r>
          </a:p>
          <a:p>
            <a:endParaRPr/>
          </a:p>
          <a:p>
            <a:r>
              <a:t>Classroom cue: Share the slide rather than asking the audience to transcribe identifiers. No live-link validation or ownership verification is claimed.</a:t>
            </a:r>
          </a:p>
          <a:p>
            <a:endParaRPr/>
          </a:p>
          <a:p>
            <a:r>
              <a:t>Evidence / source: User-supplied contact and profile information.</a:t>
            </a:r>
          </a:p>
          <a:p>
            <a:endParaRPr/>
          </a:p>
          <a:p>
            <a:r>
              <a:t>Status discipline: These slides describe the delivered prototype and recorded technical tests. They do not claim school approval, a learner trial, educational impact, or remote Render deployment.</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23 | Acknowledgement &amp; dedication</a:t>
            </a:r>
          </a:p>
          <a:p>
            <a:endParaRPr/>
          </a:p>
          <a:p>
            <a:r>
              <a:t>Timing: ~30 seconds</a:t>
            </a:r>
          </a:p>
          <a:p>
            <a:endParaRPr/>
          </a:p>
          <a:p>
            <a:r>
              <a:t>Acknowledge VTU, Belagavi for the curriculum framework; A J Institute of Engineering and Technology, Mangaluru for infrastructure; Prof. Ian Goodfellow, Yoshua Bengio and Aaron Courville for their textbook Deep Learning; all students who provided feedback; and family for constant support and encouragement. The supplied dedication reads: “This book is dedicated to all VTU students who aspire to excel in their examinations.” The slide adapts this wording to a presentation without changing its audience or intent. The acknowledgement of general student feedback is not evidence of a special-school pilot or a learner trial for Sahaya.</a:t>
            </a:r>
          </a:p>
          <a:p>
            <a:endParaRPr/>
          </a:p>
          <a:p>
            <a:r>
              <a:t>Classroom cue: Thank the contributors while keeping the project’s outstanding school-validation requirements clear.</a:t>
            </a:r>
          </a:p>
          <a:p>
            <a:endParaRPr/>
          </a:p>
          <a:p>
            <a:r>
              <a:t>Evidence / source: Acknowledgement and dedication text supplied by the user.</a:t>
            </a:r>
          </a:p>
          <a:p>
            <a:endParaRPr/>
          </a:p>
          <a:p>
            <a:r>
              <a:t>Status discipline: These slides describe the delivered prototype and recorded technical tests. They do not claim school approval, a learner trial, educational impact, or remote Render deployment.</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24 | Closing discussion</a:t>
            </a:r>
          </a:p>
          <a:p>
            <a:endParaRPr/>
          </a:p>
          <a:p>
            <a:r>
              <a:t>Timing: ~1 minute</a:t>
            </a:r>
          </a:p>
          <a:p>
            <a:endParaRPr/>
          </a:p>
          <a:p>
            <a:r>
              <a:t>Invite two or three responses before offering the summary. Strong answers connect technical evidence to the actual learner and classroom rather than assuming an accuracy percentage guarantees educational value. Revisit the three boundaries: no primary fieldwork yet, no clinical or learning assessment by the model, and no remote account deployment completed. The defensible conclusion is a sourced, technically tested, deployable prototype whose next step is authorized local validation.</a:t>
            </a:r>
          </a:p>
          <a:p>
            <a:endParaRPr/>
          </a:p>
          <a:p>
            <a:r>
              <a:t>Classroom cue: Exit ticket: Name one completed engineering result, one unsupported claim to avoid, and one next action.</a:t>
            </a:r>
          </a:p>
          <a:p>
            <a:endParaRPr/>
          </a:p>
          <a:p>
            <a:r>
              <a:t>Evidence / source: Report Chs. 13–15; Appendix C; docs/FIELD_PROTOCOL.md</a:t>
            </a:r>
          </a:p>
          <a:p>
            <a:endParaRPr/>
          </a:p>
          <a:p>
            <a:r>
              <a:t>Status discipline: These slides describe the delivered prototype and recorded technical tests. They do not claim school approval, a learner trial, educational impact, or remote Render deployment.</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25 | Source and reproduction guide</a:t>
            </a:r>
          </a:p>
          <a:p>
            <a:endParaRPr/>
          </a:p>
          <a:p>
            <a:r>
              <a:t>Timing: Reference only</a:t>
            </a:r>
          </a:p>
          <a:p>
            <a:endParaRPr/>
          </a:p>
          <a:p>
            <a:r>
              <a:t>Use this slide as a reference rather than reading every line aloud. The principal evidence is the delivered report and package. The source register in docs/SOURCES.md gives licence details, modifications and pinned geography provenance. Additional URLs: official district profile https://dk.nic.in/en/about-district/ ; Twemoji https://github.com/twitter/twemoji/tree/v14.0.2 ; Kannada font https://github.com/google/fonts/tree/main/ofl/notosanskannada . To reproduce, follow README.md and docs/DEPLOYMENT.md. The model card states the original split, limitations and browser parity scope. The full report retains the prescribed course row and week-led evidence.</a:t>
            </a:r>
          </a:p>
          <a:p>
            <a:endParaRPr/>
          </a:p>
          <a:p>
            <a:r>
              <a:t>Classroom cue: Offer the PPTX/PDF and package to anyone who wants to inspect or reproduce the evidence.</a:t>
            </a:r>
          </a:p>
          <a:p>
            <a:endParaRPr/>
          </a:p>
          <a:p>
            <a:r>
              <a:t>Evidence / source: Report Appendix A and Appendix D; package README.md; docs/SOURCES.md</a:t>
            </a:r>
          </a:p>
          <a:p>
            <a:endParaRPr/>
          </a:p>
          <a:p>
            <a:r>
              <a:t>Status discipline: These slides describe the delivered prototype and recorded technical tests. They do not claim school approval, a learner trial, educational impact, or remote Render deployment.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9/20/2026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9/20/2026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9/20/2026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9/20/2026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8" Type="http://schemas.openxmlformats.org/officeDocument/2006/relationships/hyperlink" Target="https://www.linkedin.com/in/lokesh-m-r-b6880b169/" TargetMode="External"/><Relationship Id="rId3" Type="http://schemas.openxmlformats.org/officeDocument/2006/relationships/hyperlink" Target="mailto:lokeshmrmysore@gmail.com" TargetMode="External"/><Relationship Id="rId7" Type="http://schemas.openxmlformats.org/officeDocument/2006/relationships/hyperlink" Target="https://scholar.google.co.in/citations?user=CCfMxaMAAAAJ" TargetMode="External"/><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hyperlink" Target="https://www.scopus.com/authid/detail.uri?authorId=57687382800" TargetMode="External"/><Relationship Id="rId5" Type="http://schemas.openxmlformats.org/officeDocument/2006/relationships/hyperlink" Target="https://orcid.org/0000-0003-0025-7941" TargetMode="External"/><Relationship Id="rId10" Type="http://schemas.openxmlformats.org/officeDocument/2006/relationships/hyperlink" Target="https://vidwan.inflibnet.ac.in/profile/344450" TargetMode="External"/><Relationship Id="rId4" Type="http://schemas.openxmlformats.org/officeDocument/2006/relationships/hyperlink" Target="tel:+919964050926" TargetMode="External"/><Relationship Id="rId9" Type="http://schemas.openxmlformats.org/officeDocument/2006/relationships/hyperlink" Target="https://github.com/lokeshmr23" TargetMode="Externa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hyperlink" Target="https://archive.ics.uci.edu/dataset/80/optical+recognition+of+handwritten+digits" TargetMode="External"/><Relationship Id="rId7" Type="http://schemas.openxmlformats.org/officeDocument/2006/relationships/hyperlink" Target="https://render.com/docs/blueprint-spec" TargetMode="External"/><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hyperlink" Target="https://huggingface.co/ai4bharat/indictrans2-en-indic-dist-200M" TargetMode="External"/><Relationship Id="rId5" Type="http://schemas.openxmlformats.org/officeDocument/2006/relationships/hyperlink" Target="https://scikit-learn.org/stable/modules/generated/sklearn.neighbors.KNeighborsClassifier.html" TargetMode="External"/><Relationship Id="rId4" Type="http://schemas.openxmlformats.org/officeDocument/2006/relationships/hyperlink" Target="https://www.geoboundaries.org/api/current/gbOpen/IND/ADM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73D31"/>
        </a:solidFill>
        <a:effectLst/>
      </p:bgPr>
    </p:bg>
    <p:spTree>
      <p:nvGrpSpPr>
        <p:cNvPr id="1" name=""/>
        <p:cNvGrpSpPr/>
        <p:nvPr/>
      </p:nvGrpSpPr>
      <p:grpSpPr>
        <a:xfrm>
          <a:off x="0" y="0"/>
          <a:ext cx="0" cy="0"/>
          <a:chOff x="0" y="0"/>
          <a:chExt cx="0" cy="0"/>
        </a:xfrm>
      </p:grpSpPr>
      <p:sp>
        <p:nvSpPr>
          <p:cNvPr id="2" name="TextBox 1"/>
          <p:cNvSpPr txBox="1"/>
          <p:nvPr/>
        </p:nvSpPr>
        <p:spPr>
          <a:xfrm>
            <a:off x="594360" y="6419088"/>
            <a:ext cx="10972800" cy="164592"/>
          </a:xfrm>
          <a:prstGeom prst="rect">
            <a:avLst/>
          </a:prstGeom>
          <a:noFill/>
          <a:effectLst/>
        </p:spPr>
        <p:txBody>
          <a:bodyPr wrap="square" lIns="0" tIns="0" rIns="0" bIns="0" anchor="t">
            <a:spAutoFit/>
          </a:bodyPr>
          <a:lstStyle/>
          <a:p>
            <a:pPr algn="l">
              <a:lnSpc>
                <a:spcPct val="112000"/>
              </a:lnSpc>
              <a:spcBef>
                <a:spcPts val="0"/>
              </a:spcBef>
              <a:spcAft>
                <a:spcPts val="500"/>
              </a:spcAft>
              <a:defRPr sz="800" b="0">
                <a:solidFill>
                  <a:srgbClr val="CEDDC9"/>
                </a:solidFill>
                <a:latin typeface="Arial"/>
              </a:defRPr>
            </a:pPr>
            <a:r>
              <a:t>Based on the complete project package and 48-page continuation report · 20 September 2026</a:t>
            </a:r>
          </a:p>
        </p:txBody>
      </p:sp>
      <p:sp>
        <p:nvSpPr>
          <p:cNvPr id="3" name="TextBox 2"/>
          <p:cNvSpPr txBox="1"/>
          <p:nvPr/>
        </p:nvSpPr>
        <p:spPr>
          <a:xfrm>
            <a:off x="594360" y="6638544"/>
            <a:ext cx="10607040" cy="173736"/>
          </a:xfrm>
          <a:prstGeom prst="rect">
            <a:avLst/>
          </a:prstGeom>
          <a:noFill/>
          <a:effectLst/>
        </p:spPr>
        <p:txBody>
          <a:bodyPr wrap="square" lIns="0" tIns="0" rIns="0" bIns="0" anchor="t">
            <a:spAutoFit/>
          </a:bodyPr>
          <a:lstStyle/>
          <a:p>
            <a:pPr algn="l">
              <a:lnSpc>
                <a:spcPct val="112000"/>
              </a:lnSpc>
              <a:spcBef>
                <a:spcPts val="0"/>
              </a:spcBef>
              <a:spcAft>
                <a:spcPts val="500"/>
              </a:spcAft>
              <a:defRPr sz="900" b="1">
                <a:solidFill>
                  <a:srgbClr val="CEDDC9"/>
                </a:solidFill>
                <a:latin typeface="Arial"/>
              </a:defRPr>
            </a:pPr>
            <a:r>
              <a:t>Dr. Lokesh M R  |  Professor, ISE  |  AJIET, Mangaluru</a:t>
            </a:r>
          </a:p>
        </p:txBody>
      </p:sp>
      <p:sp>
        <p:nvSpPr>
          <p:cNvPr id="4" name="TextBox 3"/>
          <p:cNvSpPr txBox="1"/>
          <p:nvPr/>
        </p:nvSpPr>
        <p:spPr>
          <a:xfrm>
            <a:off x="11155680" y="6620256"/>
            <a:ext cx="438912" cy="210312"/>
          </a:xfrm>
          <a:prstGeom prst="rect">
            <a:avLst/>
          </a:prstGeom>
          <a:noFill/>
          <a:effectLst/>
        </p:spPr>
        <p:txBody>
          <a:bodyPr wrap="square" lIns="0" tIns="0" rIns="0" bIns="0" anchor="t">
            <a:spAutoFit/>
          </a:bodyPr>
          <a:lstStyle/>
          <a:p>
            <a:pPr algn="r">
              <a:lnSpc>
                <a:spcPct val="112000"/>
              </a:lnSpc>
              <a:spcBef>
                <a:spcPts val="0"/>
              </a:spcBef>
              <a:spcAft>
                <a:spcPts val="500"/>
              </a:spcAft>
              <a:defRPr sz="1000" b="1">
                <a:solidFill>
                  <a:srgbClr val="CEDDC9"/>
                </a:solidFill>
                <a:latin typeface="Arial"/>
              </a:defRPr>
            </a:pPr>
            <a:r>
              <a:t>01</a:t>
            </a:r>
          </a:p>
        </p:txBody>
      </p:sp>
      <p:sp>
        <p:nvSpPr>
          <p:cNvPr id="5" name="TextBox 4"/>
          <p:cNvSpPr txBox="1"/>
          <p:nvPr/>
        </p:nvSpPr>
        <p:spPr>
          <a:xfrm>
            <a:off x="612648" y="393192"/>
            <a:ext cx="8229600" cy="274320"/>
          </a:xfrm>
          <a:prstGeom prst="rect">
            <a:avLst/>
          </a:prstGeom>
          <a:noFill/>
          <a:effectLst/>
        </p:spPr>
        <p:txBody>
          <a:bodyPr wrap="square" lIns="0" tIns="0" rIns="0" bIns="0" anchor="t">
            <a:spAutoFit/>
          </a:bodyPr>
          <a:lstStyle/>
          <a:p>
            <a:pPr algn="l">
              <a:lnSpc>
                <a:spcPct val="112000"/>
              </a:lnSpc>
              <a:spcBef>
                <a:spcPts val="0"/>
              </a:spcBef>
              <a:spcAft>
                <a:spcPts val="500"/>
              </a:spcAft>
              <a:defRPr sz="1100" b="1">
                <a:solidFill>
                  <a:srgbClr val="CEDDC9"/>
                </a:solidFill>
                <a:latin typeface="Arial"/>
              </a:defRPr>
            </a:pPr>
            <a:r>
              <a:t>1BCP308  /  COMMUNITY PROJECT  /  CLASSROOM PRESENTATION</a:t>
            </a:r>
          </a:p>
        </p:txBody>
      </p:sp>
      <p:sp>
        <p:nvSpPr>
          <p:cNvPr id="6" name="TextBox 5"/>
          <p:cNvSpPr txBox="1"/>
          <p:nvPr/>
        </p:nvSpPr>
        <p:spPr>
          <a:xfrm>
            <a:off x="612648" y="1097280"/>
            <a:ext cx="7132320" cy="640080"/>
          </a:xfrm>
          <a:prstGeom prst="rect">
            <a:avLst/>
          </a:prstGeom>
          <a:noFill/>
          <a:effectLst/>
        </p:spPr>
        <p:txBody>
          <a:bodyPr wrap="square" lIns="0" tIns="0" rIns="0" bIns="0" anchor="t">
            <a:spAutoFit/>
          </a:bodyPr>
          <a:lstStyle/>
          <a:p>
            <a:pPr algn="l">
              <a:lnSpc>
                <a:spcPct val="112000"/>
              </a:lnSpc>
              <a:spcBef>
                <a:spcPts val="0"/>
              </a:spcBef>
              <a:spcAft>
                <a:spcPts val="500"/>
              </a:spcAft>
              <a:defRPr sz="4300" b="0">
                <a:solidFill>
                  <a:srgbClr val="F0F2D8"/>
                </a:solidFill>
                <a:latin typeface="Georgia"/>
              </a:defRPr>
            </a:pPr>
            <a:r>
              <a:t>Sahaya</a:t>
            </a:r>
          </a:p>
        </p:txBody>
      </p:sp>
      <p:sp>
        <p:nvSpPr>
          <p:cNvPr id="7" name="TextBox 6"/>
          <p:cNvSpPr txBox="1"/>
          <p:nvPr/>
        </p:nvSpPr>
        <p:spPr>
          <a:xfrm>
            <a:off x="612648" y="1929384"/>
            <a:ext cx="7315200" cy="1508760"/>
          </a:xfrm>
          <a:prstGeom prst="rect">
            <a:avLst/>
          </a:prstGeom>
          <a:noFill/>
          <a:effectLst/>
        </p:spPr>
        <p:txBody>
          <a:bodyPr wrap="square" lIns="0" tIns="0" rIns="0" bIns="0" anchor="t">
            <a:spAutoFit/>
          </a:bodyPr>
          <a:lstStyle/>
          <a:p>
            <a:pPr algn="l">
              <a:lnSpc>
                <a:spcPct val="112000"/>
              </a:lnSpc>
              <a:spcBef>
                <a:spcPts val="0"/>
              </a:spcBef>
              <a:spcAft>
                <a:spcPts val="500"/>
              </a:spcAft>
              <a:defRPr sz="4300" b="0">
                <a:solidFill>
                  <a:srgbClr val="FFFFFF"/>
                </a:solidFill>
                <a:latin typeface="Georgia"/>
              </a:defRPr>
            </a:pPr>
            <a:r>
              <a:t>Small steps.</a:t>
            </a:r>
          </a:p>
          <a:p>
            <a:pPr algn="l">
              <a:lnSpc>
                <a:spcPct val="112000"/>
              </a:lnSpc>
              <a:spcBef>
                <a:spcPts val="0"/>
              </a:spcBef>
              <a:spcAft>
                <a:spcPts val="500"/>
              </a:spcAft>
              <a:defRPr sz="4300" b="0">
                <a:solidFill>
                  <a:srgbClr val="FFFFFF"/>
                </a:solidFill>
                <a:latin typeface="Georgia"/>
              </a:defRPr>
            </a:pPr>
            <a:r>
              <a:t>Meaningful learning.</a:t>
            </a:r>
          </a:p>
        </p:txBody>
      </p:sp>
      <p:sp>
        <p:nvSpPr>
          <p:cNvPr id="8" name="TextBox 7"/>
          <p:cNvSpPr txBox="1"/>
          <p:nvPr/>
        </p:nvSpPr>
        <p:spPr>
          <a:xfrm>
            <a:off x="649224" y="3703320"/>
            <a:ext cx="6492240" cy="777240"/>
          </a:xfrm>
          <a:prstGeom prst="rect">
            <a:avLst/>
          </a:prstGeom>
          <a:noFill/>
          <a:effectLst/>
        </p:spPr>
        <p:txBody>
          <a:bodyPr wrap="square" lIns="0" tIns="0" rIns="0" bIns="0" anchor="t">
            <a:spAutoFit/>
          </a:bodyPr>
          <a:lstStyle/>
          <a:p>
            <a:pPr algn="l">
              <a:lnSpc>
                <a:spcPct val="112000"/>
              </a:lnSpc>
              <a:spcBef>
                <a:spcPts val="0"/>
              </a:spcBef>
              <a:spcAft>
                <a:spcPts val="500"/>
              </a:spcAft>
              <a:defRPr sz="2200" b="0">
                <a:solidFill>
                  <a:srgbClr val="CEDDC9"/>
                </a:solidFill>
                <a:latin typeface="Arial"/>
              </a:defRPr>
            </a:pPr>
            <a:r>
              <a:t>An English–Kannada browser learning prototype</a:t>
            </a:r>
          </a:p>
          <a:p>
            <a:pPr algn="l">
              <a:lnSpc>
                <a:spcPct val="112000"/>
              </a:lnSpc>
              <a:spcBef>
                <a:spcPts val="0"/>
              </a:spcBef>
              <a:spcAft>
                <a:spcPts val="500"/>
              </a:spcAft>
              <a:defRPr sz="2200" b="0">
                <a:solidFill>
                  <a:srgbClr val="CEDDC9"/>
                </a:solidFill>
                <a:latin typeface="Arial"/>
              </a:defRPr>
            </a:pPr>
            <a:r>
              <a:t>for educator-guided foundational practice.</a:t>
            </a:r>
          </a:p>
        </p:txBody>
      </p:sp>
      <p:sp>
        <p:nvSpPr>
          <p:cNvPr id="9" name="Rounded Rectangle 8"/>
          <p:cNvSpPr/>
          <p:nvPr/>
        </p:nvSpPr>
        <p:spPr>
          <a:xfrm>
            <a:off x="658368" y="4873752"/>
            <a:ext cx="2057400" cy="329184"/>
          </a:xfrm>
          <a:prstGeom prst="roundRect">
            <a:avLst>
              <a:gd name="adj" fmla="val 12000"/>
            </a:avLst>
          </a:prstGeom>
          <a:solidFill>
            <a:srgbClr val="F0F2D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749808" y="4933188"/>
            <a:ext cx="1874519" cy="219456"/>
          </a:xfrm>
          <a:prstGeom prst="rect">
            <a:avLst/>
          </a:prstGeom>
          <a:noFill/>
          <a:effectLst/>
        </p:spPr>
        <p:txBody>
          <a:bodyPr wrap="square" lIns="0" tIns="0" rIns="0" bIns="0" anchor="t">
            <a:spAutoFit/>
          </a:bodyPr>
          <a:lstStyle/>
          <a:p>
            <a:pPr algn="l">
              <a:lnSpc>
                <a:spcPct val="112000"/>
              </a:lnSpc>
              <a:spcBef>
                <a:spcPts val="0"/>
              </a:spcBef>
              <a:spcAft>
                <a:spcPts val="500"/>
              </a:spcAft>
              <a:defRPr sz="1000" b="1">
                <a:solidFill>
                  <a:srgbClr val="215C49"/>
                </a:solidFill>
                <a:latin typeface="Arial"/>
              </a:defRPr>
            </a:pPr>
            <a:r>
              <a:t>PO5  /  PO6  /  SDG 4</a:t>
            </a:r>
          </a:p>
        </p:txBody>
      </p:sp>
      <p:sp>
        <p:nvSpPr>
          <p:cNvPr id="11" name="Rounded Rectangle 10"/>
          <p:cNvSpPr/>
          <p:nvPr/>
        </p:nvSpPr>
        <p:spPr>
          <a:xfrm>
            <a:off x="2871216" y="4873752"/>
            <a:ext cx="2514600" cy="329184"/>
          </a:xfrm>
          <a:prstGeom prst="roundRect">
            <a:avLst>
              <a:gd name="adj" fmla="val 12000"/>
            </a:avLst>
          </a:prstGeom>
          <a:solidFill>
            <a:srgbClr val="CEDDC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2962656" y="4933188"/>
            <a:ext cx="2331720" cy="219456"/>
          </a:xfrm>
          <a:prstGeom prst="rect">
            <a:avLst/>
          </a:prstGeom>
          <a:noFill/>
          <a:effectLst/>
        </p:spPr>
        <p:txBody>
          <a:bodyPr wrap="square" lIns="0" tIns="0" rIns="0" bIns="0" anchor="t">
            <a:spAutoFit/>
          </a:bodyPr>
          <a:lstStyle/>
          <a:p>
            <a:pPr algn="l">
              <a:lnSpc>
                <a:spcPct val="112000"/>
              </a:lnSpc>
              <a:spcBef>
                <a:spcPts val="0"/>
              </a:spcBef>
              <a:spcAft>
                <a:spcPts val="500"/>
              </a:spcAft>
              <a:defRPr sz="1000" b="1">
                <a:solidFill>
                  <a:srgbClr val="215C49"/>
                </a:solidFill>
                <a:latin typeface="Arial"/>
              </a:defRPr>
            </a:pPr>
            <a:r>
              <a:t>DAKSHINA KANNADA</a:t>
            </a:r>
          </a:p>
        </p:txBody>
      </p:sp>
      <p:sp>
        <p:nvSpPr>
          <p:cNvPr id="13" name="TextBox 12"/>
          <p:cNvSpPr txBox="1"/>
          <p:nvPr/>
        </p:nvSpPr>
        <p:spPr>
          <a:xfrm>
            <a:off x="667512" y="5623560"/>
            <a:ext cx="7223760" cy="301752"/>
          </a:xfrm>
          <a:prstGeom prst="rect">
            <a:avLst/>
          </a:prstGeom>
          <a:noFill/>
          <a:effectLst/>
        </p:spPr>
        <p:txBody>
          <a:bodyPr wrap="square" lIns="0" tIns="0" rIns="0" bIns="0" anchor="t">
            <a:spAutoFit/>
          </a:bodyPr>
          <a:lstStyle/>
          <a:p>
            <a:pPr algn="l">
              <a:lnSpc>
                <a:spcPct val="112000"/>
              </a:lnSpc>
              <a:spcBef>
                <a:spcPts val="0"/>
              </a:spcBef>
              <a:spcAft>
                <a:spcPts val="500"/>
              </a:spcAft>
              <a:defRPr sz="1500" b="0">
                <a:solidFill>
                  <a:srgbClr val="CEDDC9"/>
                </a:solidFill>
                <a:latin typeface="Arial"/>
              </a:defRPr>
            </a:pPr>
            <a:r>
              <a:t>20–25 minute lesson • demonstration • discussion</a:t>
            </a:r>
          </a:p>
        </p:txBody>
      </p:sp>
      <p:sp>
        <p:nvSpPr>
          <p:cNvPr id="14" name="Rounded Rectangle 13"/>
          <p:cNvSpPr/>
          <p:nvPr/>
        </p:nvSpPr>
        <p:spPr>
          <a:xfrm>
            <a:off x="7982712" y="1197864"/>
            <a:ext cx="3575304" cy="4626864"/>
          </a:xfrm>
          <a:prstGeom prst="roundRect">
            <a:avLst>
              <a:gd name="adj" fmla="val 12000"/>
            </a:avLst>
          </a:prstGeom>
          <a:solidFill>
            <a:srgbClr val="E8ED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5" name="TextBox 14"/>
          <p:cNvSpPr txBox="1"/>
          <p:nvPr/>
        </p:nvSpPr>
        <p:spPr>
          <a:xfrm>
            <a:off x="8238744" y="1453896"/>
            <a:ext cx="3063240" cy="237744"/>
          </a:xfrm>
          <a:prstGeom prst="rect">
            <a:avLst/>
          </a:prstGeom>
          <a:noFill/>
          <a:effectLst/>
        </p:spPr>
        <p:txBody>
          <a:bodyPr wrap="square" lIns="0" tIns="0" rIns="0" bIns="0" anchor="t">
            <a:spAutoFit/>
          </a:bodyPr>
          <a:lstStyle/>
          <a:p>
            <a:pPr algn="l">
              <a:lnSpc>
                <a:spcPct val="112000"/>
              </a:lnSpc>
              <a:spcBef>
                <a:spcPts val="0"/>
              </a:spcBef>
              <a:spcAft>
                <a:spcPts val="500"/>
              </a:spcAft>
              <a:defRPr sz="1100" b="1">
                <a:solidFill>
                  <a:srgbClr val="215C49"/>
                </a:solidFill>
                <a:latin typeface="Arial"/>
              </a:defRPr>
            </a:pPr>
            <a:r>
              <a:t>AUTHOR</a:t>
            </a:r>
          </a:p>
        </p:txBody>
      </p:sp>
      <p:sp>
        <p:nvSpPr>
          <p:cNvPr id="16" name="TextBox 15"/>
          <p:cNvSpPr txBox="1"/>
          <p:nvPr/>
        </p:nvSpPr>
        <p:spPr>
          <a:xfrm>
            <a:off x="8238744" y="1837943"/>
            <a:ext cx="3044952" cy="484632"/>
          </a:xfrm>
          <a:prstGeom prst="rect">
            <a:avLst/>
          </a:prstGeom>
          <a:noFill/>
          <a:effectLst/>
        </p:spPr>
        <p:txBody>
          <a:bodyPr wrap="square" lIns="0" tIns="0" rIns="0" bIns="0" anchor="t">
            <a:spAutoFit/>
          </a:bodyPr>
          <a:lstStyle/>
          <a:p>
            <a:pPr algn="l">
              <a:lnSpc>
                <a:spcPct val="112000"/>
              </a:lnSpc>
              <a:spcBef>
                <a:spcPts val="0"/>
              </a:spcBef>
              <a:spcAft>
                <a:spcPts val="500"/>
              </a:spcAft>
              <a:defRPr sz="2500" b="1">
                <a:solidFill>
                  <a:srgbClr val="215C49"/>
                </a:solidFill>
                <a:latin typeface="Arial"/>
              </a:defRPr>
            </a:pPr>
            <a:r>
              <a:t>Dr. Lokesh M R</a:t>
            </a:r>
          </a:p>
        </p:txBody>
      </p:sp>
      <p:sp>
        <p:nvSpPr>
          <p:cNvPr id="17" name="TextBox 16"/>
          <p:cNvSpPr txBox="1"/>
          <p:nvPr/>
        </p:nvSpPr>
        <p:spPr>
          <a:xfrm>
            <a:off x="8238744" y="2478024"/>
            <a:ext cx="3054096" cy="310896"/>
          </a:xfrm>
          <a:prstGeom prst="rect">
            <a:avLst/>
          </a:prstGeom>
          <a:noFill/>
          <a:effectLst/>
        </p:spPr>
        <p:txBody>
          <a:bodyPr wrap="square" lIns="0" tIns="0" rIns="0" bIns="0" anchor="t">
            <a:spAutoFit/>
          </a:bodyPr>
          <a:lstStyle/>
          <a:p>
            <a:pPr algn="l">
              <a:lnSpc>
                <a:spcPct val="112000"/>
              </a:lnSpc>
              <a:spcBef>
                <a:spcPts val="0"/>
              </a:spcBef>
              <a:spcAft>
                <a:spcPts val="500"/>
              </a:spcAft>
              <a:defRPr sz="1900" b="1">
                <a:solidFill>
                  <a:srgbClr val="233D33"/>
                </a:solidFill>
                <a:latin typeface="Arial"/>
              </a:defRPr>
            </a:pPr>
            <a:r>
              <a:t>Professor</a:t>
            </a:r>
          </a:p>
        </p:txBody>
      </p:sp>
      <p:sp>
        <p:nvSpPr>
          <p:cNvPr id="18" name="TextBox 17"/>
          <p:cNvSpPr txBox="1"/>
          <p:nvPr/>
        </p:nvSpPr>
        <p:spPr>
          <a:xfrm>
            <a:off x="8238744" y="2880360"/>
            <a:ext cx="3054096" cy="713232"/>
          </a:xfrm>
          <a:prstGeom prst="rect">
            <a:avLst/>
          </a:prstGeom>
          <a:noFill/>
          <a:effectLst/>
        </p:spPr>
        <p:txBody>
          <a:bodyPr wrap="square" lIns="0" tIns="0" rIns="0" bIns="0" anchor="t">
            <a:spAutoFit/>
          </a:bodyPr>
          <a:lstStyle/>
          <a:p>
            <a:pPr algn="l">
              <a:lnSpc>
                <a:spcPct val="112000"/>
              </a:lnSpc>
              <a:spcBef>
                <a:spcPts val="0"/>
              </a:spcBef>
              <a:spcAft>
                <a:spcPts val="500"/>
              </a:spcAft>
              <a:defRPr sz="1600" b="0">
                <a:solidFill>
                  <a:srgbClr val="233D33"/>
                </a:solidFill>
                <a:latin typeface="Arial"/>
              </a:defRPr>
            </a:pPr>
            <a:r>
              <a:t>Department of Information</a:t>
            </a:r>
          </a:p>
          <a:p>
            <a:pPr algn="l">
              <a:lnSpc>
                <a:spcPct val="112000"/>
              </a:lnSpc>
              <a:spcBef>
                <a:spcPts val="0"/>
              </a:spcBef>
              <a:spcAft>
                <a:spcPts val="500"/>
              </a:spcAft>
              <a:defRPr sz="1600" b="0">
                <a:solidFill>
                  <a:srgbClr val="233D33"/>
                </a:solidFill>
                <a:latin typeface="Arial"/>
              </a:defRPr>
            </a:pPr>
            <a:r>
              <a:t>Science &amp; Engineering</a:t>
            </a:r>
          </a:p>
        </p:txBody>
      </p:sp>
      <p:sp>
        <p:nvSpPr>
          <p:cNvPr id="19" name="TextBox 18"/>
          <p:cNvSpPr txBox="1"/>
          <p:nvPr/>
        </p:nvSpPr>
        <p:spPr>
          <a:xfrm>
            <a:off x="8238744" y="3785615"/>
            <a:ext cx="3054096" cy="768096"/>
          </a:xfrm>
          <a:prstGeom prst="rect">
            <a:avLst/>
          </a:prstGeom>
          <a:noFill/>
          <a:effectLst/>
        </p:spPr>
        <p:txBody>
          <a:bodyPr wrap="square" lIns="0" tIns="0" rIns="0" bIns="0" anchor="t">
            <a:spAutoFit/>
          </a:bodyPr>
          <a:lstStyle/>
          <a:p>
            <a:pPr algn="l">
              <a:lnSpc>
                <a:spcPct val="112000"/>
              </a:lnSpc>
              <a:spcBef>
                <a:spcPts val="0"/>
              </a:spcBef>
              <a:spcAft>
                <a:spcPts val="500"/>
              </a:spcAft>
              <a:defRPr sz="1700" b="1">
                <a:solidFill>
                  <a:srgbClr val="233D33"/>
                </a:solidFill>
                <a:latin typeface="Arial"/>
              </a:defRPr>
            </a:pPr>
            <a:r>
              <a:t>A J Institute of Engineering</a:t>
            </a:r>
          </a:p>
          <a:p>
            <a:pPr algn="l">
              <a:lnSpc>
                <a:spcPct val="112000"/>
              </a:lnSpc>
              <a:spcBef>
                <a:spcPts val="0"/>
              </a:spcBef>
              <a:spcAft>
                <a:spcPts val="500"/>
              </a:spcAft>
              <a:defRPr sz="1700" b="1">
                <a:solidFill>
                  <a:srgbClr val="233D33"/>
                </a:solidFill>
                <a:latin typeface="Arial"/>
              </a:defRPr>
            </a:pPr>
            <a:r>
              <a:t>and Technology</a:t>
            </a:r>
          </a:p>
        </p:txBody>
      </p:sp>
      <p:sp>
        <p:nvSpPr>
          <p:cNvPr id="20" name="TextBox 19"/>
          <p:cNvSpPr txBox="1"/>
          <p:nvPr/>
        </p:nvSpPr>
        <p:spPr>
          <a:xfrm>
            <a:off x="8238744" y="4681728"/>
            <a:ext cx="3044952" cy="411480"/>
          </a:xfrm>
          <a:prstGeom prst="rect">
            <a:avLst/>
          </a:prstGeom>
          <a:noFill/>
          <a:effectLst/>
        </p:spPr>
        <p:txBody>
          <a:bodyPr wrap="square" lIns="0" tIns="0" rIns="0" bIns="0" anchor="t">
            <a:spAutoFit/>
          </a:bodyPr>
          <a:lstStyle/>
          <a:p>
            <a:pPr algn="l">
              <a:lnSpc>
                <a:spcPct val="112000"/>
              </a:lnSpc>
              <a:spcBef>
                <a:spcPts val="0"/>
              </a:spcBef>
              <a:spcAft>
                <a:spcPts val="500"/>
              </a:spcAft>
              <a:defRPr sz="1500" b="0">
                <a:solidFill>
                  <a:srgbClr val="5C6B62"/>
                </a:solidFill>
                <a:latin typeface="Arial"/>
              </a:defRPr>
            </a:pPr>
            <a:r>
              <a:t>Mangaluru, Karnataka, India</a:t>
            </a:r>
          </a:p>
        </p:txBody>
      </p:sp>
      <p:sp>
        <p:nvSpPr>
          <p:cNvPr id="21" name="TextBox 20"/>
          <p:cNvSpPr txBox="1"/>
          <p:nvPr/>
        </p:nvSpPr>
        <p:spPr>
          <a:xfrm>
            <a:off x="8238744" y="5230368"/>
            <a:ext cx="3035808" cy="338328"/>
          </a:xfrm>
          <a:prstGeom prst="rect">
            <a:avLst/>
          </a:prstGeom>
          <a:noFill/>
          <a:effectLst/>
        </p:spPr>
        <p:txBody>
          <a:bodyPr wrap="square" lIns="0" tIns="0" rIns="0" bIns="0" anchor="t">
            <a:spAutoFit/>
          </a:bodyPr>
          <a:lstStyle/>
          <a:p>
            <a:pPr algn="l">
              <a:lnSpc>
                <a:spcPct val="112000"/>
              </a:lnSpc>
              <a:spcBef>
                <a:spcPts val="0"/>
              </a:spcBef>
              <a:spcAft>
                <a:spcPts val="500"/>
              </a:spcAft>
              <a:defRPr sz="1400" b="0">
                <a:solidFill>
                  <a:srgbClr val="215C49"/>
                </a:solidFill>
                <a:latin typeface="Arial"/>
              </a:defRPr>
            </a:pPr>
            <a:r>
              <a:t>Affiliated to VTU, Belagavi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9F5"/>
        </a:solidFill>
        <a:effectLst/>
      </p:bgPr>
    </p:bg>
    <p:spTree>
      <p:nvGrpSpPr>
        <p:cNvPr id="1" name=""/>
        <p:cNvGrpSpPr/>
        <p:nvPr/>
      </p:nvGrpSpPr>
      <p:grpSpPr>
        <a:xfrm>
          <a:off x="0" y="0"/>
          <a:ext cx="0" cy="0"/>
          <a:chOff x="0" y="0"/>
          <a:chExt cx="0" cy="0"/>
        </a:xfrm>
      </p:grpSpPr>
      <p:sp>
        <p:nvSpPr>
          <p:cNvPr id="2" name="TextBox 1"/>
          <p:cNvSpPr txBox="1"/>
          <p:nvPr/>
        </p:nvSpPr>
        <p:spPr>
          <a:xfrm>
            <a:off x="576072" y="310896"/>
            <a:ext cx="7315200" cy="237744"/>
          </a:xfrm>
          <a:prstGeom prst="rect">
            <a:avLst/>
          </a:prstGeom>
          <a:noFill/>
          <a:effectLst/>
        </p:spPr>
        <p:txBody>
          <a:bodyPr wrap="square" lIns="0" tIns="0" rIns="0" bIns="0" anchor="t">
            <a:spAutoFit/>
          </a:bodyPr>
          <a:lstStyle/>
          <a:p>
            <a:pPr algn="l">
              <a:lnSpc>
                <a:spcPct val="112000"/>
              </a:lnSpc>
              <a:spcBef>
                <a:spcPts val="0"/>
              </a:spcBef>
              <a:spcAft>
                <a:spcPts val="500"/>
              </a:spcAft>
              <a:defRPr sz="1000" b="1">
                <a:solidFill>
                  <a:srgbClr val="215C49"/>
                </a:solidFill>
                <a:latin typeface="Arial"/>
              </a:defRPr>
            </a:pPr>
            <a:r>
              <a:t>SAHAYA  /  PROJECT</a:t>
            </a:r>
          </a:p>
        </p:txBody>
      </p:sp>
      <p:sp>
        <p:nvSpPr>
          <p:cNvPr id="3" name="TextBox 2"/>
          <p:cNvSpPr txBox="1"/>
          <p:nvPr/>
        </p:nvSpPr>
        <p:spPr>
          <a:xfrm>
            <a:off x="576072" y="749808"/>
            <a:ext cx="11064240" cy="576072"/>
          </a:xfrm>
          <a:prstGeom prst="rect">
            <a:avLst/>
          </a:prstGeom>
          <a:noFill/>
          <a:effectLst/>
        </p:spPr>
        <p:txBody>
          <a:bodyPr wrap="square" lIns="0" tIns="0" rIns="0" bIns="0" anchor="t">
            <a:spAutoFit/>
          </a:bodyPr>
          <a:lstStyle/>
          <a:p>
            <a:pPr algn="l">
              <a:lnSpc>
                <a:spcPct val="112000"/>
              </a:lnSpc>
              <a:spcBef>
                <a:spcPts val="0"/>
              </a:spcBef>
              <a:spcAft>
                <a:spcPts val="500"/>
              </a:spcAft>
              <a:defRPr sz="3100" b="0">
                <a:solidFill>
                  <a:srgbClr val="233D33"/>
                </a:solidFill>
                <a:latin typeface="Georgia"/>
              </a:defRPr>
            </a:pPr>
            <a:r>
              <a:t>One course mandate. A clear boundary.</a:t>
            </a:r>
          </a:p>
        </p:txBody>
      </p:sp>
      <p:cxnSp>
        <p:nvCxnSpPr>
          <p:cNvPr id="4" name="Connector 3"/>
          <p:cNvCxnSpPr/>
          <p:nvPr/>
        </p:nvCxnSpPr>
        <p:spPr>
          <a:xfrm>
            <a:off x="585216" y="6373368"/>
            <a:ext cx="11018520" cy="0"/>
          </a:xfrm>
          <a:prstGeom prst="line">
            <a:avLst/>
          </a:prstGeom>
          <a:ln w="12700">
            <a:solidFill>
              <a:srgbClr val="DCE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6419088"/>
            <a:ext cx="10972800" cy="164592"/>
          </a:xfrm>
          <a:prstGeom prst="rect">
            <a:avLst/>
          </a:prstGeom>
          <a:noFill/>
          <a:effectLst/>
        </p:spPr>
        <p:txBody>
          <a:bodyPr wrap="square" lIns="0" tIns="0" rIns="0" bIns="0" anchor="t">
            <a:spAutoFit/>
          </a:bodyPr>
          <a:lstStyle/>
          <a:p>
            <a:pPr algn="l">
              <a:lnSpc>
                <a:spcPct val="112000"/>
              </a:lnSpc>
              <a:spcBef>
                <a:spcPts val="0"/>
              </a:spcBef>
              <a:spcAft>
                <a:spcPts val="500"/>
              </a:spcAft>
              <a:defRPr sz="800" b="0">
                <a:solidFill>
                  <a:srgbClr val="5C6B62"/>
                </a:solidFill>
                <a:latin typeface="Arial"/>
              </a:defRPr>
            </a:pPr>
            <a:r>
              <a:t>Report PDF p. 4; package docs/REQUIREMENTS.md</a:t>
            </a:r>
          </a:p>
        </p:txBody>
      </p:sp>
      <p:sp>
        <p:nvSpPr>
          <p:cNvPr id="6" name="TextBox 5"/>
          <p:cNvSpPr txBox="1"/>
          <p:nvPr/>
        </p:nvSpPr>
        <p:spPr>
          <a:xfrm>
            <a:off x="585216" y="6638544"/>
            <a:ext cx="10607040" cy="173736"/>
          </a:xfrm>
          <a:prstGeom prst="rect">
            <a:avLst/>
          </a:prstGeom>
          <a:noFill/>
          <a:effectLst/>
        </p:spPr>
        <p:txBody>
          <a:bodyPr wrap="square" lIns="0" tIns="0" rIns="0" bIns="0" anchor="t">
            <a:spAutoFit/>
          </a:bodyPr>
          <a:lstStyle/>
          <a:p>
            <a:pPr algn="l">
              <a:lnSpc>
                <a:spcPct val="112000"/>
              </a:lnSpc>
              <a:spcBef>
                <a:spcPts val="0"/>
              </a:spcBef>
              <a:spcAft>
                <a:spcPts val="500"/>
              </a:spcAft>
              <a:defRPr sz="900" b="1">
                <a:solidFill>
                  <a:srgbClr val="215C49"/>
                </a:solidFill>
                <a:latin typeface="Arial"/>
              </a:defRPr>
            </a:pPr>
            <a:r>
              <a:t>Dr. Lokesh M R  |  Professor, ISE  |  AJIET, Mangaluru</a:t>
            </a:r>
          </a:p>
        </p:txBody>
      </p:sp>
      <p:sp>
        <p:nvSpPr>
          <p:cNvPr id="7" name="TextBox 6"/>
          <p:cNvSpPr txBox="1"/>
          <p:nvPr/>
        </p:nvSpPr>
        <p:spPr>
          <a:xfrm>
            <a:off x="11201400" y="6620256"/>
            <a:ext cx="393192" cy="210312"/>
          </a:xfrm>
          <a:prstGeom prst="rect">
            <a:avLst/>
          </a:prstGeom>
          <a:noFill/>
          <a:effectLst/>
        </p:spPr>
        <p:txBody>
          <a:bodyPr wrap="square" lIns="0" tIns="0" rIns="0" bIns="0" anchor="t">
            <a:spAutoFit/>
          </a:bodyPr>
          <a:lstStyle/>
          <a:p>
            <a:pPr algn="r">
              <a:lnSpc>
                <a:spcPct val="112000"/>
              </a:lnSpc>
              <a:spcBef>
                <a:spcPts val="0"/>
              </a:spcBef>
              <a:spcAft>
                <a:spcPts val="500"/>
              </a:spcAft>
              <a:defRPr sz="1000" b="1">
                <a:solidFill>
                  <a:srgbClr val="215C49"/>
                </a:solidFill>
                <a:latin typeface="Arial"/>
              </a:defRPr>
            </a:pPr>
            <a:r>
              <a:t>03</a:t>
            </a:r>
          </a:p>
        </p:txBody>
      </p:sp>
      <p:graphicFrame>
        <p:nvGraphicFramePr>
          <p:cNvPr id="8" name="Table 7"/>
          <p:cNvGraphicFramePr>
            <a:graphicFrameLocks noGrp="1"/>
          </p:cNvGraphicFramePr>
          <p:nvPr/>
        </p:nvGraphicFramePr>
        <p:xfrm>
          <a:off x="603504" y="1719072"/>
          <a:ext cx="10991088" cy="2346960"/>
        </p:xfrm>
        <a:graphic>
          <a:graphicData uri="http://schemas.openxmlformats.org/drawingml/2006/table">
            <a:tbl>
              <a:tblPr firstRow="1" bandRow="1">
                <a:tableStyleId>{5C22544A-7EE6-4342-B048-85BDC9FD1C3A}</a:tableStyleId>
              </a:tblPr>
              <a:tblGrid>
                <a:gridCol w="576072">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4498848">
                  <a:extLst>
                    <a:ext uri="{9D8B030D-6E8A-4147-A177-3AD203B41FA5}">
                      <a16:colId xmlns:a16="http://schemas.microsoft.com/office/drawing/2014/main" val="20002"/>
                    </a:ext>
                  </a:extLst>
                </a:gridCol>
                <a:gridCol w="1344168">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603504">
                <a:tc>
                  <a:txBody>
                    <a:bodyPr/>
                    <a:lstStyle/>
                    <a:p>
                      <a:pPr>
                        <a:lnSpc>
                          <a:spcPct val="110000"/>
                        </a:lnSpc>
                        <a:defRPr sz="1300" b="1">
                          <a:solidFill>
                            <a:srgbClr val="FFFFFF"/>
                          </a:solidFill>
                          <a:latin typeface="Arial"/>
                        </a:defRPr>
                      </a:pPr>
                      <a:r>
                        <a:t>Sl. No.</a:t>
                      </a:r>
                    </a:p>
                  </a:txBody>
                  <a:tcPr marL="128016" marR="128016" marT="109728" marB="109728" anchor="ctr">
                    <a:solidFill>
                      <a:srgbClr val="215C49"/>
                    </a:solidFill>
                  </a:tcPr>
                </a:tc>
                <a:tc>
                  <a:txBody>
                    <a:bodyPr/>
                    <a:lstStyle/>
                    <a:p>
                      <a:pPr>
                        <a:lnSpc>
                          <a:spcPct val="110000"/>
                        </a:lnSpc>
                        <a:defRPr sz="1300" b="1">
                          <a:solidFill>
                            <a:srgbClr val="FFFFFF"/>
                          </a:solidFill>
                          <a:latin typeface="Arial"/>
                        </a:defRPr>
                      </a:pPr>
                      <a:r>
                        <a:t>Broad Areas/Project titles</a:t>
                      </a:r>
                    </a:p>
                  </a:txBody>
                  <a:tcPr marL="128016" marR="128016" marT="109728" marB="109728" anchor="ctr">
                    <a:solidFill>
                      <a:srgbClr val="215C49"/>
                    </a:solidFill>
                  </a:tcPr>
                </a:tc>
                <a:tc>
                  <a:txBody>
                    <a:bodyPr/>
                    <a:lstStyle/>
                    <a:p>
                      <a:pPr>
                        <a:lnSpc>
                          <a:spcPct val="110000"/>
                        </a:lnSpc>
                        <a:defRPr sz="1300" b="1">
                          <a:solidFill>
                            <a:srgbClr val="FFFFFF"/>
                          </a:solidFill>
                          <a:latin typeface="Arial"/>
                        </a:defRPr>
                      </a:pPr>
                      <a:r>
                        <a:t>Measurable engineering outcome</a:t>
                      </a:r>
                    </a:p>
                  </a:txBody>
                  <a:tcPr marL="128016" marR="128016" marT="109728" marB="109728" anchor="ctr">
                    <a:solidFill>
                      <a:srgbClr val="215C49"/>
                    </a:solidFill>
                  </a:tcPr>
                </a:tc>
                <a:tc>
                  <a:txBody>
                    <a:bodyPr/>
                    <a:lstStyle/>
                    <a:p>
                      <a:pPr>
                        <a:lnSpc>
                          <a:spcPct val="110000"/>
                        </a:lnSpc>
                        <a:defRPr sz="1300" b="1">
                          <a:solidFill>
                            <a:srgbClr val="FFFFFF"/>
                          </a:solidFill>
                          <a:latin typeface="Arial"/>
                        </a:defRPr>
                      </a:pPr>
                      <a:r>
                        <a:t>Specific POs</a:t>
                      </a:r>
                    </a:p>
                  </a:txBody>
                  <a:tcPr marL="128016" marR="128016" marT="109728" marB="109728" anchor="ctr">
                    <a:solidFill>
                      <a:srgbClr val="215C49"/>
                    </a:solidFill>
                  </a:tcPr>
                </a:tc>
                <a:tc>
                  <a:txBody>
                    <a:bodyPr/>
                    <a:lstStyle/>
                    <a:p>
                      <a:pPr>
                        <a:lnSpc>
                          <a:spcPct val="110000"/>
                        </a:lnSpc>
                        <a:defRPr sz="1300" b="1">
                          <a:solidFill>
                            <a:srgbClr val="FFFFFF"/>
                          </a:solidFill>
                          <a:latin typeface="Arial"/>
                        </a:defRPr>
                      </a:pPr>
                      <a:r>
                        <a:t>SDGs</a:t>
                      </a:r>
                    </a:p>
                  </a:txBody>
                  <a:tcPr marL="128016" marR="128016" marT="109728" marB="109728" anchor="ctr">
                    <a:solidFill>
                      <a:srgbClr val="215C49"/>
                    </a:solidFill>
                  </a:tcPr>
                </a:tc>
                <a:extLst>
                  <a:ext uri="{0D108BD9-81ED-4DB2-BD59-A6C34878D82A}">
                    <a16:rowId xmlns:a16="http://schemas.microsoft.com/office/drawing/2014/main" val="10000"/>
                  </a:ext>
                </a:extLst>
              </a:tr>
              <a:tr h="1691640">
                <a:tc>
                  <a:txBody>
                    <a:bodyPr/>
                    <a:lstStyle/>
                    <a:p>
                      <a:pPr>
                        <a:lnSpc>
                          <a:spcPct val="110000"/>
                        </a:lnSpc>
                        <a:defRPr sz="1700" b="0">
                          <a:solidFill>
                            <a:srgbClr val="233D33"/>
                          </a:solidFill>
                          <a:latin typeface="Arial"/>
                        </a:defRPr>
                      </a:pPr>
                      <a:r>
                        <a:t>1</a:t>
                      </a:r>
                    </a:p>
                  </a:txBody>
                  <a:tcPr marL="128016" marR="128016" marT="109728" marB="109728" anchor="ctr">
                    <a:solidFill>
                      <a:srgbClr val="FFFFFF"/>
                    </a:solidFill>
                  </a:tcPr>
                </a:tc>
                <a:tc>
                  <a:txBody>
                    <a:bodyPr/>
                    <a:lstStyle/>
                    <a:p>
                      <a:pPr>
                        <a:lnSpc>
                          <a:spcPct val="110000"/>
                        </a:lnSpc>
                        <a:defRPr sz="1700" b="0">
                          <a:solidFill>
                            <a:srgbClr val="233D33"/>
                          </a:solidFill>
                          <a:latin typeface="Arial"/>
                        </a:defRPr>
                      </a:pPr>
                      <a:r>
                        <a:t>Computer-Based Learning Tool for Mentally Challenged Students</a:t>
                      </a:r>
                    </a:p>
                  </a:txBody>
                  <a:tcPr marL="128016" marR="128016" marT="109728" marB="109728" anchor="ctr">
                    <a:solidFill>
                      <a:srgbClr val="FFFFFF"/>
                    </a:solidFill>
                  </a:tcPr>
                </a:tc>
                <a:tc>
                  <a:txBody>
                    <a:bodyPr/>
                    <a:lstStyle/>
                    <a:p>
                      <a:pPr>
                        <a:lnSpc>
                          <a:spcPct val="110000"/>
                        </a:lnSpc>
                        <a:defRPr sz="1700" b="0">
                          <a:solidFill>
                            <a:srgbClr val="233D33"/>
                          </a:solidFill>
                          <a:latin typeface="Arial"/>
                        </a:defRPr>
                      </a:pPr>
                      <a:r>
                        <a:t>Design and develop a web/browserbased learning tool as per the requirements of the special school.</a:t>
                      </a:r>
                    </a:p>
                  </a:txBody>
                  <a:tcPr marL="128016" marR="128016" marT="109728" marB="109728" anchor="ctr">
                    <a:solidFill>
                      <a:srgbClr val="FFFFFF"/>
                    </a:solidFill>
                  </a:tcPr>
                </a:tc>
                <a:tc>
                  <a:txBody>
                    <a:bodyPr/>
                    <a:lstStyle/>
                    <a:p>
                      <a:pPr>
                        <a:lnSpc>
                          <a:spcPct val="110000"/>
                        </a:lnSpc>
                        <a:defRPr sz="1700" b="0">
                          <a:solidFill>
                            <a:srgbClr val="233D33"/>
                          </a:solidFill>
                          <a:latin typeface="Arial"/>
                        </a:defRPr>
                      </a:pPr>
                      <a:r>
                        <a:t>5, 6</a:t>
                      </a:r>
                    </a:p>
                  </a:txBody>
                  <a:tcPr marL="128016" marR="128016" marT="109728" marB="109728" anchor="ctr">
                    <a:solidFill>
                      <a:srgbClr val="FFFFFF"/>
                    </a:solidFill>
                  </a:tcPr>
                </a:tc>
                <a:tc>
                  <a:txBody>
                    <a:bodyPr/>
                    <a:lstStyle/>
                    <a:p>
                      <a:pPr>
                        <a:lnSpc>
                          <a:spcPct val="110000"/>
                        </a:lnSpc>
                        <a:defRPr sz="1700" b="0">
                          <a:solidFill>
                            <a:srgbClr val="233D33"/>
                          </a:solidFill>
                          <a:latin typeface="Arial"/>
                        </a:defRPr>
                      </a:pPr>
                      <a:r>
                        <a:t>4</a:t>
                      </a:r>
                    </a:p>
                  </a:txBody>
                  <a:tcPr marL="128016" marR="128016" marT="109728" marB="109728" anchor="ctr">
                    <a:solidFill>
                      <a:srgbClr val="FFFFFF"/>
                    </a:solidFill>
                  </a:tcPr>
                </a:tc>
                <a:extLst>
                  <a:ext uri="{0D108BD9-81ED-4DB2-BD59-A6C34878D82A}">
                    <a16:rowId xmlns:a16="http://schemas.microsoft.com/office/drawing/2014/main" val="10001"/>
                  </a:ext>
                </a:extLst>
              </a:tr>
            </a:tbl>
          </a:graphicData>
        </a:graphic>
      </p:graphicFrame>
      <p:sp>
        <p:nvSpPr>
          <p:cNvPr id="9" name="TextBox 8"/>
          <p:cNvSpPr txBox="1"/>
          <p:nvPr/>
        </p:nvSpPr>
        <p:spPr>
          <a:xfrm>
            <a:off x="667512" y="4197096"/>
            <a:ext cx="10789920" cy="365760"/>
          </a:xfrm>
          <a:prstGeom prst="rect">
            <a:avLst/>
          </a:prstGeom>
          <a:noFill/>
          <a:effectLst/>
        </p:spPr>
        <p:txBody>
          <a:bodyPr wrap="square" lIns="0" tIns="0" rIns="0" bIns="0" anchor="t">
            <a:spAutoFit/>
          </a:bodyPr>
          <a:lstStyle/>
          <a:p>
            <a:pPr algn="l">
              <a:lnSpc>
                <a:spcPct val="112000"/>
              </a:lnSpc>
              <a:spcBef>
                <a:spcPts val="0"/>
              </a:spcBef>
              <a:spcAft>
                <a:spcPts val="500"/>
              </a:spcAft>
              <a:defRPr sz="1500" b="0">
                <a:solidFill>
                  <a:srgbClr val="5C6B62"/>
                </a:solidFill>
                <a:latin typeface="Arial"/>
              </a:defRPr>
            </a:pPr>
            <a:r>
              <a:t>The quoted syllabus row is preserved exactly. New project language is learner-centred and respectful.</a:t>
            </a:r>
          </a:p>
        </p:txBody>
      </p:sp>
      <p:sp>
        <p:nvSpPr>
          <p:cNvPr id="10" name="TextBox 9"/>
          <p:cNvSpPr txBox="1"/>
          <p:nvPr/>
        </p:nvSpPr>
        <p:spPr>
          <a:xfrm>
            <a:off x="685800" y="4626864"/>
            <a:ext cx="10835640" cy="310896"/>
          </a:xfrm>
          <a:prstGeom prst="rect">
            <a:avLst/>
          </a:prstGeom>
          <a:noFill/>
          <a:effectLst/>
        </p:spPr>
        <p:txBody>
          <a:bodyPr wrap="square" lIns="0" tIns="0" rIns="0" bIns="0" anchor="t">
            <a:spAutoFit/>
          </a:bodyPr>
          <a:lstStyle/>
          <a:p>
            <a:pPr algn="l">
              <a:lnSpc>
                <a:spcPct val="112000"/>
              </a:lnSpc>
              <a:spcBef>
                <a:spcPts val="0"/>
              </a:spcBef>
              <a:spcAft>
                <a:spcPts val="500"/>
              </a:spcAft>
              <a:defRPr sz="1700" b="1">
                <a:solidFill>
                  <a:srgbClr val="215C49"/>
                </a:solidFill>
                <a:latin typeface="Arial"/>
              </a:defRPr>
            </a:pPr>
            <a:r>
              <a:t>PO5 · tools and limits     |     PO6 · responsible community use     |     SDG 4 · inclusive education</a:t>
            </a:r>
          </a:p>
        </p:txBody>
      </p:sp>
      <p:sp>
        <p:nvSpPr>
          <p:cNvPr id="11" name="Rounded Rectangle 10"/>
          <p:cNvSpPr/>
          <p:nvPr/>
        </p:nvSpPr>
        <p:spPr>
          <a:xfrm>
            <a:off x="612648" y="5148072"/>
            <a:ext cx="10972800" cy="713232"/>
          </a:xfrm>
          <a:prstGeom prst="roundRect">
            <a:avLst>
              <a:gd name="adj" fmla="val 12000"/>
            </a:avLst>
          </a:prstGeom>
          <a:solidFill>
            <a:srgbClr val="F3EB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832104" y="5340096"/>
            <a:ext cx="10515600" cy="320040"/>
          </a:xfrm>
          <a:prstGeom prst="rect">
            <a:avLst/>
          </a:prstGeom>
          <a:noFill/>
          <a:effectLst/>
        </p:spPr>
        <p:txBody>
          <a:bodyPr wrap="square" lIns="0" tIns="0" rIns="0" bIns="0" anchor="t">
            <a:spAutoFit/>
          </a:bodyPr>
          <a:lstStyle/>
          <a:p>
            <a:pPr algn="l">
              <a:lnSpc>
                <a:spcPct val="112000"/>
              </a:lnSpc>
              <a:spcBef>
                <a:spcPts val="0"/>
              </a:spcBef>
              <a:spcAft>
                <a:spcPts val="500"/>
              </a:spcAft>
              <a:defRPr sz="2100" b="1">
                <a:solidFill>
                  <a:srgbClr val="A25436"/>
                </a:solidFill>
                <a:latin typeface="Arial"/>
              </a:defRPr>
            </a:pPr>
            <a:r>
              <a:t>School-specific requirements have not yet been collected or approved.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9F5"/>
        </a:solidFill>
        <a:effectLst/>
      </p:bgPr>
    </p:bg>
    <p:spTree>
      <p:nvGrpSpPr>
        <p:cNvPr id="1" name=""/>
        <p:cNvGrpSpPr/>
        <p:nvPr/>
      </p:nvGrpSpPr>
      <p:grpSpPr>
        <a:xfrm>
          <a:off x="0" y="0"/>
          <a:ext cx="0" cy="0"/>
          <a:chOff x="0" y="0"/>
          <a:chExt cx="0" cy="0"/>
        </a:xfrm>
      </p:grpSpPr>
      <p:sp>
        <p:nvSpPr>
          <p:cNvPr id="2" name="TextBox 1"/>
          <p:cNvSpPr txBox="1"/>
          <p:nvPr/>
        </p:nvSpPr>
        <p:spPr>
          <a:xfrm>
            <a:off x="576072" y="310896"/>
            <a:ext cx="7315200" cy="237744"/>
          </a:xfrm>
          <a:prstGeom prst="rect">
            <a:avLst/>
          </a:prstGeom>
          <a:noFill/>
          <a:effectLst/>
        </p:spPr>
        <p:txBody>
          <a:bodyPr wrap="square" lIns="0" tIns="0" rIns="0" bIns="0" anchor="t">
            <a:spAutoFit/>
          </a:bodyPr>
          <a:lstStyle/>
          <a:p>
            <a:pPr algn="l">
              <a:lnSpc>
                <a:spcPct val="112000"/>
              </a:lnSpc>
              <a:spcBef>
                <a:spcPts val="0"/>
              </a:spcBef>
              <a:spcAft>
                <a:spcPts val="500"/>
              </a:spcAft>
              <a:defRPr sz="1000" b="1">
                <a:solidFill>
                  <a:srgbClr val="215C49"/>
                </a:solidFill>
                <a:latin typeface="Arial"/>
              </a:defRPr>
            </a:pPr>
            <a:r>
              <a:t>SAHAYA  /  PROJECT</a:t>
            </a:r>
          </a:p>
        </p:txBody>
      </p:sp>
      <p:sp>
        <p:nvSpPr>
          <p:cNvPr id="3" name="TextBox 2"/>
          <p:cNvSpPr txBox="1"/>
          <p:nvPr/>
        </p:nvSpPr>
        <p:spPr>
          <a:xfrm>
            <a:off x="576072" y="749808"/>
            <a:ext cx="11064240" cy="576072"/>
          </a:xfrm>
          <a:prstGeom prst="rect">
            <a:avLst/>
          </a:prstGeom>
          <a:noFill/>
          <a:effectLst/>
        </p:spPr>
        <p:txBody>
          <a:bodyPr wrap="square" lIns="0" tIns="0" rIns="0" bIns="0" anchor="t">
            <a:spAutoFit/>
          </a:bodyPr>
          <a:lstStyle/>
          <a:p>
            <a:pPr algn="l">
              <a:lnSpc>
                <a:spcPct val="112000"/>
              </a:lnSpc>
              <a:spcBef>
                <a:spcPts val="0"/>
              </a:spcBef>
              <a:spcAft>
                <a:spcPts val="500"/>
              </a:spcAft>
              <a:defRPr sz="3100" b="0">
                <a:solidFill>
                  <a:srgbClr val="233D33"/>
                </a:solidFill>
                <a:latin typeface="Georgia"/>
              </a:defRPr>
            </a:pPr>
            <a:r>
              <a:t>Start with the learner—not with the model.</a:t>
            </a:r>
          </a:p>
        </p:txBody>
      </p:sp>
      <p:sp>
        <p:nvSpPr>
          <p:cNvPr id="4" name="TextBox 3"/>
          <p:cNvSpPr txBox="1"/>
          <p:nvPr/>
        </p:nvSpPr>
        <p:spPr>
          <a:xfrm>
            <a:off x="594360" y="1371600"/>
            <a:ext cx="10972800" cy="384048"/>
          </a:xfrm>
          <a:prstGeom prst="rect">
            <a:avLst/>
          </a:prstGeom>
          <a:noFill/>
          <a:effectLst/>
        </p:spPr>
        <p:txBody>
          <a:bodyPr wrap="square" lIns="0" tIns="0" rIns="0" bIns="0" anchor="t">
            <a:spAutoFit/>
          </a:bodyPr>
          <a:lstStyle/>
          <a:p>
            <a:pPr algn="l">
              <a:lnSpc>
                <a:spcPct val="112000"/>
              </a:lnSpc>
              <a:spcBef>
                <a:spcPts val="0"/>
              </a:spcBef>
              <a:spcAft>
                <a:spcPts val="500"/>
              </a:spcAft>
              <a:defRPr sz="1600" b="0">
                <a:solidFill>
                  <a:srgbClr val="5C6B62"/>
                </a:solidFill>
                <a:latin typeface="Arial"/>
              </a:defRPr>
            </a:pPr>
            <a:r>
              <a:t>Three questions guide the baseline design; a school must validate the answers.</a:t>
            </a:r>
          </a:p>
        </p:txBody>
      </p:sp>
      <p:cxnSp>
        <p:nvCxnSpPr>
          <p:cNvPr id="5" name="Connector 4"/>
          <p:cNvCxnSpPr/>
          <p:nvPr/>
        </p:nvCxnSpPr>
        <p:spPr>
          <a:xfrm>
            <a:off x="585216" y="6373368"/>
            <a:ext cx="11018520" cy="0"/>
          </a:xfrm>
          <a:prstGeom prst="line">
            <a:avLst/>
          </a:prstGeom>
          <a:ln w="12700">
            <a:solidFill>
              <a:srgbClr val="DCE4DA"/>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85216" y="6419088"/>
            <a:ext cx="10972800" cy="164592"/>
          </a:xfrm>
          <a:prstGeom prst="rect">
            <a:avLst/>
          </a:prstGeom>
          <a:noFill/>
          <a:effectLst/>
        </p:spPr>
        <p:txBody>
          <a:bodyPr wrap="square" lIns="0" tIns="0" rIns="0" bIns="0" anchor="t">
            <a:spAutoFit/>
          </a:bodyPr>
          <a:lstStyle/>
          <a:p>
            <a:pPr algn="l">
              <a:lnSpc>
                <a:spcPct val="112000"/>
              </a:lnSpc>
              <a:spcBef>
                <a:spcPts val="0"/>
              </a:spcBef>
              <a:spcAft>
                <a:spcPts val="500"/>
              </a:spcAft>
              <a:defRPr sz="800" b="0">
                <a:solidFill>
                  <a:srgbClr val="5C6B62"/>
                </a:solidFill>
                <a:latin typeface="Arial"/>
              </a:defRPr>
            </a:pPr>
            <a:r>
              <a:t>Report Chs. 3–4; docs/REQUIREMENTS.md; docs/FIELD_PROTOCOL.md</a:t>
            </a:r>
          </a:p>
        </p:txBody>
      </p:sp>
      <p:sp>
        <p:nvSpPr>
          <p:cNvPr id="7" name="TextBox 6"/>
          <p:cNvSpPr txBox="1"/>
          <p:nvPr/>
        </p:nvSpPr>
        <p:spPr>
          <a:xfrm>
            <a:off x="585216" y="6638544"/>
            <a:ext cx="10607040" cy="173736"/>
          </a:xfrm>
          <a:prstGeom prst="rect">
            <a:avLst/>
          </a:prstGeom>
          <a:noFill/>
          <a:effectLst/>
        </p:spPr>
        <p:txBody>
          <a:bodyPr wrap="square" lIns="0" tIns="0" rIns="0" bIns="0" anchor="t">
            <a:spAutoFit/>
          </a:bodyPr>
          <a:lstStyle/>
          <a:p>
            <a:pPr algn="l">
              <a:lnSpc>
                <a:spcPct val="112000"/>
              </a:lnSpc>
              <a:spcBef>
                <a:spcPts val="0"/>
              </a:spcBef>
              <a:spcAft>
                <a:spcPts val="500"/>
              </a:spcAft>
              <a:defRPr sz="900" b="1">
                <a:solidFill>
                  <a:srgbClr val="215C49"/>
                </a:solidFill>
                <a:latin typeface="Arial"/>
              </a:defRPr>
            </a:pPr>
            <a:r>
              <a:t>Dr. Lokesh M R  |  Professor, ISE  |  AJIET, Mangaluru</a:t>
            </a:r>
          </a:p>
        </p:txBody>
      </p:sp>
      <p:sp>
        <p:nvSpPr>
          <p:cNvPr id="8" name="TextBox 7"/>
          <p:cNvSpPr txBox="1"/>
          <p:nvPr/>
        </p:nvSpPr>
        <p:spPr>
          <a:xfrm>
            <a:off x="11201400" y="6620256"/>
            <a:ext cx="393192" cy="210312"/>
          </a:xfrm>
          <a:prstGeom prst="rect">
            <a:avLst/>
          </a:prstGeom>
          <a:noFill/>
          <a:effectLst/>
        </p:spPr>
        <p:txBody>
          <a:bodyPr wrap="square" lIns="0" tIns="0" rIns="0" bIns="0" anchor="t">
            <a:spAutoFit/>
          </a:bodyPr>
          <a:lstStyle/>
          <a:p>
            <a:pPr algn="r">
              <a:lnSpc>
                <a:spcPct val="112000"/>
              </a:lnSpc>
              <a:spcBef>
                <a:spcPts val="0"/>
              </a:spcBef>
              <a:spcAft>
                <a:spcPts val="500"/>
              </a:spcAft>
              <a:defRPr sz="1000" b="1">
                <a:solidFill>
                  <a:srgbClr val="215C49"/>
                </a:solidFill>
                <a:latin typeface="Arial"/>
              </a:defRPr>
            </a:pPr>
            <a:r>
              <a:t>04</a:t>
            </a:r>
          </a:p>
        </p:txBody>
      </p:sp>
      <p:sp>
        <p:nvSpPr>
          <p:cNvPr id="9" name="Rounded Rectangle 8"/>
          <p:cNvSpPr/>
          <p:nvPr/>
        </p:nvSpPr>
        <p:spPr>
          <a:xfrm>
            <a:off x="621792" y="1975104"/>
            <a:ext cx="3511296" cy="2880360"/>
          </a:xfrm>
          <a:prstGeom prst="roundRect">
            <a:avLst>
              <a:gd name="adj" fmla="val 12000"/>
            </a:avLst>
          </a:prstGeom>
          <a:solidFill>
            <a:srgbClr val="E8ED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850392" y="2185416"/>
            <a:ext cx="3017520" cy="548640"/>
          </a:xfrm>
          <a:prstGeom prst="rect">
            <a:avLst/>
          </a:prstGeom>
          <a:noFill/>
          <a:effectLst/>
        </p:spPr>
        <p:txBody>
          <a:bodyPr wrap="square" lIns="0" tIns="0" rIns="0" bIns="0" anchor="t">
            <a:spAutoFit/>
          </a:bodyPr>
          <a:lstStyle/>
          <a:p>
            <a:pPr algn="l">
              <a:lnSpc>
                <a:spcPct val="112000"/>
              </a:lnSpc>
              <a:spcBef>
                <a:spcPts val="0"/>
              </a:spcBef>
              <a:spcAft>
                <a:spcPts val="500"/>
              </a:spcAft>
              <a:defRPr sz="2400" b="0">
                <a:solidFill>
                  <a:srgbClr val="233D33"/>
                </a:solidFill>
                <a:latin typeface="Georgia"/>
              </a:defRPr>
            </a:pPr>
            <a:r>
              <a:t>Can I follow it?</a:t>
            </a:r>
          </a:p>
        </p:txBody>
      </p:sp>
      <p:sp>
        <p:nvSpPr>
          <p:cNvPr id="11" name="TextBox 10"/>
          <p:cNvSpPr txBox="1"/>
          <p:nvPr/>
        </p:nvSpPr>
        <p:spPr>
          <a:xfrm>
            <a:off x="868680" y="2944368"/>
            <a:ext cx="2926080" cy="1463040"/>
          </a:xfrm>
          <a:prstGeom prst="rect">
            <a:avLst/>
          </a:prstGeom>
          <a:noFill/>
          <a:effectLst/>
        </p:spPr>
        <p:txBody>
          <a:bodyPr wrap="square" lIns="0" tIns="0" rIns="0" bIns="0" anchor="t">
            <a:spAutoFit/>
          </a:bodyPr>
          <a:lstStyle/>
          <a:p>
            <a:pPr algn="l">
              <a:lnSpc>
                <a:spcPct val="112000"/>
              </a:lnSpc>
              <a:spcBef>
                <a:spcPts val="0"/>
              </a:spcBef>
              <a:spcAft>
                <a:spcPts val="500"/>
              </a:spcAft>
              <a:defRPr sz="2100" b="0">
                <a:solidFill>
                  <a:srgbClr val="233D33"/>
                </a:solidFill>
                <a:latin typeface="Arial"/>
              </a:defRPr>
            </a:pPr>
            <a:r>
              <a:t>Short prompts</a:t>
            </a:r>
          </a:p>
          <a:p>
            <a:pPr algn="l">
              <a:lnSpc>
                <a:spcPct val="112000"/>
              </a:lnSpc>
              <a:spcBef>
                <a:spcPts val="0"/>
              </a:spcBef>
              <a:spcAft>
                <a:spcPts val="500"/>
              </a:spcAft>
              <a:defRPr sz="2100" b="0">
                <a:solidFill>
                  <a:srgbClr val="233D33"/>
                </a:solidFill>
                <a:latin typeface="Arial"/>
              </a:defRPr>
            </a:pPr>
            <a:r>
              <a:t>Familiar visual examples</a:t>
            </a:r>
          </a:p>
          <a:p>
            <a:pPr algn="l">
              <a:lnSpc>
                <a:spcPct val="112000"/>
              </a:lnSpc>
              <a:spcBef>
                <a:spcPts val="0"/>
              </a:spcBef>
              <a:spcAft>
                <a:spcPts val="500"/>
              </a:spcAft>
              <a:defRPr sz="2100" b="0">
                <a:solidFill>
                  <a:srgbClr val="233D33"/>
                </a:solidFill>
                <a:latin typeface="Arial"/>
              </a:defRPr>
            </a:pPr>
            <a:r>
              <a:t>English + Kannada</a:t>
            </a:r>
          </a:p>
        </p:txBody>
      </p:sp>
      <p:sp>
        <p:nvSpPr>
          <p:cNvPr id="12" name="Rounded Rectangle 11"/>
          <p:cNvSpPr/>
          <p:nvPr/>
        </p:nvSpPr>
        <p:spPr>
          <a:xfrm>
            <a:off x="4352544" y="1975104"/>
            <a:ext cx="3511296" cy="2880360"/>
          </a:xfrm>
          <a:prstGeom prst="roundRect">
            <a:avLst>
              <a:gd name="adj" fmla="val 12000"/>
            </a:avLst>
          </a:prstGeom>
          <a:solidFill>
            <a:srgbClr val="F3EB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3" name="TextBox 12"/>
          <p:cNvSpPr txBox="1"/>
          <p:nvPr/>
        </p:nvSpPr>
        <p:spPr>
          <a:xfrm>
            <a:off x="4581144" y="2185416"/>
            <a:ext cx="3017520" cy="548640"/>
          </a:xfrm>
          <a:prstGeom prst="rect">
            <a:avLst/>
          </a:prstGeom>
          <a:noFill/>
          <a:effectLst/>
        </p:spPr>
        <p:txBody>
          <a:bodyPr wrap="square" lIns="0" tIns="0" rIns="0" bIns="0" anchor="t">
            <a:spAutoFit/>
          </a:bodyPr>
          <a:lstStyle/>
          <a:p>
            <a:pPr algn="l">
              <a:lnSpc>
                <a:spcPct val="112000"/>
              </a:lnSpc>
              <a:spcBef>
                <a:spcPts val="0"/>
              </a:spcBef>
              <a:spcAft>
                <a:spcPts val="500"/>
              </a:spcAft>
              <a:defRPr sz="2400" b="0">
                <a:solidFill>
                  <a:srgbClr val="233D33"/>
                </a:solidFill>
                <a:latin typeface="Georgia"/>
              </a:defRPr>
            </a:pPr>
            <a:r>
              <a:t>Can I control it?</a:t>
            </a:r>
          </a:p>
        </p:txBody>
      </p:sp>
      <p:sp>
        <p:nvSpPr>
          <p:cNvPr id="14" name="TextBox 13"/>
          <p:cNvSpPr txBox="1"/>
          <p:nvPr/>
        </p:nvSpPr>
        <p:spPr>
          <a:xfrm>
            <a:off x="4599431" y="2944368"/>
            <a:ext cx="2926080" cy="1463040"/>
          </a:xfrm>
          <a:prstGeom prst="rect">
            <a:avLst/>
          </a:prstGeom>
          <a:noFill/>
          <a:effectLst/>
        </p:spPr>
        <p:txBody>
          <a:bodyPr wrap="square" lIns="0" tIns="0" rIns="0" bIns="0" anchor="t">
            <a:spAutoFit/>
          </a:bodyPr>
          <a:lstStyle/>
          <a:p>
            <a:pPr algn="l">
              <a:lnSpc>
                <a:spcPct val="112000"/>
              </a:lnSpc>
              <a:spcBef>
                <a:spcPts val="0"/>
              </a:spcBef>
              <a:spcAft>
                <a:spcPts val="500"/>
              </a:spcAft>
              <a:defRPr sz="2100" b="0">
                <a:solidFill>
                  <a:srgbClr val="233D33"/>
                </a:solidFill>
                <a:latin typeface="Arial"/>
              </a:defRPr>
            </a:pPr>
            <a:r>
              <a:t>No response timer</a:t>
            </a:r>
          </a:p>
          <a:p>
            <a:pPr algn="l">
              <a:lnSpc>
                <a:spcPct val="112000"/>
              </a:lnSpc>
              <a:spcBef>
                <a:spcPts val="0"/>
              </a:spcBef>
              <a:spcAft>
                <a:spcPts val="500"/>
              </a:spcAft>
              <a:defRPr sz="2100" b="0">
                <a:solidFill>
                  <a:srgbClr val="233D33"/>
                </a:solidFill>
                <a:latin typeface="Arial"/>
              </a:defRPr>
            </a:pPr>
            <a:r>
              <a:t>Supportive retries</a:t>
            </a:r>
          </a:p>
          <a:p>
            <a:pPr algn="l">
              <a:lnSpc>
                <a:spcPct val="112000"/>
              </a:lnSpc>
              <a:spcBef>
                <a:spcPts val="0"/>
              </a:spcBef>
              <a:spcAft>
                <a:spcPts val="500"/>
              </a:spcAft>
              <a:defRPr sz="2100" b="0">
                <a:solidFill>
                  <a:srgbClr val="233D33"/>
                </a:solidFill>
                <a:latin typeface="Arial"/>
              </a:defRPr>
            </a:pPr>
            <a:r>
              <a:t>Small practice sessions</a:t>
            </a:r>
          </a:p>
        </p:txBody>
      </p:sp>
      <p:sp>
        <p:nvSpPr>
          <p:cNvPr id="15" name="Rounded Rectangle 14"/>
          <p:cNvSpPr/>
          <p:nvPr/>
        </p:nvSpPr>
        <p:spPr>
          <a:xfrm>
            <a:off x="8083296" y="1975104"/>
            <a:ext cx="3511296" cy="2880360"/>
          </a:xfrm>
          <a:prstGeom prst="roundRect">
            <a:avLst>
              <a:gd name="adj" fmla="val 12000"/>
            </a:avLst>
          </a:prstGeom>
          <a:solidFill>
            <a:srgbClr val="E5EEF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8311896" y="2185416"/>
            <a:ext cx="3017520" cy="548640"/>
          </a:xfrm>
          <a:prstGeom prst="rect">
            <a:avLst/>
          </a:prstGeom>
          <a:noFill/>
          <a:effectLst/>
        </p:spPr>
        <p:txBody>
          <a:bodyPr wrap="square" lIns="0" tIns="0" rIns="0" bIns="0" anchor="t">
            <a:spAutoFit/>
          </a:bodyPr>
          <a:lstStyle/>
          <a:p>
            <a:pPr algn="l">
              <a:lnSpc>
                <a:spcPct val="112000"/>
              </a:lnSpc>
              <a:spcBef>
                <a:spcPts val="0"/>
              </a:spcBef>
              <a:spcAft>
                <a:spcPts val="500"/>
              </a:spcAft>
              <a:defRPr sz="2400" b="0">
                <a:solidFill>
                  <a:srgbClr val="233D33"/>
                </a:solidFill>
                <a:latin typeface="Georgia"/>
              </a:defRPr>
            </a:pPr>
            <a:r>
              <a:t>Can I use it safely?</a:t>
            </a:r>
          </a:p>
        </p:txBody>
      </p:sp>
      <p:sp>
        <p:nvSpPr>
          <p:cNvPr id="17" name="TextBox 16"/>
          <p:cNvSpPr txBox="1"/>
          <p:nvPr/>
        </p:nvSpPr>
        <p:spPr>
          <a:xfrm>
            <a:off x="8330183" y="2944368"/>
            <a:ext cx="2926080" cy="1463040"/>
          </a:xfrm>
          <a:prstGeom prst="rect">
            <a:avLst/>
          </a:prstGeom>
          <a:noFill/>
          <a:effectLst/>
        </p:spPr>
        <p:txBody>
          <a:bodyPr wrap="square" lIns="0" tIns="0" rIns="0" bIns="0" anchor="t">
            <a:spAutoFit/>
          </a:bodyPr>
          <a:lstStyle/>
          <a:p>
            <a:pPr algn="l">
              <a:lnSpc>
                <a:spcPct val="112000"/>
              </a:lnSpc>
              <a:spcBef>
                <a:spcPts val="0"/>
              </a:spcBef>
              <a:spcAft>
                <a:spcPts val="500"/>
              </a:spcAft>
              <a:defRPr sz="2100" b="0">
                <a:solidFill>
                  <a:srgbClr val="233D33"/>
                </a:solidFill>
                <a:latin typeface="Arial"/>
              </a:defRPr>
            </a:pPr>
            <a:r>
              <a:t>No learner account</a:t>
            </a:r>
          </a:p>
          <a:p>
            <a:pPr algn="l">
              <a:lnSpc>
                <a:spcPct val="112000"/>
              </a:lnSpc>
              <a:spcBef>
                <a:spcPts val="0"/>
              </a:spcBef>
              <a:spcAft>
                <a:spcPts val="500"/>
              </a:spcAft>
              <a:defRPr sz="2100" b="0">
                <a:solidFill>
                  <a:srgbClr val="233D33"/>
                </a:solidFill>
                <a:latin typeface="Arial"/>
              </a:defRPr>
            </a:pPr>
            <a:r>
              <a:t>Local practice records</a:t>
            </a:r>
          </a:p>
          <a:p>
            <a:pPr algn="l">
              <a:lnSpc>
                <a:spcPct val="112000"/>
              </a:lnSpc>
              <a:spcBef>
                <a:spcPts val="0"/>
              </a:spcBef>
              <a:spcAft>
                <a:spcPts val="500"/>
              </a:spcAft>
              <a:defRPr sz="2100" b="0">
                <a:solidFill>
                  <a:srgbClr val="233D33"/>
                </a:solidFill>
                <a:latin typeface="Arial"/>
              </a:defRPr>
            </a:pPr>
            <a:r>
              <a:t>Clear exit and reset</a:t>
            </a:r>
          </a:p>
        </p:txBody>
      </p:sp>
      <p:sp>
        <p:nvSpPr>
          <p:cNvPr id="18" name="TextBox 17"/>
          <p:cNvSpPr txBox="1"/>
          <p:nvPr/>
        </p:nvSpPr>
        <p:spPr>
          <a:xfrm>
            <a:off x="722376" y="5340096"/>
            <a:ext cx="10607040" cy="585216"/>
          </a:xfrm>
          <a:prstGeom prst="rect">
            <a:avLst/>
          </a:prstGeom>
          <a:noFill/>
          <a:effectLst/>
        </p:spPr>
        <p:txBody>
          <a:bodyPr wrap="square" lIns="0" tIns="0" rIns="0" bIns="0" anchor="t">
            <a:spAutoFit/>
          </a:bodyPr>
          <a:lstStyle/>
          <a:p>
            <a:pPr algn="l">
              <a:lnSpc>
                <a:spcPct val="112000"/>
              </a:lnSpc>
              <a:spcBef>
                <a:spcPts val="0"/>
              </a:spcBef>
              <a:spcAft>
                <a:spcPts val="500"/>
              </a:spcAft>
              <a:defRPr sz="2000" b="1">
                <a:solidFill>
                  <a:srgbClr val="215C49"/>
                </a:solidFill>
                <a:latin typeface="Arial"/>
              </a:defRPr>
            </a:pPr>
            <a:r>
              <a:t>Boundary: no diagnosis, ability ranking, cloud learner database, or claim of improved learning.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9F5"/>
        </a:solidFill>
        <a:effectLst/>
      </p:bgPr>
    </p:bg>
    <p:spTree>
      <p:nvGrpSpPr>
        <p:cNvPr id="1" name=""/>
        <p:cNvGrpSpPr/>
        <p:nvPr/>
      </p:nvGrpSpPr>
      <p:grpSpPr>
        <a:xfrm>
          <a:off x="0" y="0"/>
          <a:ext cx="0" cy="0"/>
          <a:chOff x="0" y="0"/>
          <a:chExt cx="0" cy="0"/>
        </a:xfrm>
      </p:grpSpPr>
      <p:sp>
        <p:nvSpPr>
          <p:cNvPr id="2" name="TextBox 1"/>
          <p:cNvSpPr txBox="1"/>
          <p:nvPr/>
        </p:nvSpPr>
        <p:spPr>
          <a:xfrm>
            <a:off x="576072" y="310896"/>
            <a:ext cx="7315200" cy="237744"/>
          </a:xfrm>
          <a:prstGeom prst="rect">
            <a:avLst/>
          </a:prstGeom>
          <a:noFill/>
          <a:effectLst/>
        </p:spPr>
        <p:txBody>
          <a:bodyPr wrap="square" lIns="0" tIns="0" rIns="0" bIns="0" anchor="t">
            <a:spAutoFit/>
          </a:bodyPr>
          <a:lstStyle/>
          <a:p>
            <a:pPr algn="l">
              <a:lnSpc>
                <a:spcPct val="112000"/>
              </a:lnSpc>
              <a:spcBef>
                <a:spcPts val="0"/>
              </a:spcBef>
              <a:spcAft>
                <a:spcPts val="500"/>
              </a:spcAft>
              <a:defRPr sz="1000" b="1">
                <a:solidFill>
                  <a:srgbClr val="215C49"/>
                </a:solidFill>
                <a:latin typeface="Arial"/>
              </a:defRPr>
            </a:pPr>
            <a:r>
              <a:t>SAHAYA  /  PROJECT</a:t>
            </a:r>
          </a:p>
        </p:txBody>
      </p:sp>
      <p:sp>
        <p:nvSpPr>
          <p:cNvPr id="3" name="TextBox 2"/>
          <p:cNvSpPr txBox="1"/>
          <p:nvPr/>
        </p:nvSpPr>
        <p:spPr>
          <a:xfrm>
            <a:off x="576072" y="749808"/>
            <a:ext cx="11064240" cy="576072"/>
          </a:xfrm>
          <a:prstGeom prst="rect">
            <a:avLst/>
          </a:prstGeom>
          <a:noFill/>
          <a:effectLst/>
        </p:spPr>
        <p:txBody>
          <a:bodyPr wrap="square" lIns="0" tIns="0" rIns="0" bIns="0" anchor="t">
            <a:spAutoFit/>
          </a:bodyPr>
          <a:lstStyle/>
          <a:p>
            <a:pPr algn="l">
              <a:lnSpc>
                <a:spcPct val="112000"/>
              </a:lnSpc>
              <a:spcBef>
                <a:spcPts val="0"/>
              </a:spcBef>
              <a:spcAft>
                <a:spcPts val="500"/>
              </a:spcAft>
              <a:defRPr sz="3100" b="0">
                <a:solidFill>
                  <a:srgbClr val="233D33"/>
                </a:solidFill>
                <a:latin typeface="Georgia"/>
              </a:defRPr>
            </a:pPr>
            <a:r>
              <a:t>Local context: Dakshina Kannada</a:t>
            </a:r>
          </a:p>
        </p:txBody>
      </p:sp>
      <p:sp>
        <p:nvSpPr>
          <p:cNvPr id="4" name="TextBox 3"/>
          <p:cNvSpPr txBox="1"/>
          <p:nvPr/>
        </p:nvSpPr>
        <p:spPr>
          <a:xfrm>
            <a:off x="594360" y="1371600"/>
            <a:ext cx="10972800" cy="384048"/>
          </a:xfrm>
          <a:prstGeom prst="rect">
            <a:avLst/>
          </a:prstGeom>
          <a:noFill/>
          <a:effectLst/>
        </p:spPr>
        <p:txBody>
          <a:bodyPr wrap="square" lIns="0" tIns="0" rIns="0" bIns="0" anchor="t">
            <a:spAutoFit/>
          </a:bodyPr>
          <a:lstStyle/>
          <a:p>
            <a:pPr algn="l">
              <a:lnSpc>
                <a:spcPct val="112000"/>
              </a:lnSpc>
              <a:spcBef>
                <a:spcPts val="0"/>
              </a:spcBef>
              <a:spcAft>
                <a:spcPts val="500"/>
              </a:spcAft>
              <a:defRPr sz="1600" b="0">
                <a:solidFill>
                  <a:srgbClr val="5C6B62"/>
                </a:solidFill>
                <a:latin typeface="Arial"/>
              </a:defRPr>
            </a:pPr>
            <a:r>
              <a:t>Karnataka, India • district headquarters: coastal Mangaluru</a:t>
            </a:r>
          </a:p>
        </p:txBody>
      </p:sp>
      <p:cxnSp>
        <p:nvCxnSpPr>
          <p:cNvPr id="5" name="Connector 4"/>
          <p:cNvCxnSpPr/>
          <p:nvPr/>
        </p:nvCxnSpPr>
        <p:spPr>
          <a:xfrm>
            <a:off x="585216" y="6373368"/>
            <a:ext cx="11018520" cy="0"/>
          </a:xfrm>
          <a:prstGeom prst="line">
            <a:avLst/>
          </a:prstGeom>
          <a:ln w="12700">
            <a:solidFill>
              <a:srgbClr val="DCE4DA"/>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85216" y="6419088"/>
            <a:ext cx="10972800" cy="164592"/>
          </a:xfrm>
          <a:prstGeom prst="rect">
            <a:avLst/>
          </a:prstGeom>
          <a:noFill/>
          <a:effectLst/>
        </p:spPr>
        <p:txBody>
          <a:bodyPr wrap="square" lIns="0" tIns="0" rIns="0" bIns="0" anchor="t">
            <a:spAutoFit/>
          </a:bodyPr>
          <a:lstStyle/>
          <a:p>
            <a:pPr algn="l">
              <a:lnSpc>
                <a:spcPct val="112000"/>
              </a:lnSpc>
              <a:spcBef>
                <a:spcPts val="0"/>
              </a:spcBef>
              <a:spcAft>
                <a:spcPts val="500"/>
              </a:spcAft>
              <a:defRPr sz="800" b="0">
                <a:solidFill>
                  <a:srgbClr val="5C6B62"/>
                </a:solidFill>
                <a:latin typeface="Arial"/>
              </a:defRPr>
            </a:pPr>
            <a:r>
              <a:t>Report Ch. 2 &amp; Appendix A; geoBoundaries IND ADM2; dk.nic.in/en/about-district/</a:t>
            </a:r>
          </a:p>
        </p:txBody>
      </p:sp>
      <p:sp>
        <p:nvSpPr>
          <p:cNvPr id="7" name="TextBox 6"/>
          <p:cNvSpPr txBox="1"/>
          <p:nvPr/>
        </p:nvSpPr>
        <p:spPr>
          <a:xfrm>
            <a:off x="585216" y="6638544"/>
            <a:ext cx="10607040" cy="173736"/>
          </a:xfrm>
          <a:prstGeom prst="rect">
            <a:avLst/>
          </a:prstGeom>
          <a:noFill/>
          <a:effectLst/>
        </p:spPr>
        <p:txBody>
          <a:bodyPr wrap="square" lIns="0" tIns="0" rIns="0" bIns="0" anchor="t">
            <a:spAutoFit/>
          </a:bodyPr>
          <a:lstStyle/>
          <a:p>
            <a:pPr algn="l">
              <a:lnSpc>
                <a:spcPct val="112000"/>
              </a:lnSpc>
              <a:spcBef>
                <a:spcPts val="0"/>
              </a:spcBef>
              <a:spcAft>
                <a:spcPts val="500"/>
              </a:spcAft>
              <a:defRPr sz="900" b="1">
                <a:solidFill>
                  <a:srgbClr val="215C49"/>
                </a:solidFill>
                <a:latin typeface="Arial"/>
              </a:defRPr>
            </a:pPr>
            <a:r>
              <a:t>Dr. Lokesh M R  |  Professor, ISE  |  AJIET, Mangaluru</a:t>
            </a:r>
          </a:p>
        </p:txBody>
      </p:sp>
      <p:sp>
        <p:nvSpPr>
          <p:cNvPr id="8" name="TextBox 7"/>
          <p:cNvSpPr txBox="1"/>
          <p:nvPr/>
        </p:nvSpPr>
        <p:spPr>
          <a:xfrm>
            <a:off x="11201400" y="6620256"/>
            <a:ext cx="393192" cy="210312"/>
          </a:xfrm>
          <a:prstGeom prst="rect">
            <a:avLst/>
          </a:prstGeom>
          <a:noFill/>
          <a:effectLst/>
        </p:spPr>
        <p:txBody>
          <a:bodyPr wrap="square" lIns="0" tIns="0" rIns="0" bIns="0" anchor="t">
            <a:spAutoFit/>
          </a:bodyPr>
          <a:lstStyle/>
          <a:p>
            <a:pPr algn="r">
              <a:lnSpc>
                <a:spcPct val="112000"/>
              </a:lnSpc>
              <a:spcBef>
                <a:spcPts val="0"/>
              </a:spcBef>
              <a:spcAft>
                <a:spcPts val="500"/>
              </a:spcAft>
              <a:defRPr sz="1000" b="1">
                <a:solidFill>
                  <a:srgbClr val="215C49"/>
                </a:solidFill>
                <a:latin typeface="Arial"/>
              </a:defRPr>
            </a:pPr>
            <a:r>
              <a:t>05</a:t>
            </a:r>
          </a:p>
        </p:txBody>
      </p:sp>
      <p:sp>
        <p:nvSpPr>
          <p:cNvPr id="9" name="Rounded Rectangle 8"/>
          <p:cNvSpPr/>
          <p:nvPr/>
        </p:nvSpPr>
        <p:spPr>
          <a:xfrm>
            <a:off x="612648" y="1865376"/>
            <a:ext cx="7424927" cy="4096512"/>
          </a:xfrm>
          <a:prstGeom prst="roundRect">
            <a:avLst>
              <a:gd name="adj" fmla="val 12000"/>
            </a:avLst>
          </a:prstGeom>
          <a:solidFill>
            <a:srgbClr val="FFFFFF"/>
          </a:solidFill>
          <a:ln w="10160">
            <a:solidFill>
              <a:srgbClr val="DCE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pic>
        <p:nvPicPr>
          <p:cNvPr id="10" name="Picture 9" descr="district-map.png"/>
          <p:cNvPicPr>
            <a:picLocks noChangeAspect="1"/>
          </p:cNvPicPr>
          <p:nvPr/>
        </p:nvPicPr>
        <p:blipFill>
          <a:blip r:embed="rId3"/>
          <a:stretch>
            <a:fillRect/>
          </a:stretch>
        </p:blipFill>
        <p:spPr>
          <a:xfrm>
            <a:off x="1090957" y="1965960"/>
            <a:ext cx="6459165" cy="3794760"/>
          </a:xfrm>
          <a:prstGeom prst="rect">
            <a:avLst/>
          </a:prstGeom>
          <a:effectLst/>
        </p:spPr>
      </p:pic>
      <p:sp>
        <p:nvSpPr>
          <p:cNvPr id="11" name="Rounded Rectangle 10"/>
          <p:cNvSpPr/>
          <p:nvPr/>
        </p:nvSpPr>
        <p:spPr>
          <a:xfrm>
            <a:off x="8375904" y="2002536"/>
            <a:ext cx="2542032" cy="329184"/>
          </a:xfrm>
          <a:prstGeom prst="roundRect">
            <a:avLst>
              <a:gd name="adj" fmla="val 12000"/>
            </a:avLst>
          </a:prstGeom>
          <a:solidFill>
            <a:srgbClr val="E8ED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8467344" y="2061972"/>
            <a:ext cx="2359151" cy="219456"/>
          </a:xfrm>
          <a:prstGeom prst="rect">
            <a:avLst/>
          </a:prstGeom>
          <a:noFill/>
          <a:effectLst/>
        </p:spPr>
        <p:txBody>
          <a:bodyPr wrap="square" lIns="0" tIns="0" rIns="0" bIns="0" anchor="t">
            <a:spAutoFit/>
          </a:bodyPr>
          <a:lstStyle/>
          <a:p>
            <a:pPr algn="l">
              <a:lnSpc>
                <a:spcPct val="112000"/>
              </a:lnSpc>
              <a:spcBef>
                <a:spcPts val="0"/>
              </a:spcBef>
              <a:spcAft>
                <a:spcPts val="500"/>
              </a:spcAft>
              <a:defRPr sz="1000" b="1">
                <a:solidFill>
                  <a:srgbClr val="215C49"/>
                </a:solidFill>
                <a:latin typeface="Arial"/>
              </a:defRPr>
            </a:pPr>
            <a:r>
              <a:t>2021 BOUNDARY VINTAGE</a:t>
            </a:r>
          </a:p>
        </p:txBody>
      </p:sp>
      <p:sp>
        <p:nvSpPr>
          <p:cNvPr id="13" name="TextBox 12"/>
          <p:cNvSpPr txBox="1"/>
          <p:nvPr/>
        </p:nvSpPr>
        <p:spPr>
          <a:xfrm>
            <a:off x="8366760" y="2697480"/>
            <a:ext cx="3054096" cy="1078992"/>
          </a:xfrm>
          <a:prstGeom prst="rect">
            <a:avLst/>
          </a:prstGeom>
          <a:noFill/>
          <a:effectLst/>
        </p:spPr>
        <p:txBody>
          <a:bodyPr wrap="square" lIns="0" tIns="0" rIns="0" bIns="0" anchor="t">
            <a:spAutoFit/>
          </a:bodyPr>
          <a:lstStyle/>
          <a:p>
            <a:pPr algn="l">
              <a:lnSpc>
                <a:spcPct val="112000"/>
              </a:lnSpc>
              <a:spcBef>
                <a:spcPts val="0"/>
              </a:spcBef>
              <a:spcAft>
                <a:spcPts val="500"/>
              </a:spcAft>
              <a:defRPr sz="2000" b="0">
                <a:solidFill>
                  <a:srgbClr val="233D33"/>
                </a:solidFill>
                <a:latin typeface="Georgia"/>
              </a:defRPr>
            </a:pPr>
            <a:r>
              <a:t>District context.</a:t>
            </a:r>
          </a:p>
          <a:p>
            <a:pPr algn="l">
              <a:lnSpc>
                <a:spcPct val="112000"/>
              </a:lnSpc>
              <a:spcBef>
                <a:spcPts val="0"/>
              </a:spcBef>
              <a:spcAft>
                <a:spcPts val="500"/>
              </a:spcAft>
              <a:defRPr sz="2000" b="0">
                <a:solidFill>
                  <a:srgbClr val="233D33"/>
                </a:solidFill>
                <a:latin typeface="Georgia"/>
              </a:defRPr>
            </a:pPr>
            <a:r>
              <a:t>No school directory.</a:t>
            </a:r>
          </a:p>
        </p:txBody>
      </p:sp>
      <p:sp>
        <p:nvSpPr>
          <p:cNvPr id="14" name="TextBox 13"/>
          <p:cNvSpPr txBox="1"/>
          <p:nvPr/>
        </p:nvSpPr>
        <p:spPr>
          <a:xfrm>
            <a:off x="8375904" y="4197096"/>
            <a:ext cx="2743200" cy="1316736"/>
          </a:xfrm>
          <a:prstGeom prst="rect">
            <a:avLst/>
          </a:prstGeom>
          <a:noFill/>
          <a:effectLst/>
        </p:spPr>
        <p:txBody>
          <a:bodyPr wrap="square" lIns="0" tIns="0" rIns="0" bIns="0" anchor="t">
            <a:spAutoFit/>
          </a:bodyPr>
          <a:lstStyle/>
          <a:p>
            <a:pPr algn="l">
              <a:lnSpc>
                <a:spcPct val="112000"/>
              </a:lnSpc>
              <a:spcBef>
                <a:spcPts val="0"/>
              </a:spcBef>
              <a:spcAft>
                <a:spcPts val="500"/>
              </a:spcAft>
              <a:defRPr sz="1700" b="0">
                <a:solidFill>
                  <a:srgbClr val="5C6B62"/>
                </a:solidFill>
                <a:latin typeface="Arial"/>
              </a:defRPr>
            </a:pPr>
            <a:r>
              <a:t>Mangaluru point: approximate</a:t>
            </a:r>
          </a:p>
          <a:p>
            <a:pPr algn="l">
              <a:lnSpc>
                <a:spcPct val="112000"/>
              </a:lnSpc>
              <a:spcBef>
                <a:spcPts val="0"/>
              </a:spcBef>
              <a:spcAft>
                <a:spcPts val="500"/>
              </a:spcAft>
              <a:defRPr sz="1700" b="0">
                <a:solidFill>
                  <a:srgbClr val="5C6B62"/>
                </a:solidFill>
                <a:latin typeface="Arial"/>
              </a:defRPr>
            </a:pPr>
            <a:r>
              <a:t>School locations: not collected</a:t>
            </a:r>
          </a:p>
          <a:p>
            <a:pPr algn="l">
              <a:lnSpc>
                <a:spcPct val="112000"/>
              </a:lnSpc>
              <a:spcBef>
                <a:spcPts val="0"/>
              </a:spcBef>
              <a:spcAft>
                <a:spcPts val="500"/>
              </a:spcAft>
              <a:defRPr sz="1700" b="0">
                <a:solidFill>
                  <a:srgbClr val="5C6B62"/>
                </a:solidFill>
                <a:latin typeface="Arial"/>
              </a:defRPr>
            </a:pPr>
            <a:r>
              <a:t>Boundary licence: ODbL 1.0</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9F5"/>
        </a:solidFill>
        <a:effectLst/>
      </p:bgPr>
    </p:bg>
    <p:spTree>
      <p:nvGrpSpPr>
        <p:cNvPr id="1" name=""/>
        <p:cNvGrpSpPr/>
        <p:nvPr/>
      </p:nvGrpSpPr>
      <p:grpSpPr>
        <a:xfrm>
          <a:off x="0" y="0"/>
          <a:ext cx="0" cy="0"/>
          <a:chOff x="0" y="0"/>
          <a:chExt cx="0" cy="0"/>
        </a:xfrm>
      </p:grpSpPr>
      <p:sp>
        <p:nvSpPr>
          <p:cNvPr id="2" name="TextBox 1"/>
          <p:cNvSpPr txBox="1"/>
          <p:nvPr/>
        </p:nvSpPr>
        <p:spPr>
          <a:xfrm>
            <a:off x="576072" y="310896"/>
            <a:ext cx="7315200" cy="237744"/>
          </a:xfrm>
          <a:prstGeom prst="rect">
            <a:avLst/>
          </a:prstGeom>
          <a:noFill/>
          <a:effectLst/>
        </p:spPr>
        <p:txBody>
          <a:bodyPr wrap="square" lIns="0" tIns="0" rIns="0" bIns="0" anchor="t">
            <a:spAutoFit/>
          </a:bodyPr>
          <a:lstStyle/>
          <a:p>
            <a:pPr algn="l">
              <a:lnSpc>
                <a:spcPct val="112000"/>
              </a:lnSpc>
              <a:spcBef>
                <a:spcPts val="0"/>
              </a:spcBef>
              <a:spcAft>
                <a:spcPts val="500"/>
              </a:spcAft>
              <a:defRPr sz="1000" b="1">
                <a:solidFill>
                  <a:srgbClr val="215C49"/>
                </a:solidFill>
                <a:latin typeface="Arial"/>
              </a:defRPr>
            </a:pPr>
            <a:r>
              <a:t>SAHAYA  /  LEARNER EXPERIENCE</a:t>
            </a:r>
          </a:p>
        </p:txBody>
      </p:sp>
      <p:sp>
        <p:nvSpPr>
          <p:cNvPr id="3" name="TextBox 2"/>
          <p:cNvSpPr txBox="1"/>
          <p:nvPr/>
        </p:nvSpPr>
        <p:spPr>
          <a:xfrm>
            <a:off x="576072" y="749808"/>
            <a:ext cx="11064240" cy="576072"/>
          </a:xfrm>
          <a:prstGeom prst="rect">
            <a:avLst/>
          </a:prstGeom>
          <a:noFill/>
          <a:effectLst/>
        </p:spPr>
        <p:txBody>
          <a:bodyPr wrap="square" lIns="0" tIns="0" rIns="0" bIns="0" anchor="t">
            <a:spAutoFit/>
          </a:bodyPr>
          <a:lstStyle/>
          <a:p>
            <a:pPr algn="l">
              <a:lnSpc>
                <a:spcPct val="112000"/>
              </a:lnSpc>
              <a:spcBef>
                <a:spcPts val="0"/>
              </a:spcBef>
              <a:spcAft>
                <a:spcPts val="500"/>
              </a:spcAft>
              <a:defRPr sz="3100" b="0">
                <a:solidFill>
                  <a:srgbClr val="233D33"/>
                </a:solidFill>
                <a:latin typeface="Georgia"/>
              </a:defRPr>
            </a:pPr>
            <a:r>
              <a:t>30 cards. Two kinds of content.</a:t>
            </a:r>
          </a:p>
        </p:txBody>
      </p:sp>
      <p:sp>
        <p:nvSpPr>
          <p:cNvPr id="4" name="TextBox 3"/>
          <p:cNvSpPr txBox="1"/>
          <p:nvPr/>
        </p:nvSpPr>
        <p:spPr>
          <a:xfrm>
            <a:off x="594360" y="1371600"/>
            <a:ext cx="10972800" cy="384048"/>
          </a:xfrm>
          <a:prstGeom prst="rect">
            <a:avLst/>
          </a:prstGeom>
          <a:noFill/>
          <a:effectLst/>
        </p:spPr>
        <p:txBody>
          <a:bodyPr wrap="square" lIns="0" tIns="0" rIns="0" bIns="0" anchor="t">
            <a:spAutoFit/>
          </a:bodyPr>
          <a:lstStyle/>
          <a:p>
            <a:pPr algn="l">
              <a:lnSpc>
                <a:spcPct val="112000"/>
              </a:lnSpc>
              <a:spcBef>
                <a:spcPts val="0"/>
              </a:spcBef>
              <a:spcAft>
                <a:spcPts val="500"/>
              </a:spcAft>
              <a:defRPr sz="1600" b="0">
                <a:solidFill>
                  <a:srgbClr val="5C6B62"/>
                </a:solidFill>
                <a:latin typeface="Arial"/>
              </a:defRPr>
            </a:pPr>
            <a:r>
              <a:t>Everyday practice is authored; the optional handwriting module uses real secondary data.</a:t>
            </a:r>
          </a:p>
        </p:txBody>
      </p:sp>
      <p:cxnSp>
        <p:nvCxnSpPr>
          <p:cNvPr id="5" name="Connector 4"/>
          <p:cNvCxnSpPr/>
          <p:nvPr/>
        </p:nvCxnSpPr>
        <p:spPr>
          <a:xfrm>
            <a:off x="585216" y="6373368"/>
            <a:ext cx="11018520" cy="0"/>
          </a:xfrm>
          <a:prstGeom prst="line">
            <a:avLst/>
          </a:prstGeom>
          <a:ln w="12700">
            <a:solidFill>
              <a:srgbClr val="DCE4DA"/>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85216" y="6419088"/>
            <a:ext cx="10972800" cy="164592"/>
          </a:xfrm>
          <a:prstGeom prst="rect">
            <a:avLst/>
          </a:prstGeom>
          <a:noFill/>
          <a:effectLst/>
        </p:spPr>
        <p:txBody>
          <a:bodyPr wrap="square" lIns="0" tIns="0" rIns="0" bIns="0" anchor="t">
            <a:spAutoFit/>
          </a:bodyPr>
          <a:lstStyle/>
          <a:p>
            <a:pPr algn="l">
              <a:lnSpc>
                <a:spcPct val="112000"/>
              </a:lnSpc>
              <a:spcBef>
                <a:spcPts val="0"/>
              </a:spcBef>
              <a:spcAft>
                <a:spcPts val="500"/>
              </a:spcAft>
              <a:defRPr sz="800" b="0">
                <a:solidFill>
                  <a:srgbClr val="5C6B62"/>
                </a:solidFill>
                <a:latin typeface="Arial"/>
              </a:defRPr>
            </a:pPr>
            <a:r>
              <a:t>Report Ch. 9; public/data/lessons.json; scripts/make_lessons.py</a:t>
            </a:r>
          </a:p>
        </p:txBody>
      </p:sp>
      <p:sp>
        <p:nvSpPr>
          <p:cNvPr id="7" name="TextBox 6"/>
          <p:cNvSpPr txBox="1"/>
          <p:nvPr/>
        </p:nvSpPr>
        <p:spPr>
          <a:xfrm>
            <a:off x="585216" y="6638544"/>
            <a:ext cx="10607040" cy="173736"/>
          </a:xfrm>
          <a:prstGeom prst="rect">
            <a:avLst/>
          </a:prstGeom>
          <a:noFill/>
          <a:effectLst/>
        </p:spPr>
        <p:txBody>
          <a:bodyPr wrap="square" lIns="0" tIns="0" rIns="0" bIns="0" anchor="t">
            <a:spAutoFit/>
          </a:bodyPr>
          <a:lstStyle/>
          <a:p>
            <a:pPr algn="l">
              <a:lnSpc>
                <a:spcPct val="112000"/>
              </a:lnSpc>
              <a:spcBef>
                <a:spcPts val="0"/>
              </a:spcBef>
              <a:spcAft>
                <a:spcPts val="500"/>
              </a:spcAft>
              <a:defRPr sz="900" b="1">
                <a:solidFill>
                  <a:srgbClr val="215C49"/>
                </a:solidFill>
                <a:latin typeface="Arial"/>
              </a:defRPr>
            </a:pPr>
            <a:r>
              <a:t>Dr. Lokesh M R  |  Professor, ISE  |  AJIET, Mangaluru</a:t>
            </a:r>
          </a:p>
        </p:txBody>
      </p:sp>
      <p:sp>
        <p:nvSpPr>
          <p:cNvPr id="8" name="TextBox 7"/>
          <p:cNvSpPr txBox="1"/>
          <p:nvPr/>
        </p:nvSpPr>
        <p:spPr>
          <a:xfrm>
            <a:off x="11201400" y="6620256"/>
            <a:ext cx="393192" cy="210312"/>
          </a:xfrm>
          <a:prstGeom prst="rect">
            <a:avLst/>
          </a:prstGeom>
          <a:noFill/>
          <a:effectLst/>
        </p:spPr>
        <p:txBody>
          <a:bodyPr wrap="square" lIns="0" tIns="0" rIns="0" bIns="0" anchor="t">
            <a:spAutoFit/>
          </a:bodyPr>
          <a:lstStyle/>
          <a:p>
            <a:pPr algn="r">
              <a:lnSpc>
                <a:spcPct val="112000"/>
              </a:lnSpc>
              <a:spcBef>
                <a:spcPts val="0"/>
              </a:spcBef>
              <a:spcAft>
                <a:spcPts val="500"/>
              </a:spcAft>
              <a:defRPr sz="1000" b="1">
                <a:solidFill>
                  <a:srgbClr val="215C49"/>
                </a:solidFill>
                <a:latin typeface="Arial"/>
              </a:defRPr>
            </a:pPr>
            <a:r>
              <a:t>06</a:t>
            </a:r>
          </a:p>
        </p:txBody>
      </p:sp>
      <p:sp>
        <p:nvSpPr>
          <p:cNvPr id="9" name="Rounded Rectangle 8"/>
          <p:cNvSpPr/>
          <p:nvPr/>
        </p:nvSpPr>
        <p:spPr>
          <a:xfrm>
            <a:off x="630936" y="1975104"/>
            <a:ext cx="2029968" cy="2578608"/>
          </a:xfrm>
          <a:prstGeom prst="roundRect">
            <a:avLst>
              <a:gd name="adj" fmla="val 12000"/>
            </a:avLst>
          </a:prstGeom>
          <a:solidFill>
            <a:srgbClr val="F3EB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804671" y="2185416"/>
            <a:ext cx="1709928" cy="786384"/>
          </a:xfrm>
          <a:prstGeom prst="rect">
            <a:avLst/>
          </a:prstGeom>
          <a:noFill/>
          <a:effectLst/>
        </p:spPr>
        <p:txBody>
          <a:bodyPr wrap="square" lIns="0" tIns="0" rIns="0" bIns="0" anchor="t">
            <a:spAutoFit/>
          </a:bodyPr>
          <a:lstStyle/>
          <a:p>
            <a:pPr algn="l">
              <a:lnSpc>
                <a:spcPct val="112000"/>
              </a:lnSpc>
              <a:spcBef>
                <a:spcPts val="0"/>
              </a:spcBef>
              <a:spcAft>
                <a:spcPts val="500"/>
              </a:spcAft>
              <a:defRPr sz="4900" b="0">
                <a:solidFill>
                  <a:srgbClr val="215C49"/>
                </a:solidFill>
                <a:latin typeface="Georgia"/>
              </a:defRPr>
            </a:pPr>
            <a:r>
              <a:t>5</a:t>
            </a:r>
          </a:p>
        </p:txBody>
      </p:sp>
      <p:sp>
        <p:nvSpPr>
          <p:cNvPr id="11" name="TextBox 10"/>
          <p:cNvSpPr txBox="1"/>
          <p:nvPr/>
        </p:nvSpPr>
        <p:spPr>
          <a:xfrm>
            <a:off x="804671" y="3191256"/>
            <a:ext cx="1709928" cy="914400"/>
          </a:xfrm>
          <a:prstGeom prst="rect">
            <a:avLst/>
          </a:prstGeom>
          <a:noFill/>
          <a:effectLst/>
        </p:spPr>
        <p:txBody>
          <a:bodyPr wrap="square" lIns="0" tIns="0" rIns="0" bIns="0" anchor="t">
            <a:spAutoFit/>
          </a:bodyPr>
          <a:lstStyle/>
          <a:p>
            <a:pPr algn="l">
              <a:lnSpc>
                <a:spcPct val="112000"/>
              </a:lnSpc>
              <a:spcBef>
                <a:spcPts val="0"/>
              </a:spcBef>
              <a:spcAft>
                <a:spcPts val="500"/>
              </a:spcAft>
              <a:defRPr sz="2200" b="1">
                <a:solidFill>
                  <a:srgbClr val="233D33"/>
                </a:solidFill>
                <a:latin typeface="Arial"/>
              </a:defRPr>
            </a:pPr>
            <a:r>
              <a:t>Numbers</a:t>
            </a:r>
          </a:p>
        </p:txBody>
      </p:sp>
      <p:sp>
        <p:nvSpPr>
          <p:cNvPr id="12" name="Rounded Rectangle 11"/>
          <p:cNvSpPr/>
          <p:nvPr/>
        </p:nvSpPr>
        <p:spPr>
          <a:xfrm>
            <a:off x="2880360" y="1975104"/>
            <a:ext cx="2029968" cy="2578608"/>
          </a:xfrm>
          <a:prstGeom prst="roundRect">
            <a:avLst>
              <a:gd name="adj" fmla="val 12000"/>
            </a:avLst>
          </a:prstGeom>
          <a:solidFill>
            <a:srgbClr val="E8ED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3" name="TextBox 12"/>
          <p:cNvSpPr txBox="1"/>
          <p:nvPr/>
        </p:nvSpPr>
        <p:spPr>
          <a:xfrm>
            <a:off x="3054096" y="2185416"/>
            <a:ext cx="1709928" cy="786384"/>
          </a:xfrm>
          <a:prstGeom prst="rect">
            <a:avLst/>
          </a:prstGeom>
          <a:noFill/>
          <a:effectLst/>
        </p:spPr>
        <p:txBody>
          <a:bodyPr wrap="square" lIns="0" tIns="0" rIns="0" bIns="0" anchor="t">
            <a:spAutoFit/>
          </a:bodyPr>
          <a:lstStyle/>
          <a:p>
            <a:pPr algn="l">
              <a:lnSpc>
                <a:spcPct val="112000"/>
              </a:lnSpc>
              <a:spcBef>
                <a:spcPts val="0"/>
              </a:spcBef>
              <a:spcAft>
                <a:spcPts val="500"/>
              </a:spcAft>
              <a:defRPr sz="4900" b="0">
                <a:solidFill>
                  <a:srgbClr val="215C49"/>
                </a:solidFill>
                <a:latin typeface="Georgia"/>
              </a:defRPr>
            </a:pPr>
            <a:r>
              <a:t>5</a:t>
            </a:r>
          </a:p>
        </p:txBody>
      </p:sp>
      <p:sp>
        <p:nvSpPr>
          <p:cNvPr id="14" name="TextBox 13"/>
          <p:cNvSpPr txBox="1"/>
          <p:nvPr/>
        </p:nvSpPr>
        <p:spPr>
          <a:xfrm>
            <a:off x="3054096" y="3191256"/>
            <a:ext cx="1709928" cy="914400"/>
          </a:xfrm>
          <a:prstGeom prst="rect">
            <a:avLst/>
          </a:prstGeom>
          <a:noFill/>
          <a:effectLst/>
        </p:spPr>
        <p:txBody>
          <a:bodyPr wrap="square" lIns="0" tIns="0" rIns="0" bIns="0" anchor="t">
            <a:spAutoFit/>
          </a:bodyPr>
          <a:lstStyle/>
          <a:p>
            <a:pPr algn="l">
              <a:lnSpc>
                <a:spcPct val="112000"/>
              </a:lnSpc>
              <a:spcBef>
                <a:spcPts val="0"/>
              </a:spcBef>
              <a:spcAft>
                <a:spcPts val="500"/>
              </a:spcAft>
              <a:defRPr sz="2200" b="1">
                <a:solidFill>
                  <a:srgbClr val="233D33"/>
                </a:solidFill>
                <a:latin typeface="Arial"/>
              </a:defRPr>
            </a:pPr>
            <a:r>
              <a:t>Colours</a:t>
            </a:r>
          </a:p>
        </p:txBody>
      </p:sp>
      <p:sp>
        <p:nvSpPr>
          <p:cNvPr id="15" name="Rounded Rectangle 14"/>
          <p:cNvSpPr/>
          <p:nvPr/>
        </p:nvSpPr>
        <p:spPr>
          <a:xfrm>
            <a:off x="5129783" y="1975104"/>
            <a:ext cx="2029968" cy="2578608"/>
          </a:xfrm>
          <a:prstGeom prst="roundRect">
            <a:avLst>
              <a:gd name="adj" fmla="val 12000"/>
            </a:avLst>
          </a:prstGeom>
          <a:solidFill>
            <a:srgbClr val="EBE7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5303520" y="2185416"/>
            <a:ext cx="1709928" cy="786384"/>
          </a:xfrm>
          <a:prstGeom prst="rect">
            <a:avLst/>
          </a:prstGeom>
          <a:noFill/>
          <a:effectLst/>
        </p:spPr>
        <p:txBody>
          <a:bodyPr wrap="square" lIns="0" tIns="0" rIns="0" bIns="0" anchor="t">
            <a:spAutoFit/>
          </a:bodyPr>
          <a:lstStyle/>
          <a:p>
            <a:pPr algn="l">
              <a:lnSpc>
                <a:spcPct val="112000"/>
              </a:lnSpc>
              <a:spcBef>
                <a:spcPts val="0"/>
              </a:spcBef>
              <a:spcAft>
                <a:spcPts val="500"/>
              </a:spcAft>
              <a:defRPr sz="4900" b="0">
                <a:solidFill>
                  <a:srgbClr val="215C49"/>
                </a:solidFill>
                <a:latin typeface="Georgia"/>
              </a:defRPr>
            </a:pPr>
            <a:r>
              <a:t>5</a:t>
            </a:r>
          </a:p>
        </p:txBody>
      </p:sp>
      <p:sp>
        <p:nvSpPr>
          <p:cNvPr id="17" name="TextBox 16"/>
          <p:cNvSpPr txBox="1"/>
          <p:nvPr/>
        </p:nvSpPr>
        <p:spPr>
          <a:xfrm>
            <a:off x="5303520" y="3191256"/>
            <a:ext cx="1709928" cy="914400"/>
          </a:xfrm>
          <a:prstGeom prst="rect">
            <a:avLst/>
          </a:prstGeom>
          <a:noFill/>
          <a:effectLst/>
        </p:spPr>
        <p:txBody>
          <a:bodyPr wrap="square" lIns="0" tIns="0" rIns="0" bIns="0" anchor="t">
            <a:spAutoFit/>
          </a:bodyPr>
          <a:lstStyle/>
          <a:p>
            <a:pPr algn="l">
              <a:lnSpc>
                <a:spcPct val="112000"/>
              </a:lnSpc>
              <a:spcBef>
                <a:spcPts val="0"/>
              </a:spcBef>
              <a:spcAft>
                <a:spcPts val="500"/>
              </a:spcAft>
              <a:defRPr sz="2200" b="1">
                <a:solidFill>
                  <a:srgbClr val="233D33"/>
                </a:solidFill>
                <a:latin typeface="Arial"/>
              </a:defRPr>
            </a:pPr>
            <a:r>
              <a:t>Shapes</a:t>
            </a:r>
          </a:p>
        </p:txBody>
      </p:sp>
      <p:sp>
        <p:nvSpPr>
          <p:cNvPr id="18" name="Rounded Rectangle 17"/>
          <p:cNvSpPr/>
          <p:nvPr/>
        </p:nvSpPr>
        <p:spPr>
          <a:xfrm>
            <a:off x="7379208" y="1975104"/>
            <a:ext cx="2029968" cy="2578608"/>
          </a:xfrm>
          <a:prstGeom prst="roundRect">
            <a:avLst>
              <a:gd name="adj" fmla="val 12000"/>
            </a:avLst>
          </a:prstGeom>
          <a:solidFill>
            <a:srgbClr val="E5EEF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9" name="TextBox 18"/>
          <p:cNvSpPr txBox="1"/>
          <p:nvPr/>
        </p:nvSpPr>
        <p:spPr>
          <a:xfrm>
            <a:off x="7552944" y="2185416"/>
            <a:ext cx="1709928" cy="786384"/>
          </a:xfrm>
          <a:prstGeom prst="rect">
            <a:avLst/>
          </a:prstGeom>
          <a:noFill/>
          <a:effectLst/>
        </p:spPr>
        <p:txBody>
          <a:bodyPr wrap="square" lIns="0" tIns="0" rIns="0" bIns="0" anchor="t">
            <a:spAutoFit/>
          </a:bodyPr>
          <a:lstStyle/>
          <a:p>
            <a:pPr algn="l">
              <a:lnSpc>
                <a:spcPct val="112000"/>
              </a:lnSpc>
              <a:spcBef>
                <a:spcPts val="0"/>
              </a:spcBef>
              <a:spcAft>
                <a:spcPts val="500"/>
              </a:spcAft>
              <a:defRPr sz="4900" b="0">
                <a:solidFill>
                  <a:srgbClr val="215C49"/>
                </a:solidFill>
                <a:latin typeface="Georgia"/>
              </a:defRPr>
            </a:pPr>
            <a:r>
              <a:t>5</a:t>
            </a:r>
          </a:p>
        </p:txBody>
      </p:sp>
      <p:sp>
        <p:nvSpPr>
          <p:cNvPr id="20" name="TextBox 19"/>
          <p:cNvSpPr txBox="1"/>
          <p:nvPr/>
        </p:nvSpPr>
        <p:spPr>
          <a:xfrm>
            <a:off x="7552944" y="3191256"/>
            <a:ext cx="1709928" cy="914400"/>
          </a:xfrm>
          <a:prstGeom prst="rect">
            <a:avLst/>
          </a:prstGeom>
          <a:noFill/>
          <a:effectLst/>
        </p:spPr>
        <p:txBody>
          <a:bodyPr wrap="square" lIns="0" tIns="0" rIns="0" bIns="0" anchor="t">
            <a:spAutoFit/>
          </a:bodyPr>
          <a:lstStyle/>
          <a:p>
            <a:pPr algn="l">
              <a:lnSpc>
                <a:spcPct val="112000"/>
              </a:lnSpc>
              <a:spcBef>
                <a:spcPts val="0"/>
              </a:spcBef>
              <a:spcAft>
                <a:spcPts val="500"/>
              </a:spcAft>
              <a:defRPr sz="2200" b="1">
                <a:solidFill>
                  <a:srgbClr val="233D33"/>
                </a:solidFill>
                <a:latin typeface="Arial"/>
              </a:defRPr>
            </a:pPr>
            <a:r>
              <a:t>Everyday</a:t>
            </a:r>
          </a:p>
          <a:p>
            <a:pPr algn="l">
              <a:lnSpc>
                <a:spcPct val="112000"/>
              </a:lnSpc>
              <a:spcBef>
                <a:spcPts val="0"/>
              </a:spcBef>
              <a:spcAft>
                <a:spcPts val="500"/>
              </a:spcAft>
              <a:defRPr sz="2200" b="1">
                <a:solidFill>
                  <a:srgbClr val="233D33"/>
                </a:solidFill>
                <a:latin typeface="Arial"/>
              </a:defRPr>
            </a:pPr>
            <a:r>
              <a:t>life</a:t>
            </a:r>
          </a:p>
        </p:txBody>
      </p:sp>
      <p:sp>
        <p:nvSpPr>
          <p:cNvPr id="21" name="Rounded Rectangle 20"/>
          <p:cNvSpPr/>
          <p:nvPr/>
        </p:nvSpPr>
        <p:spPr>
          <a:xfrm>
            <a:off x="9628632" y="1975104"/>
            <a:ext cx="2029968" cy="2578608"/>
          </a:xfrm>
          <a:prstGeom prst="roundRect">
            <a:avLst>
              <a:gd name="adj" fmla="val 12000"/>
            </a:avLst>
          </a:prstGeom>
          <a:solidFill>
            <a:srgbClr val="CEDDC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9802367" y="2185416"/>
            <a:ext cx="1709928" cy="786384"/>
          </a:xfrm>
          <a:prstGeom prst="rect">
            <a:avLst/>
          </a:prstGeom>
          <a:noFill/>
          <a:effectLst/>
        </p:spPr>
        <p:txBody>
          <a:bodyPr wrap="square" lIns="0" tIns="0" rIns="0" bIns="0" anchor="t">
            <a:spAutoFit/>
          </a:bodyPr>
          <a:lstStyle/>
          <a:p>
            <a:pPr algn="l">
              <a:lnSpc>
                <a:spcPct val="112000"/>
              </a:lnSpc>
              <a:spcBef>
                <a:spcPts val="0"/>
              </a:spcBef>
              <a:spcAft>
                <a:spcPts val="500"/>
              </a:spcAft>
              <a:defRPr sz="4900" b="0">
                <a:solidFill>
                  <a:srgbClr val="215C49"/>
                </a:solidFill>
                <a:latin typeface="Georgia"/>
              </a:defRPr>
            </a:pPr>
            <a:r>
              <a:t>10</a:t>
            </a:r>
          </a:p>
        </p:txBody>
      </p:sp>
      <p:sp>
        <p:nvSpPr>
          <p:cNvPr id="23" name="TextBox 22"/>
          <p:cNvSpPr txBox="1"/>
          <p:nvPr/>
        </p:nvSpPr>
        <p:spPr>
          <a:xfrm>
            <a:off x="9802367" y="3191256"/>
            <a:ext cx="1709928" cy="914400"/>
          </a:xfrm>
          <a:prstGeom prst="rect">
            <a:avLst/>
          </a:prstGeom>
          <a:noFill/>
          <a:effectLst/>
        </p:spPr>
        <p:txBody>
          <a:bodyPr wrap="square" lIns="0" tIns="0" rIns="0" bIns="0" anchor="t">
            <a:spAutoFit/>
          </a:bodyPr>
          <a:lstStyle/>
          <a:p>
            <a:pPr algn="l">
              <a:lnSpc>
                <a:spcPct val="112000"/>
              </a:lnSpc>
              <a:spcBef>
                <a:spcPts val="0"/>
              </a:spcBef>
              <a:spcAft>
                <a:spcPts val="500"/>
              </a:spcAft>
              <a:defRPr sz="2200" b="1">
                <a:solidFill>
                  <a:srgbClr val="233D33"/>
                </a:solidFill>
                <a:latin typeface="Arial"/>
              </a:defRPr>
            </a:pPr>
            <a:r>
              <a:t>Handwritten</a:t>
            </a:r>
          </a:p>
          <a:p>
            <a:pPr algn="l">
              <a:lnSpc>
                <a:spcPct val="112000"/>
              </a:lnSpc>
              <a:spcBef>
                <a:spcPts val="0"/>
              </a:spcBef>
              <a:spcAft>
                <a:spcPts val="500"/>
              </a:spcAft>
              <a:defRPr sz="2200" b="1">
                <a:solidFill>
                  <a:srgbClr val="233D33"/>
                </a:solidFill>
                <a:latin typeface="Arial"/>
              </a:defRPr>
            </a:pPr>
            <a:r>
              <a:t>digits</a:t>
            </a:r>
          </a:p>
        </p:txBody>
      </p:sp>
      <p:sp>
        <p:nvSpPr>
          <p:cNvPr id="24" name="Rounded Rectangle 23"/>
          <p:cNvSpPr/>
          <p:nvPr/>
        </p:nvSpPr>
        <p:spPr>
          <a:xfrm>
            <a:off x="640080" y="4809744"/>
            <a:ext cx="8778240" cy="658368"/>
          </a:xfrm>
          <a:prstGeom prst="roundRect">
            <a:avLst>
              <a:gd name="adj" fmla="val 12000"/>
            </a:avLst>
          </a:prstGeom>
          <a:solidFill>
            <a:srgbClr val="E8ED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5" name="TextBox 24"/>
          <p:cNvSpPr txBox="1"/>
          <p:nvPr/>
        </p:nvSpPr>
        <p:spPr>
          <a:xfrm>
            <a:off x="859536" y="5001768"/>
            <a:ext cx="8366760" cy="274320"/>
          </a:xfrm>
          <a:prstGeom prst="rect">
            <a:avLst/>
          </a:prstGeom>
          <a:noFill/>
          <a:effectLst/>
        </p:spPr>
        <p:txBody>
          <a:bodyPr wrap="square" lIns="0" tIns="0" rIns="0" bIns="0" anchor="t">
            <a:spAutoFit/>
          </a:bodyPr>
          <a:lstStyle/>
          <a:p>
            <a:pPr algn="l">
              <a:lnSpc>
                <a:spcPct val="112000"/>
              </a:lnSpc>
              <a:spcBef>
                <a:spcPts val="0"/>
              </a:spcBef>
              <a:spcAft>
                <a:spcPts val="500"/>
              </a:spcAft>
              <a:defRPr sz="2100" b="1">
                <a:solidFill>
                  <a:srgbClr val="215C49"/>
                </a:solidFill>
                <a:latin typeface="Arial"/>
              </a:defRPr>
            </a:pPr>
            <a:r>
              <a:t>20 author-written everyday cards</a:t>
            </a:r>
          </a:p>
        </p:txBody>
      </p:sp>
      <p:sp>
        <p:nvSpPr>
          <p:cNvPr id="26" name="Rounded Rectangle 25"/>
          <p:cNvSpPr/>
          <p:nvPr/>
        </p:nvSpPr>
        <p:spPr>
          <a:xfrm>
            <a:off x="9637776" y="4809744"/>
            <a:ext cx="2194560" cy="658368"/>
          </a:xfrm>
          <a:prstGeom prst="roundRect">
            <a:avLst>
              <a:gd name="adj" fmla="val 12000"/>
            </a:avLst>
          </a:prstGeom>
          <a:solidFill>
            <a:srgbClr val="CEDDC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7" name="TextBox 26"/>
          <p:cNvSpPr txBox="1"/>
          <p:nvPr/>
        </p:nvSpPr>
        <p:spPr>
          <a:xfrm>
            <a:off x="9774936" y="4983480"/>
            <a:ext cx="1901952" cy="310896"/>
          </a:xfrm>
          <a:prstGeom prst="rect">
            <a:avLst/>
          </a:prstGeom>
          <a:noFill/>
          <a:effectLst/>
        </p:spPr>
        <p:txBody>
          <a:bodyPr wrap="square" lIns="0" tIns="0" rIns="0" bIns="0" anchor="t">
            <a:spAutoFit/>
          </a:bodyPr>
          <a:lstStyle/>
          <a:p>
            <a:pPr algn="l">
              <a:lnSpc>
                <a:spcPct val="112000"/>
              </a:lnSpc>
              <a:spcBef>
                <a:spcPts val="0"/>
              </a:spcBef>
              <a:spcAft>
                <a:spcPts val="500"/>
              </a:spcAft>
              <a:defRPr sz="1900" b="1">
                <a:solidFill>
                  <a:srgbClr val="215C49"/>
                </a:solidFill>
                <a:latin typeface="Arial"/>
              </a:defRPr>
            </a:pPr>
            <a:r>
              <a:t>10 UCI cards</a:t>
            </a:r>
          </a:p>
        </p:txBody>
      </p:sp>
      <p:sp>
        <p:nvSpPr>
          <p:cNvPr id="28" name="TextBox 27"/>
          <p:cNvSpPr txBox="1"/>
          <p:nvPr/>
        </p:nvSpPr>
        <p:spPr>
          <a:xfrm>
            <a:off x="722376" y="5705856"/>
            <a:ext cx="10789920" cy="256032"/>
          </a:xfrm>
          <a:prstGeom prst="rect">
            <a:avLst/>
          </a:prstGeom>
          <a:noFill/>
          <a:effectLst/>
        </p:spPr>
        <p:txBody>
          <a:bodyPr wrap="square" lIns="0" tIns="0" rIns="0" bIns="0" anchor="t">
            <a:spAutoFit/>
          </a:bodyPr>
          <a:lstStyle/>
          <a:p>
            <a:pPr algn="l">
              <a:lnSpc>
                <a:spcPct val="112000"/>
              </a:lnSpc>
              <a:spcBef>
                <a:spcPts val="0"/>
              </a:spcBef>
              <a:spcAft>
                <a:spcPts val="500"/>
              </a:spcAft>
              <a:defRPr sz="1600" b="0">
                <a:solidFill>
                  <a:srgbClr val="5C6B62"/>
                </a:solidFill>
                <a:latin typeface="Arial"/>
              </a:defRPr>
            </a:pPr>
            <a:r>
              <a:t>All cards have English and Kannada prompts. Kannada and teaching suitability require educator review.</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9F5"/>
        </a:solidFill>
        <a:effectLst/>
      </p:bgPr>
    </p:bg>
    <p:spTree>
      <p:nvGrpSpPr>
        <p:cNvPr id="1" name=""/>
        <p:cNvGrpSpPr/>
        <p:nvPr/>
      </p:nvGrpSpPr>
      <p:grpSpPr>
        <a:xfrm>
          <a:off x="0" y="0"/>
          <a:ext cx="0" cy="0"/>
          <a:chOff x="0" y="0"/>
          <a:chExt cx="0" cy="0"/>
        </a:xfrm>
      </p:grpSpPr>
      <p:sp>
        <p:nvSpPr>
          <p:cNvPr id="2" name="TextBox 1"/>
          <p:cNvSpPr txBox="1"/>
          <p:nvPr/>
        </p:nvSpPr>
        <p:spPr>
          <a:xfrm>
            <a:off x="576072" y="310896"/>
            <a:ext cx="7315200" cy="237744"/>
          </a:xfrm>
          <a:prstGeom prst="rect">
            <a:avLst/>
          </a:prstGeom>
          <a:noFill/>
          <a:effectLst/>
        </p:spPr>
        <p:txBody>
          <a:bodyPr wrap="square" lIns="0" tIns="0" rIns="0" bIns="0" anchor="t">
            <a:spAutoFit/>
          </a:bodyPr>
          <a:lstStyle/>
          <a:p>
            <a:pPr algn="l">
              <a:lnSpc>
                <a:spcPct val="112000"/>
              </a:lnSpc>
              <a:spcBef>
                <a:spcPts val="0"/>
              </a:spcBef>
              <a:spcAft>
                <a:spcPts val="500"/>
              </a:spcAft>
              <a:defRPr sz="1000" b="1">
                <a:solidFill>
                  <a:srgbClr val="215C49"/>
                </a:solidFill>
                <a:latin typeface="Arial"/>
              </a:defRPr>
            </a:pPr>
            <a:r>
              <a:t>SAHAYA  /  LEARNER EXPERIENCE</a:t>
            </a:r>
          </a:p>
        </p:txBody>
      </p:sp>
      <p:sp>
        <p:nvSpPr>
          <p:cNvPr id="3" name="TextBox 2"/>
          <p:cNvSpPr txBox="1"/>
          <p:nvPr/>
        </p:nvSpPr>
        <p:spPr>
          <a:xfrm>
            <a:off x="576072" y="749808"/>
            <a:ext cx="11064240" cy="576072"/>
          </a:xfrm>
          <a:prstGeom prst="rect">
            <a:avLst/>
          </a:prstGeom>
          <a:noFill/>
          <a:effectLst/>
        </p:spPr>
        <p:txBody>
          <a:bodyPr wrap="square" lIns="0" tIns="0" rIns="0" bIns="0" anchor="t">
            <a:spAutoFit/>
          </a:bodyPr>
          <a:lstStyle/>
          <a:p>
            <a:pPr algn="l">
              <a:lnSpc>
                <a:spcPct val="112000"/>
              </a:lnSpc>
              <a:spcBef>
                <a:spcPts val="0"/>
              </a:spcBef>
              <a:spcAft>
                <a:spcPts val="500"/>
              </a:spcAft>
              <a:defRPr sz="3100" b="0">
                <a:solidFill>
                  <a:srgbClr val="233D33"/>
                </a:solidFill>
                <a:latin typeface="Georgia"/>
              </a:defRPr>
            </a:pPr>
            <a:r>
              <a:t>A calm starting point</a:t>
            </a:r>
          </a:p>
        </p:txBody>
      </p:sp>
      <p:sp>
        <p:nvSpPr>
          <p:cNvPr id="4" name="TextBox 3"/>
          <p:cNvSpPr txBox="1"/>
          <p:nvPr/>
        </p:nvSpPr>
        <p:spPr>
          <a:xfrm>
            <a:off x="594360" y="1371600"/>
            <a:ext cx="10972800" cy="384048"/>
          </a:xfrm>
          <a:prstGeom prst="rect">
            <a:avLst/>
          </a:prstGeom>
          <a:noFill/>
          <a:effectLst/>
        </p:spPr>
        <p:txBody>
          <a:bodyPr wrap="square" lIns="0" tIns="0" rIns="0" bIns="0" anchor="t">
            <a:spAutoFit/>
          </a:bodyPr>
          <a:lstStyle/>
          <a:p>
            <a:pPr algn="l">
              <a:lnSpc>
                <a:spcPct val="112000"/>
              </a:lnSpc>
              <a:spcBef>
                <a:spcPts val="0"/>
              </a:spcBef>
              <a:spcAft>
                <a:spcPts val="500"/>
              </a:spcAft>
              <a:defRPr sz="1600" b="0">
                <a:solidFill>
                  <a:srgbClr val="5C6B62"/>
                </a:solidFill>
                <a:latin typeface="Arial"/>
              </a:defRPr>
            </a:pPr>
            <a:r>
              <a:t>Actual application screen from the delivered project—not a classroom photograph.</a:t>
            </a:r>
          </a:p>
        </p:txBody>
      </p:sp>
      <p:cxnSp>
        <p:nvCxnSpPr>
          <p:cNvPr id="5" name="Connector 4"/>
          <p:cNvCxnSpPr/>
          <p:nvPr/>
        </p:nvCxnSpPr>
        <p:spPr>
          <a:xfrm>
            <a:off x="585216" y="6373368"/>
            <a:ext cx="11018520" cy="0"/>
          </a:xfrm>
          <a:prstGeom prst="line">
            <a:avLst/>
          </a:prstGeom>
          <a:ln w="12700">
            <a:solidFill>
              <a:srgbClr val="DCE4DA"/>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85216" y="6419088"/>
            <a:ext cx="10972800" cy="164592"/>
          </a:xfrm>
          <a:prstGeom prst="rect">
            <a:avLst/>
          </a:prstGeom>
          <a:noFill/>
          <a:effectLst/>
        </p:spPr>
        <p:txBody>
          <a:bodyPr wrap="square" lIns="0" tIns="0" rIns="0" bIns="0" anchor="t">
            <a:spAutoFit/>
          </a:bodyPr>
          <a:lstStyle/>
          <a:p>
            <a:pPr algn="l">
              <a:lnSpc>
                <a:spcPct val="112000"/>
              </a:lnSpc>
              <a:spcBef>
                <a:spcPts val="0"/>
              </a:spcBef>
              <a:spcAft>
                <a:spcPts val="500"/>
              </a:spcAft>
              <a:defRPr sz="800" b="0">
                <a:solidFill>
                  <a:srgbClr val="5C6B62"/>
                </a:solidFill>
                <a:latin typeface="Arial"/>
              </a:defRPr>
            </a:pPr>
            <a:r>
              <a:t>Package evidence/app-desktop.png; report Part A and Ch. 8</a:t>
            </a:r>
          </a:p>
        </p:txBody>
      </p:sp>
      <p:sp>
        <p:nvSpPr>
          <p:cNvPr id="7" name="TextBox 6"/>
          <p:cNvSpPr txBox="1"/>
          <p:nvPr/>
        </p:nvSpPr>
        <p:spPr>
          <a:xfrm>
            <a:off x="585216" y="6638544"/>
            <a:ext cx="10607040" cy="173736"/>
          </a:xfrm>
          <a:prstGeom prst="rect">
            <a:avLst/>
          </a:prstGeom>
          <a:noFill/>
          <a:effectLst/>
        </p:spPr>
        <p:txBody>
          <a:bodyPr wrap="square" lIns="0" tIns="0" rIns="0" bIns="0" anchor="t">
            <a:spAutoFit/>
          </a:bodyPr>
          <a:lstStyle/>
          <a:p>
            <a:pPr algn="l">
              <a:lnSpc>
                <a:spcPct val="112000"/>
              </a:lnSpc>
              <a:spcBef>
                <a:spcPts val="0"/>
              </a:spcBef>
              <a:spcAft>
                <a:spcPts val="500"/>
              </a:spcAft>
              <a:defRPr sz="900" b="1">
                <a:solidFill>
                  <a:srgbClr val="215C49"/>
                </a:solidFill>
                <a:latin typeface="Arial"/>
              </a:defRPr>
            </a:pPr>
            <a:r>
              <a:t>Dr. Lokesh M R  |  Professor, ISE  |  AJIET, Mangaluru</a:t>
            </a:r>
          </a:p>
        </p:txBody>
      </p:sp>
      <p:sp>
        <p:nvSpPr>
          <p:cNvPr id="8" name="TextBox 7"/>
          <p:cNvSpPr txBox="1"/>
          <p:nvPr/>
        </p:nvSpPr>
        <p:spPr>
          <a:xfrm>
            <a:off x="11201400" y="6620256"/>
            <a:ext cx="393192" cy="210312"/>
          </a:xfrm>
          <a:prstGeom prst="rect">
            <a:avLst/>
          </a:prstGeom>
          <a:noFill/>
          <a:effectLst/>
        </p:spPr>
        <p:txBody>
          <a:bodyPr wrap="square" lIns="0" tIns="0" rIns="0" bIns="0" anchor="t">
            <a:spAutoFit/>
          </a:bodyPr>
          <a:lstStyle/>
          <a:p>
            <a:pPr algn="r">
              <a:lnSpc>
                <a:spcPct val="112000"/>
              </a:lnSpc>
              <a:spcBef>
                <a:spcPts val="0"/>
              </a:spcBef>
              <a:spcAft>
                <a:spcPts val="500"/>
              </a:spcAft>
              <a:defRPr sz="1000" b="1">
                <a:solidFill>
                  <a:srgbClr val="215C49"/>
                </a:solidFill>
                <a:latin typeface="Arial"/>
              </a:defRPr>
            </a:pPr>
            <a:r>
              <a:t>07</a:t>
            </a:r>
          </a:p>
        </p:txBody>
      </p:sp>
      <p:sp>
        <p:nvSpPr>
          <p:cNvPr id="9" name="Rounded Rectangle 8"/>
          <p:cNvSpPr/>
          <p:nvPr/>
        </p:nvSpPr>
        <p:spPr>
          <a:xfrm>
            <a:off x="594360" y="1874519"/>
            <a:ext cx="8439912" cy="4114800"/>
          </a:xfrm>
          <a:prstGeom prst="roundRect">
            <a:avLst>
              <a:gd name="adj" fmla="val 12000"/>
            </a:avLst>
          </a:prstGeom>
          <a:solidFill>
            <a:srgbClr val="FFFFFF"/>
          </a:solidFill>
          <a:ln w="10160">
            <a:solidFill>
              <a:srgbClr val="DCE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pic>
        <p:nvPicPr>
          <p:cNvPr id="10" name="Picture 9" descr="app-desktop-crop.png"/>
          <p:cNvPicPr>
            <a:picLocks noChangeAspect="1"/>
          </p:cNvPicPr>
          <p:nvPr/>
        </p:nvPicPr>
        <p:blipFill>
          <a:blip r:embed="rId3"/>
          <a:stretch>
            <a:fillRect/>
          </a:stretch>
        </p:blipFill>
        <p:spPr>
          <a:xfrm>
            <a:off x="1513614" y="1984248"/>
            <a:ext cx="6610546" cy="3886200"/>
          </a:xfrm>
          <a:prstGeom prst="rect">
            <a:avLst/>
          </a:prstGeom>
          <a:effectLst/>
        </p:spPr>
      </p:pic>
      <p:sp>
        <p:nvSpPr>
          <p:cNvPr id="11" name="Oval 10"/>
          <p:cNvSpPr/>
          <p:nvPr/>
        </p:nvSpPr>
        <p:spPr>
          <a:xfrm>
            <a:off x="9317736" y="2194560"/>
            <a:ext cx="320040" cy="320040"/>
          </a:xfrm>
          <a:prstGeom prst="ellipse">
            <a:avLst/>
          </a:prstGeom>
          <a:solidFill>
            <a:srgbClr val="215C4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9317736" y="2234793"/>
            <a:ext cx="320040" cy="228600"/>
          </a:xfrm>
          <a:prstGeom prst="rect">
            <a:avLst/>
          </a:prstGeom>
          <a:noFill/>
          <a:effectLst/>
        </p:spPr>
        <p:txBody>
          <a:bodyPr wrap="square" lIns="0" tIns="0" rIns="0" bIns="0" anchor="t">
            <a:spAutoFit/>
          </a:bodyPr>
          <a:lstStyle/>
          <a:p>
            <a:pPr algn="ctr">
              <a:lnSpc>
                <a:spcPct val="112000"/>
              </a:lnSpc>
              <a:spcBef>
                <a:spcPts val="0"/>
              </a:spcBef>
              <a:spcAft>
                <a:spcPts val="500"/>
              </a:spcAft>
              <a:defRPr sz="1200" b="1">
                <a:solidFill>
                  <a:srgbClr val="FFFFFF"/>
                </a:solidFill>
                <a:latin typeface="Arial"/>
              </a:defRPr>
            </a:pPr>
            <a:r>
              <a:t>1</a:t>
            </a:r>
          </a:p>
        </p:txBody>
      </p:sp>
      <p:sp>
        <p:nvSpPr>
          <p:cNvPr id="13" name="TextBox 12"/>
          <p:cNvSpPr txBox="1"/>
          <p:nvPr/>
        </p:nvSpPr>
        <p:spPr>
          <a:xfrm>
            <a:off x="9784080" y="2176272"/>
            <a:ext cx="1837943" cy="320040"/>
          </a:xfrm>
          <a:prstGeom prst="rect">
            <a:avLst/>
          </a:prstGeom>
          <a:noFill/>
          <a:effectLst/>
        </p:spPr>
        <p:txBody>
          <a:bodyPr wrap="square" lIns="0" tIns="0" rIns="0" bIns="0" anchor="t">
            <a:spAutoFit/>
          </a:bodyPr>
          <a:lstStyle/>
          <a:p>
            <a:pPr algn="l">
              <a:lnSpc>
                <a:spcPct val="112000"/>
              </a:lnSpc>
              <a:spcBef>
                <a:spcPts val="0"/>
              </a:spcBef>
              <a:spcAft>
                <a:spcPts val="500"/>
              </a:spcAft>
              <a:defRPr sz="1900" b="1">
                <a:solidFill>
                  <a:srgbClr val="233D33"/>
                </a:solidFill>
                <a:latin typeface="Arial"/>
              </a:defRPr>
            </a:pPr>
            <a:r>
              <a:t>Choose</a:t>
            </a:r>
          </a:p>
        </p:txBody>
      </p:sp>
      <p:sp>
        <p:nvSpPr>
          <p:cNvPr id="14" name="TextBox 13"/>
          <p:cNvSpPr txBox="1"/>
          <p:nvPr/>
        </p:nvSpPr>
        <p:spPr>
          <a:xfrm>
            <a:off x="9784080" y="2606039"/>
            <a:ext cx="1837943" cy="768096"/>
          </a:xfrm>
          <a:prstGeom prst="rect">
            <a:avLst/>
          </a:prstGeom>
          <a:noFill/>
          <a:effectLst/>
        </p:spPr>
        <p:txBody>
          <a:bodyPr wrap="square" lIns="0" tIns="0" rIns="0" bIns="0" anchor="t">
            <a:spAutoFit/>
          </a:bodyPr>
          <a:lstStyle/>
          <a:p>
            <a:pPr algn="l">
              <a:lnSpc>
                <a:spcPct val="112000"/>
              </a:lnSpc>
              <a:spcBef>
                <a:spcPts val="0"/>
              </a:spcBef>
              <a:spcAft>
                <a:spcPts val="500"/>
              </a:spcAft>
              <a:defRPr sz="1600" b="0">
                <a:solidFill>
                  <a:srgbClr val="5C6B62"/>
                </a:solidFill>
                <a:latin typeface="Arial"/>
              </a:defRPr>
            </a:pPr>
            <a:r>
              <a:t>Four everyday activities.</a:t>
            </a:r>
          </a:p>
        </p:txBody>
      </p:sp>
      <p:sp>
        <p:nvSpPr>
          <p:cNvPr id="15" name="Oval 14"/>
          <p:cNvSpPr/>
          <p:nvPr/>
        </p:nvSpPr>
        <p:spPr>
          <a:xfrm>
            <a:off x="9317736" y="3429000"/>
            <a:ext cx="320040" cy="320040"/>
          </a:xfrm>
          <a:prstGeom prst="ellipse">
            <a:avLst/>
          </a:prstGeom>
          <a:solidFill>
            <a:srgbClr val="215C4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9317736" y="3469233"/>
            <a:ext cx="320040" cy="228600"/>
          </a:xfrm>
          <a:prstGeom prst="rect">
            <a:avLst/>
          </a:prstGeom>
          <a:noFill/>
          <a:effectLst/>
        </p:spPr>
        <p:txBody>
          <a:bodyPr wrap="square" lIns="0" tIns="0" rIns="0" bIns="0" anchor="t">
            <a:spAutoFit/>
          </a:bodyPr>
          <a:lstStyle/>
          <a:p>
            <a:pPr algn="ctr">
              <a:lnSpc>
                <a:spcPct val="112000"/>
              </a:lnSpc>
              <a:spcBef>
                <a:spcPts val="0"/>
              </a:spcBef>
              <a:spcAft>
                <a:spcPts val="500"/>
              </a:spcAft>
              <a:defRPr sz="1200" b="1">
                <a:solidFill>
                  <a:srgbClr val="FFFFFF"/>
                </a:solidFill>
                <a:latin typeface="Arial"/>
              </a:defRPr>
            </a:pPr>
            <a:r>
              <a:t>2</a:t>
            </a:r>
          </a:p>
        </p:txBody>
      </p:sp>
      <p:sp>
        <p:nvSpPr>
          <p:cNvPr id="17" name="TextBox 16"/>
          <p:cNvSpPr txBox="1"/>
          <p:nvPr/>
        </p:nvSpPr>
        <p:spPr>
          <a:xfrm>
            <a:off x="9784080" y="3410712"/>
            <a:ext cx="1837943" cy="320040"/>
          </a:xfrm>
          <a:prstGeom prst="rect">
            <a:avLst/>
          </a:prstGeom>
          <a:noFill/>
          <a:effectLst/>
        </p:spPr>
        <p:txBody>
          <a:bodyPr wrap="square" lIns="0" tIns="0" rIns="0" bIns="0" anchor="t">
            <a:spAutoFit/>
          </a:bodyPr>
          <a:lstStyle/>
          <a:p>
            <a:pPr algn="l">
              <a:lnSpc>
                <a:spcPct val="112000"/>
              </a:lnSpc>
              <a:spcBef>
                <a:spcPts val="0"/>
              </a:spcBef>
              <a:spcAft>
                <a:spcPts val="500"/>
              </a:spcAft>
              <a:defRPr sz="1900" b="1">
                <a:solidFill>
                  <a:srgbClr val="233D33"/>
                </a:solidFill>
                <a:latin typeface="Arial"/>
              </a:defRPr>
            </a:pPr>
            <a:r>
              <a:t>Try</a:t>
            </a:r>
          </a:p>
        </p:txBody>
      </p:sp>
      <p:sp>
        <p:nvSpPr>
          <p:cNvPr id="18" name="TextBox 17"/>
          <p:cNvSpPr txBox="1"/>
          <p:nvPr/>
        </p:nvSpPr>
        <p:spPr>
          <a:xfrm>
            <a:off x="9784080" y="3840480"/>
            <a:ext cx="1837943" cy="768096"/>
          </a:xfrm>
          <a:prstGeom prst="rect">
            <a:avLst/>
          </a:prstGeom>
          <a:noFill/>
          <a:effectLst/>
        </p:spPr>
        <p:txBody>
          <a:bodyPr wrap="square" lIns="0" tIns="0" rIns="0" bIns="0" anchor="t">
            <a:spAutoFit/>
          </a:bodyPr>
          <a:lstStyle/>
          <a:p>
            <a:pPr algn="l">
              <a:lnSpc>
                <a:spcPct val="112000"/>
              </a:lnSpc>
              <a:spcBef>
                <a:spcPts val="0"/>
              </a:spcBef>
              <a:spcAft>
                <a:spcPts val="500"/>
              </a:spcAft>
              <a:defRPr sz="1600" b="0">
                <a:solidFill>
                  <a:srgbClr val="5C6B62"/>
                </a:solidFill>
                <a:latin typeface="Arial"/>
              </a:defRPr>
            </a:pPr>
            <a:r>
              <a:t>No time pressure.</a:t>
            </a:r>
          </a:p>
        </p:txBody>
      </p:sp>
      <p:sp>
        <p:nvSpPr>
          <p:cNvPr id="19" name="Oval 18"/>
          <p:cNvSpPr/>
          <p:nvPr/>
        </p:nvSpPr>
        <p:spPr>
          <a:xfrm>
            <a:off x="9317736" y="4672583"/>
            <a:ext cx="320040" cy="320040"/>
          </a:xfrm>
          <a:prstGeom prst="ellipse">
            <a:avLst/>
          </a:prstGeom>
          <a:solidFill>
            <a:srgbClr val="215C4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9317736" y="4712817"/>
            <a:ext cx="320040" cy="228600"/>
          </a:xfrm>
          <a:prstGeom prst="rect">
            <a:avLst/>
          </a:prstGeom>
          <a:noFill/>
          <a:effectLst/>
        </p:spPr>
        <p:txBody>
          <a:bodyPr wrap="square" lIns="0" tIns="0" rIns="0" bIns="0" anchor="t">
            <a:spAutoFit/>
          </a:bodyPr>
          <a:lstStyle/>
          <a:p>
            <a:pPr algn="ctr">
              <a:lnSpc>
                <a:spcPct val="112000"/>
              </a:lnSpc>
              <a:spcBef>
                <a:spcPts val="0"/>
              </a:spcBef>
              <a:spcAft>
                <a:spcPts val="500"/>
              </a:spcAft>
              <a:defRPr sz="1200" b="1">
                <a:solidFill>
                  <a:srgbClr val="FFFFFF"/>
                </a:solidFill>
                <a:latin typeface="Arial"/>
              </a:defRPr>
            </a:pPr>
            <a:r>
              <a:t>3</a:t>
            </a:r>
          </a:p>
        </p:txBody>
      </p:sp>
      <p:sp>
        <p:nvSpPr>
          <p:cNvPr id="21" name="TextBox 20"/>
          <p:cNvSpPr txBox="1"/>
          <p:nvPr/>
        </p:nvSpPr>
        <p:spPr>
          <a:xfrm>
            <a:off x="9784080" y="4654296"/>
            <a:ext cx="1837943" cy="320040"/>
          </a:xfrm>
          <a:prstGeom prst="rect">
            <a:avLst/>
          </a:prstGeom>
          <a:noFill/>
          <a:effectLst/>
        </p:spPr>
        <p:txBody>
          <a:bodyPr wrap="square" lIns="0" tIns="0" rIns="0" bIns="0" anchor="t">
            <a:spAutoFit/>
          </a:bodyPr>
          <a:lstStyle/>
          <a:p>
            <a:pPr algn="l">
              <a:lnSpc>
                <a:spcPct val="112000"/>
              </a:lnSpc>
              <a:spcBef>
                <a:spcPts val="0"/>
              </a:spcBef>
              <a:spcAft>
                <a:spcPts val="500"/>
              </a:spcAft>
              <a:defRPr sz="1900" b="1">
                <a:solidFill>
                  <a:srgbClr val="233D33"/>
                </a:solidFill>
                <a:latin typeface="Arial"/>
              </a:defRPr>
            </a:pPr>
            <a:r>
              <a:t>Continue</a:t>
            </a:r>
          </a:p>
        </p:txBody>
      </p:sp>
      <p:sp>
        <p:nvSpPr>
          <p:cNvPr id="22" name="TextBox 21"/>
          <p:cNvSpPr txBox="1"/>
          <p:nvPr/>
        </p:nvSpPr>
        <p:spPr>
          <a:xfrm>
            <a:off x="9784080" y="5084064"/>
            <a:ext cx="1837943" cy="768096"/>
          </a:xfrm>
          <a:prstGeom prst="rect">
            <a:avLst/>
          </a:prstGeom>
          <a:noFill/>
          <a:effectLst/>
        </p:spPr>
        <p:txBody>
          <a:bodyPr wrap="square" lIns="0" tIns="0" rIns="0" bIns="0" anchor="t">
            <a:spAutoFit/>
          </a:bodyPr>
          <a:lstStyle/>
          <a:p>
            <a:pPr algn="l">
              <a:lnSpc>
                <a:spcPct val="112000"/>
              </a:lnSpc>
              <a:spcBef>
                <a:spcPts val="0"/>
              </a:spcBef>
              <a:spcAft>
                <a:spcPts val="500"/>
              </a:spcAft>
              <a:defRPr sz="1600" b="0">
                <a:solidFill>
                  <a:srgbClr val="5C6B62"/>
                </a:solidFill>
                <a:latin typeface="Arial"/>
              </a:defRPr>
            </a:pPr>
            <a:r>
              <a:t>Short, repeatable practice.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9F5"/>
        </a:solidFill>
        <a:effectLst/>
      </p:bgPr>
    </p:bg>
    <p:spTree>
      <p:nvGrpSpPr>
        <p:cNvPr id="1" name=""/>
        <p:cNvGrpSpPr/>
        <p:nvPr/>
      </p:nvGrpSpPr>
      <p:grpSpPr>
        <a:xfrm>
          <a:off x="0" y="0"/>
          <a:ext cx="0" cy="0"/>
          <a:chOff x="0" y="0"/>
          <a:chExt cx="0" cy="0"/>
        </a:xfrm>
      </p:grpSpPr>
      <p:sp>
        <p:nvSpPr>
          <p:cNvPr id="2" name="TextBox 1"/>
          <p:cNvSpPr txBox="1"/>
          <p:nvPr/>
        </p:nvSpPr>
        <p:spPr>
          <a:xfrm>
            <a:off x="576072" y="310896"/>
            <a:ext cx="7315200" cy="237744"/>
          </a:xfrm>
          <a:prstGeom prst="rect">
            <a:avLst/>
          </a:prstGeom>
          <a:noFill/>
          <a:effectLst/>
        </p:spPr>
        <p:txBody>
          <a:bodyPr wrap="square" lIns="0" tIns="0" rIns="0" bIns="0" anchor="t">
            <a:spAutoFit/>
          </a:bodyPr>
          <a:lstStyle/>
          <a:p>
            <a:pPr algn="l">
              <a:lnSpc>
                <a:spcPct val="112000"/>
              </a:lnSpc>
              <a:spcBef>
                <a:spcPts val="0"/>
              </a:spcBef>
              <a:spcAft>
                <a:spcPts val="500"/>
              </a:spcAft>
              <a:defRPr sz="1000" b="1">
                <a:solidFill>
                  <a:srgbClr val="215C49"/>
                </a:solidFill>
                <a:latin typeface="Arial"/>
              </a:defRPr>
            </a:pPr>
            <a:r>
              <a:t>SAHAYA  /  LEARNER EXPERIENCE</a:t>
            </a:r>
          </a:p>
        </p:txBody>
      </p:sp>
      <p:sp>
        <p:nvSpPr>
          <p:cNvPr id="3" name="TextBox 2"/>
          <p:cNvSpPr txBox="1"/>
          <p:nvPr/>
        </p:nvSpPr>
        <p:spPr>
          <a:xfrm>
            <a:off x="576072" y="749808"/>
            <a:ext cx="11064240" cy="576072"/>
          </a:xfrm>
          <a:prstGeom prst="rect">
            <a:avLst/>
          </a:prstGeom>
          <a:noFill/>
          <a:effectLst/>
        </p:spPr>
        <p:txBody>
          <a:bodyPr wrap="square" lIns="0" tIns="0" rIns="0" bIns="0" anchor="t">
            <a:spAutoFit/>
          </a:bodyPr>
          <a:lstStyle/>
          <a:p>
            <a:pPr algn="l">
              <a:lnSpc>
                <a:spcPct val="112000"/>
              </a:lnSpc>
              <a:spcBef>
                <a:spcPts val="0"/>
              </a:spcBef>
              <a:spcAft>
                <a:spcPts val="500"/>
              </a:spcAft>
              <a:defRPr sz="3100" b="0">
                <a:solidFill>
                  <a:srgbClr val="233D33"/>
                </a:solidFill>
                <a:latin typeface="Georgia"/>
              </a:defRPr>
            </a:pPr>
            <a:r>
              <a:t>Same activity. A choice of language.</a:t>
            </a:r>
          </a:p>
        </p:txBody>
      </p:sp>
      <p:sp>
        <p:nvSpPr>
          <p:cNvPr id="4" name="TextBox 3"/>
          <p:cNvSpPr txBox="1"/>
          <p:nvPr/>
        </p:nvSpPr>
        <p:spPr>
          <a:xfrm>
            <a:off x="594360" y="1371600"/>
            <a:ext cx="10972800" cy="384048"/>
          </a:xfrm>
          <a:prstGeom prst="rect">
            <a:avLst/>
          </a:prstGeom>
          <a:noFill/>
          <a:effectLst/>
        </p:spPr>
        <p:txBody>
          <a:bodyPr wrap="square" lIns="0" tIns="0" rIns="0" bIns="0" anchor="t">
            <a:spAutoFit/>
          </a:bodyPr>
          <a:lstStyle/>
          <a:p>
            <a:pPr algn="l">
              <a:lnSpc>
                <a:spcPct val="112000"/>
              </a:lnSpc>
              <a:spcBef>
                <a:spcPts val="0"/>
              </a:spcBef>
              <a:spcAft>
                <a:spcPts val="500"/>
              </a:spcAft>
              <a:defRPr sz="1600" b="0">
                <a:solidFill>
                  <a:srgbClr val="5C6B62"/>
                </a:solidFill>
                <a:latin typeface="Arial"/>
              </a:defRPr>
            </a:pPr>
            <a:r>
              <a:t>Learner-facing interface and prompts support English and Kannada.</a:t>
            </a:r>
          </a:p>
        </p:txBody>
      </p:sp>
      <p:cxnSp>
        <p:nvCxnSpPr>
          <p:cNvPr id="5" name="Connector 4"/>
          <p:cNvCxnSpPr/>
          <p:nvPr/>
        </p:nvCxnSpPr>
        <p:spPr>
          <a:xfrm>
            <a:off x="585216" y="6373368"/>
            <a:ext cx="11018520" cy="0"/>
          </a:xfrm>
          <a:prstGeom prst="line">
            <a:avLst/>
          </a:prstGeom>
          <a:ln w="12700">
            <a:solidFill>
              <a:srgbClr val="DCE4DA"/>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85216" y="6419088"/>
            <a:ext cx="10972800" cy="164592"/>
          </a:xfrm>
          <a:prstGeom prst="rect">
            <a:avLst/>
          </a:prstGeom>
          <a:noFill/>
          <a:effectLst/>
        </p:spPr>
        <p:txBody>
          <a:bodyPr wrap="square" lIns="0" tIns="0" rIns="0" bIns="0" anchor="t">
            <a:spAutoFit/>
          </a:bodyPr>
          <a:lstStyle/>
          <a:p>
            <a:pPr algn="l">
              <a:lnSpc>
                <a:spcPct val="112000"/>
              </a:lnSpc>
              <a:spcBef>
                <a:spcPts val="0"/>
              </a:spcBef>
              <a:spcAft>
                <a:spcPts val="500"/>
              </a:spcAft>
              <a:defRPr sz="800" b="0">
                <a:solidFill>
                  <a:srgbClr val="5C6B62"/>
                </a:solidFill>
                <a:latin typeface="Arial"/>
              </a:defRPr>
            </a:pPr>
            <a:r>
              <a:t>Package evidence/app-kannada.png; docs/REQUIREMENTS.md, R1</a:t>
            </a:r>
          </a:p>
        </p:txBody>
      </p:sp>
      <p:sp>
        <p:nvSpPr>
          <p:cNvPr id="7" name="TextBox 6"/>
          <p:cNvSpPr txBox="1"/>
          <p:nvPr/>
        </p:nvSpPr>
        <p:spPr>
          <a:xfrm>
            <a:off x="585216" y="6638544"/>
            <a:ext cx="10607040" cy="173736"/>
          </a:xfrm>
          <a:prstGeom prst="rect">
            <a:avLst/>
          </a:prstGeom>
          <a:noFill/>
          <a:effectLst/>
        </p:spPr>
        <p:txBody>
          <a:bodyPr wrap="square" lIns="0" tIns="0" rIns="0" bIns="0" anchor="t">
            <a:spAutoFit/>
          </a:bodyPr>
          <a:lstStyle/>
          <a:p>
            <a:pPr algn="l">
              <a:lnSpc>
                <a:spcPct val="112000"/>
              </a:lnSpc>
              <a:spcBef>
                <a:spcPts val="0"/>
              </a:spcBef>
              <a:spcAft>
                <a:spcPts val="500"/>
              </a:spcAft>
              <a:defRPr sz="900" b="1">
                <a:solidFill>
                  <a:srgbClr val="215C49"/>
                </a:solidFill>
                <a:latin typeface="Arial"/>
              </a:defRPr>
            </a:pPr>
            <a:r>
              <a:t>Dr. Lokesh M R  |  Professor, ISE  |  AJIET, Mangaluru</a:t>
            </a:r>
          </a:p>
        </p:txBody>
      </p:sp>
      <p:sp>
        <p:nvSpPr>
          <p:cNvPr id="8" name="TextBox 7"/>
          <p:cNvSpPr txBox="1"/>
          <p:nvPr/>
        </p:nvSpPr>
        <p:spPr>
          <a:xfrm>
            <a:off x="11201400" y="6620256"/>
            <a:ext cx="393192" cy="210312"/>
          </a:xfrm>
          <a:prstGeom prst="rect">
            <a:avLst/>
          </a:prstGeom>
          <a:noFill/>
          <a:effectLst/>
        </p:spPr>
        <p:txBody>
          <a:bodyPr wrap="square" lIns="0" tIns="0" rIns="0" bIns="0" anchor="t">
            <a:spAutoFit/>
          </a:bodyPr>
          <a:lstStyle/>
          <a:p>
            <a:pPr algn="r">
              <a:lnSpc>
                <a:spcPct val="112000"/>
              </a:lnSpc>
              <a:spcBef>
                <a:spcPts val="0"/>
              </a:spcBef>
              <a:spcAft>
                <a:spcPts val="500"/>
              </a:spcAft>
              <a:defRPr sz="1000" b="1">
                <a:solidFill>
                  <a:srgbClr val="215C49"/>
                </a:solidFill>
                <a:latin typeface="Arial"/>
              </a:defRPr>
            </a:pPr>
            <a:r>
              <a:t>08</a:t>
            </a:r>
          </a:p>
        </p:txBody>
      </p:sp>
      <p:sp>
        <p:nvSpPr>
          <p:cNvPr id="9" name="Rounded Rectangle 8"/>
          <p:cNvSpPr/>
          <p:nvPr/>
        </p:nvSpPr>
        <p:spPr>
          <a:xfrm>
            <a:off x="594360" y="1874519"/>
            <a:ext cx="8439912" cy="4114800"/>
          </a:xfrm>
          <a:prstGeom prst="roundRect">
            <a:avLst>
              <a:gd name="adj" fmla="val 12000"/>
            </a:avLst>
          </a:prstGeom>
          <a:solidFill>
            <a:srgbClr val="FFFFFF"/>
          </a:solidFill>
          <a:ln w="10160">
            <a:solidFill>
              <a:srgbClr val="DCE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pic>
        <p:nvPicPr>
          <p:cNvPr id="10" name="Picture 9" descr="app-kannada-crop.png"/>
          <p:cNvPicPr>
            <a:picLocks noChangeAspect="1"/>
          </p:cNvPicPr>
          <p:nvPr/>
        </p:nvPicPr>
        <p:blipFill>
          <a:blip r:embed="rId3"/>
          <a:stretch>
            <a:fillRect/>
          </a:stretch>
        </p:blipFill>
        <p:spPr>
          <a:xfrm>
            <a:off x="1513614" y="1984248"/>
            <a:ext cx="6610546" cy="3886200"/>
          </a:xfrm>
          <a:prstGeom prst="rect">
            <a:avLst/>
          </a:prstGeom>
          <a:effectLst/>
        </p:spPr>
      </p:pic>
      <p:sp>
        <p:nvSpPr>
          <p:cNvPr id="11" name="TextBox 10"/>
          <p:cNvSpPr txBox="1"/>
          <p:nvPr/>
        </p:nvSpPr>
        <p:spPr>
          <a:xfrm>
            <a:off x="9299448" y="2167128"/>
            <a:ext cx="2322576" cy="640080"/>
          </a:xfrm>
          <a:prstGeom prst="rect">
            <a:avLst/>
          </a:prstGeom>
          <a:noFill/>
          <a:effectLst/>
        </p:spPr>
        <p:txBody>
          <a:bodyPr wrap="square" lIns="0" tIns="0" rIns="0" bIns="0" anchor="t">
            <a:spAutoFit/>
          </a:bodyPr>
          <a:lstStyle/>
          <a:p>
            <a:pPr algn="l">
              <a:lnSpc>
                <a:spcPct val="112000"/>
              </a:lnSpc>
              <a:spcBef>
                <a:spcPts val="0"/>
              </a:spcBef>
              <a:spcAft>
                <a:spcPts val="500"/>
              </a:spcAft>
              <a:defRPr sz="2200" b="1">
                <a:solidFill>
                  <a:srgbClr val="215C49"/>
                </a:solidFill>
                <a:latin typeface="Arial"/>
              </a:defRPr>
            </a:pPr>
            <a:r>
              <a:t>English ⇄ Kannada</a:t>
            </a:r>
          </a:p>
        </p:txBody>
      </p:sp>
      <p:sp>
        <p:nvSpPr>
          <p:cNvPr id="12" name="TextBox 11"/>
          <p:cNvSpPr txBox="1"/>
          <p:nvPr/>
        </p:nvSpPr>
        <p:spPr>
          <a:xfrm>
            <a:off x="9299448" y="3026664"/>
            <a:ext cx="2286000" cy="1033271"/>
          </a:xfrm>
          <a:prstGeom prst="rect">
            <a:avLst/>
          </a:prstGeom>
          <a:noFill/>
          <a:effectLst/>
        </p:spPr>
        <p:txBody>
          <a:bodyPr wrap="square" lIns="0" tIns="0" rIns="0" bIns="0" anchor="t">
            <a:spAutoFit/>
          </a:bodyPr>
          <a:lstStyle/>
          <a:p>
            <a:pPr algn="l">
              <a:lnSpc>
                <a:spcPct val="112000"/>
              </a:lnSpc>
              <a:spcBef>
                <a:spcPts val="0"/>
              </a:spcBef>
              <a:spcAft>
                <a:spcPts val="500"/>
              </a:spcAft>
              <a:defRPr sz="1900" b="0">
                <a:solidFill>
                  <a:srgbClr val="233D33"/>
                </a:solidFill>
                <a:latin typeface="Arial"/>
              </a:defRPr>
            </a:pPr>
            <a:r>
              <a:t>Bundled font</a:t>
            </a:r>
          </a:p>
          <a:p>
            <a:pPr algn="l">
              <a:lnSpc>
                <a:spcPct val="112000"/>
              </a:lnSpc>
              <a:spcBef>
                <a:spcPts val="0"/>
              </a:spcBef>
              <a:spcAft>
                <a:spcPts val="500"/>
              </a:spcAft>
              <a:defRPr sz="1900" b="0">
                <a:solidFill>
                  <a:srgbClr val="233D33"/>
                </a:solidFill>
                <a:latin typeface="Arial"/>
              </a:defRPr>
            </a:pPr>
            <a:r>
              <a:t>No font CDN needed</a:t>
            </a:r>
          </a:p>
        </p:txBody>
      </p:sp>
      <p:sp>
        <p:nvSpPr>
          <p:cNvPr id="13" name="TextBox 12"/>
          <p:cNvSpPr txBox="1"/>
          <p:nvPr/>
        </p:nvSpPr>
        <p:spPr>
          <a:xfrm>
            <a:off x="9299448" y="4206240"/>
            <a:ext cx="2295144" cy="1508760"/>
          </a:xfrm>
          <a:prstGeom prst="rect">
            <a:avLst/>
          </a:prstGeom>
          <a:noFill/>
          <a:effectLst/>
        </p:spPr>
        <p:txBody>
          <a:bodyPr wrap="square" lIns="0" tIns="0" rIns="0" bIns="0" anchor="t">
            <a:spAutoFit/>
          </a:bodyPr>
          <a:lstStyle/>
          <a:p>
            <a:pPr algn="l">
              <a:lnSpc>
                <a:spcPct val="112000"/>
              </a:lnSpc>
              <a:spcBef>
                <a:spcPts val="0"/>
              </a:spcBef>
              <a:spcAft>
                <a:spcPts val="500"/>
              </a:spcAft>
              <a:defRPr sz="1700" b="0">
                <a:solidFill>
                  <a:srgbClr val="5C6B62"/>
                </a:solidFill>
                <a:latin typeface="Arial"/>
              </a:defRPr>
            </a:pPr>
            <a:r>
              <a:t>Review still needed:</a:t>
            </a:r>
          </a:p>
          <a:p>
            <a:pPr algn="l">
              <a:lnSpc>
                <a:spcPct val="112000"/>
              </a:lnSpc>
              <a:spcBef>
                <a:spcPts val="0"/>
              </a:spcBef>
              <a:spcAft>
                <a:spcPts val="500"/>
              </a:spcAft>
              <a:defRPr sz="1700" b="0">
                <a:solidFill>
                  <a:srgbClr val="5C6B62"/>
                </a:solidFill>
                <a:latin typeface="Arial"/>
              </a:defRPr>
            </a:pPr>
            <a:r>
              <a:t>Kannada wording</a:t>
            </a:r>
          </a:p>
          <a:p>
            <a:pPr algn="l">
              <a:lnSpc>
                <a:spcPct val="112000"/>
              </a:lnSpc>
              <a:spcBef>
                <a:spcPts val="0"/>
              </a:spcBef>
              <a:spcAft>
                <a:spcPts val="500"/>
              </a:spcAft>
              <a:defRPr sz="1700" b="0">
                <a:solidFill>
                  <a:srgbClr val="5C6B62"/>
                </a:solidFill>
                <a:latin typeface="Arial"/>
              </a:defRPr>
            </a:pPr>
            <a:r>
              <a:t>Local examples</a:t>
            </a:r>
          </a:p>
          <a:p>
            <a:pPr algn="l">
              <a:lnSpc>
                <a:spcPct val="112000"/>
              </a:lnSpc>
              <a:spcBef>
                <a:spcPts val="0"/>
              </a:spcBef>
              <a:spcAft>
                <a:spcPts val="500"/>
              </a:spcAft>
              <a:defRPr sz="1700" b="0">
                <a:solidFill>
                  <a:srgbClr val="5C6B62"/>
                </a:solidFill>
                <a:latin typeface="Arial"/>
              </a:defRPr>
            </a:pPr>
            <a:r>
              <a:t>Individual suitability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9F5"/>
        </a:solidFill>
        <a:effectLst/>
      </p:bgPr>
    </p:bg>
    <p:spTree>
      <p:nvGrpSpPr>
        <p:cNvPr id="1" name=""/>
        <p:cNvGrpSpPr/>
        <p:nvPr/>
      </p:nvGrpSpPr>
      <p:grpSpPr>
        <a:xfrm>
          <a:off x="0" y="0"/>
          <a:ext cx="0" cy="0"/>
          <a:chOff x="0" y="0"/>
          <a:chExt cx="0" cy="0"/>
        </a:xfrm>
      </p:grpSpPr>
      <p:sp>
        <p:nvSpPr>
          <p:cNvPr id="2" name="TextBox 1"/>
          <p:cNvSpPr txBox="1"/>
          <p:nvPr/>
        </p:nvSpPr>
        <p:spPr>
          <a:xfrm>
            <a:off x="576072" y="310896"/>
            <a:ext cx="7315200" cy="237744"/>
          </a:xfrm>
          <a:prstGeom prst="rect">
            <a:avLst/>
          </a:prstGeom>
          <a:noFill/>
          <a:effectLst/>
        </p:spPr>
        <p:txBody>
          <a:bodyPr wrap="square" lIns="0" tIns="0" rIns="0" bIns="0" anchor="t">
            <a:spAutoFit/>
          </a:bodyPr>
          <a:lstStyle/>
          <a:p>
            <a:pPr algn="l">
              <a:lnSpc>
                <a:spcPct val="112000"/>
              </a:lnSpc>
              <a:spcBef>
                <a:spcPts val="0"/>
              </a:spcBef>
              <a:spcAft>
                <a:spcPts val="500"/>
              </a:spcAft>
              <a:defRPr sz="1000" b="1">
                <a:solidFill>
                  <a:srgbClr val="215C49"/>
                </a:solidFill>
                <a:latin typeface="Arial"/>
              </a:defRPr>
            </a:pPr>
            <a:r>
              <a:t>SAHAYA  /  LEARNER EXPERIENCE</a:t>
            </a:r>
          </a:p>
        </p:txBody>
      </p:sp>
      <p:sp>
        <p:nvSpPr>
          <p:cNvPr id="3" name="TextBox 2"/>
          <p:cNvSpPr txBox="1"/>
          <p:nvPr/>
        </p:nvSpPr>
        <p:spPr>
          <a:xfrm>
            <a:off x="576072" y="749808"/>
            <a:ext cx="11064240" cy="576072"/>
          </a:xfrm>
          <a:prstGeom prst="rect">
            <a:avLst/>
          </a:prstGeom>
          <a:noFill/>
          <a:effectLst/>
        </p:spPr>
        <p:txBody>
          <a:bodyPr wrap="square" lIns="0" tIns="0" rIns="0" bIns="0" anchor="t">
            <a:spAutoFit/>
          </a:bodyPr>
          <a:lstStyle/>
          <a:p>
            <a:pPr algn="l">
              <a:lnSpc>
                <a:spcPct val="112000"/>
              </a:lnSpc>
              <a:spcBef>
                <a:spcPts val="0"/>
              </a:spcBef>
              <a:spcAft>
                <a:spcPts val="500"/>
              </a:spcAft>
              <a:defRPr sz="3100" b="0">
                <a:solidFill>
                  <a:srgbClr val="233D33"/>
                </a:solidFill>
                <a:latin typeface="Georgia"/>
              </a:defRPr>
            </a:pPr>
            <a:r>
              <a:t>Practice supports another try.</a:t>
            </a:r>
          </a:p>
        </p:txBody>
      </p:sp>
      <p:sp>
        <p:nvSpPr>
          <p:cNvPr id="4" name="TextBox 3"/>
          <p:cNvSpPr txBox="1"/>
          <p:nvPr/>
        </p:nvSpPr>
        <p:spPr>
          <a:xfrm>
            <a:off x="594360" y="1371600"/>
            <a:ext cx="10972800" cy="384048"/>
          </a:xfrm>
          <a:prstGeom prst="rect">
            <a:avLst/>
          </a:prstGeom>
          <a:noFill/>
          <a:effectLst/>
        </p:spPr>
        <p:txBody>
          <a:bodyPr wrap="square" lIns="0" tIns="0" rIns="0" bIns="0" anchor="t">
            <a:spAutoFit/>
          </a:bodyPr>
          <a:lstStyle/>
          <a:p>
            <a:pPr algn="l">
              <a:lnSpc>
                <a:spcPct val="112000"/>
              </a:lnSpc>
              <a:spcBef>
                <a:spcPts val="0"/>
              </a:spcBef>
              <a:spcAft>
                <a:spcPts val="500"/>
              </a:spcAft>
              <a:defRPr sz="1600" b="0">
                <a:solidFill>
                  <a:srgbClr val="5C6B62"/>
                </a:solidFill>
                <a:latin typeface="Arial"/>
              </a:defRPr>
            </a:pPr>
            <a:r>
              <a:t>The model does not decide whether a learner can continue.</a:t>
            </a:r>
          </a:p>
        </p:txBody>
      </p:sp>
      <p:cxnSp>
        <p:nvCxnSpPr>
          <p:cNvPr id="5" name="Connector 4"/>
          <p:cNvCxnSpPr/>
          <p:nvPr/>
        </p:nvCxnSpPr>
        <p:spPr>
          <a:xfrm>
            <a:off x="585216" y="6373368"/>
            <a:ext cx="11018520" cy="0"/>
          </a:xfrm>
          <a:prstGeom prst="line">
            <a:avLst/>
          </a:prstGeom>
          <a:ln w="12700">
            <a:solidFill>
              <a:srgbClr val="DCE4DA"/>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85216" y="6419088"/>
            <a:ext cx="10972800" cy="164592"/>
          </a:xfrm>
          <a:prstGeom prst="rect">
            <a:avLst/>
          </a:prstGeom>
          <a:noFill/>
          <a:effectLst/>
        </p:spPr>
        <p:txBody>
          <a:bodyPr wrap="square" lIns="0" tIns="0" rIns="0" bIns="0" anchor="t">
            <a:spAutoFit/>
          </a:bodyPr>
          <a:lstStyle/>
          <a:p>
            <a:pPr algn="l">
              <a:lnSpc>
                <a:spcPct val="112000"/>
              </a:lnSpc>
              <a:spcBef>
                <a:spcPts val="0"/>
              </a:spcBef>
              <a:spcAft>
                <a:spcPts val="500"/>
              </a:spcAft>
              <a:defRPr sz="800" b="0">
                <a:solidFill>
                  <a:srgbClr val="5C6B62"/>
                </a:solidFill>
                <a:latin typeface="Arial"/>
              </a:defRPr>
            </a:pPr>
            <a:r>
              <a:t>Report Ch. 8; public/engine.js; browser check: retry feedback and first-try accounting</a:t>
            </a:r>
          </a:p>
        </p:txBody>
      </p:sp>
      <p:sp>
        <p:nvSpPr>
          <p:cNvPr id="7" name="TextBox 6"/>
          <p:cNvSpPr txBox="1"/>
          <p:nvPr/>
        </p:nvSpPr>
        <p:spPr>
          <a:xfrm>
            <a:off x="585216" y="6638544"/>
            <a:ext cx="10607040" cy="173736"/>
          </a:xfrm>
          <a:prstGeom prst="rect">
            <a:avLst/>
          </a:prstGeom>
          <a:noFill/>
          <a:effectLst/>
        </p:spPr>
        <p:txBody>
          <a:bodyPr wrap="square" lIns="0" tIns="0" rIns="0" bIns="0" anchor="t">
            <a:spAutoFit/>
          </a:bodyPr>
          <a:lstStyle/>
          <a:p>
            <a:pPr algn="l">
              <a:lnSpc>
                <a:spcPct val="112000"/>
              </a:lnSpc>
              <a:spcBef>
                <a:spcPts val="0"/>
              </a:spcBef>
              <a:spcAft>
                <a:spcPts val="500"/>
              </a:spcAft>
              <a:defRPr sz="900" b="1">
                <a:solidFill>
                  <a:srgbClr val="215C49"/>
                </a:solidFill>
                <a:latin typeface="Arial"/>
              </a:defRPr>
            </a:pPr>
            <a:r>
              <a:t>Dr. Lokesh M R  |  Professor, ISE  |  AJIET, Mangaluru</a:t>
            </a:r>
          </a:p>
        </p:txBody>
      </p:sp>
      <p:sp>
        <p:nvSpPr>
          <p:cNvPr id="8" name="TextBox 7"/>
          <p:cNvSpPr txBox="1"/>
          <p:nvPr/>
        </p:nvSpPr>
        <p:spPr>
          <a:xfrm>
            <a:off x="11201400" y="6620256"/>
            <a:ext cx="393192" cy="210312"/>
          </a:xfrm>
          <a:prstGeom prst="rect">
            <a:avLst/>
          </a:prstGeom>
          <a:noFill/>
          <a:effectLst/>
        </p:spPr>
        <p:txBody>
          <a:bodyPr wrap="square" lIns="0" tIns="0" rIns="0" bIns="0" anchor="t">
            <a:spAutoFit/>
          </a:bodyPr>
          <a:lstStyle/>
          <a:p>
            <a:pPr algn="r">
              <a:lnSpc>
                <a:spcPct val="112000"/>
              </a:lnSpc>
              <a:spcBef>
                <a:spcPts val="0"/>
              </a:spcBef>
              <a:spcAft>
                <a:spcPts val="500"/>
              </a:spcAft>
              <a:defRPr sz="1000" b="1">
                <a:solidFill>
                  <a:srgbClr val="215C49"/>
                </a:solidFill>
                <a:latin typeface="Arial"/>
              </a:defRPr>
            </a:pPr>
            <a:r>
              <a:t>09</a:t>
            </a:r>
          </a:p>
        </p:txBody>
      </p:sp>
      <p:sp>
        <p:nvSpPr>
          <p:cNvPr id="9" name="Rounded Rectangle 8"/>
          <p:cNvSpPr/>
          <p:nvPr/>
        </p:nvSpPr>
        <p:spPr>
          <a:xfrm>
            <a:off x="612648" y="1847088"/>
            <a:ext cx="6245352" cy="4215384"/>
          </a:xfrm>
          <a:prstGeom prst="roundRect">
            <a:avLst>
              <a:gd name="adj" fmla="val 12000"/>
            </a:avLst>
          </a:prstGeom>
          <a:solidFill>
            <a:srgbClr val="FFFFFF"/>
          </a:solidFill>
          <a:ln w="10160">
            <a:solidFill>
              <a:srgbClr val="DCE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pic>
        <p:nvPicPr>
          <p:cNvPr id="10" name="Picture 9" descr="retry.png"/>
          <p:cNvPicPr>
            <a:picLocks noChangeAspect="1"/>
          </p:cNvPicPr>
          <p:nvPr/>
        </p:nvPicPr>
        <p:blipFill>
          <a:blip r:embed="rId3"/>
          <a:stretch>
            <a:fillRect/>
          </a:stretch>
        </p:blipFill>
        <p:spPr>
          <a:xfrm>
            <a:off x="803104" y="1965960"/>
            <a:ext cx="5855295" cy="3941063"/>
          </a:xfrm>
          <a:prstGeom prst="rect">
            <a:avLst/>
          </a:prstGeom>
          <a:effectLst/>
        </p:spPr>
      </p:pic>
      <p:sp>
        <p:nvSpPr>
          <p:cNvPr id="11" name="Oval 10"/>
          <p:cNvSpPr/>
          <p:nvPr/>
        </p:nvSpPr>
        <p:spPr>
          <a:xfrm>
            <a:off x="7251192" y="2002536"/>
            <a:ext cx="374904" cy="374904"/>
          </a:xfrm>
          <a:prstGeom prst="ellipse">
            <a:avLst/>
          </a:prstGeom>
          <a:solidFill>
            <a:srgbClr val="215C4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7251192" y="2068372"/>
            <a:ext cx="374904" cy="219456"/>
          </a:xfrm>
          <a:prstGeom prst="rect">
            <a:avLst/>
          </a:prstGeom>
          <a:noFill/>
          <a:effectLst/>
        </p:spPr>
        <p:txBody>
          <a:bodyPr wrap="square" lIns="0" tIns="0" rIns="0" bIns="0" anchor="t">
            <a:spAutoFit/>
          </a:bodyPr>
          <a:lstStyle/>
          <a:p>
            <a:pPr algn="ctr">
              <a:lnSpc>
                <a:spcPct val="112000"/>
              </a:lnSpc>
              <a:spcBef>
                <a:spcPts val="0"/>
              </a:spcBef>
              <a:spcAft>
                <a:spcPts val="500"/>
              </a:spcAft>
              <a:defRPr sz="1300" b="1">
                <a:solidFill>
                  <a:srgbClr val="FFFFFF"/>
                </a:solidFill>
                <a:latin typeface="Arial"/>
              </a:defRPr>
            </a:pPr>
            <a:r>
              <a:t>1</a:t>
            </a:r>
          </a:p>
        </p:txBody>
      </p:sp>
      <p:sp>
        <p:nvSpPr>
          <p:cNvPr id="13" name="TextBox 12"/>
          <p:cNvSpPr txBox="1"/>
          <p:nvPr/>
        </p:nvSpPr>
        <p:spPr>
          <a:xfrm>
            <a:off x="7790688" y="2002536"/>
            <a:ext cx="3657600" cy="320040"/>
          </a:xfrm>
          <a:prstGeom prst="rect">
            <a:avLst/>
          </a:prstGeom>
          <a:noFill/>
          <a:effectLst/>
        </p:spPr>
        <p:txBody>
          <a:bodyPr wrap="square" lIns="0" tIns="0" rIns="0" bIns="0" anchor="t">
            <a:spAutoFit/>
          </a:bodyPr>
          <a:lstStyle/>
          <a:p>
            <a:pPr algn="l">
              <a:lnSpc>
                <a:spcPct val="112000"/>
              </a:lnSpc>
              <a:spcBef>
                <a:spcPts val="0"/>
              </a:spcBef>
              <a:spcAft>
                <a:spcPts val="500"/>
              </a:spcAft>
              <a:defRPr sz="2100" b="1">
                <a:solidFill>
                  <a:srgbClr val="233D33"/>
                </a:solidFill>
                <a:latin typeface="Arial"/>
              </a:defRPr>
            </a:pPr>
            <a:r>
              <a:t>Choose</a:t>
            </a:r>
          </a:p>
        </p:txBody>
      </p:sp>
      <p:sp>
        <p:nvSpPr>
          <p:cNvPr id="14" name="TextBox 13"/>
          <p:cNvSpPr txBox="1"/>
          <p:nvPr/>
        </p:nvSpPr>
        <p:spPr>
          <a:xfrm>
            <a:off x="7790688" y="2395728"/>
            <a:ext cx="3657600" cy="365760"/>
          </a:xfrm>
          <a:prstGeom prst="rect">
            <a:avLst/>
          </a:prstGeom>
          <a:noFill/>
          <a:effectLst/>
        </p:spPr>
        <p:txBody>
          <a:bodyPr wrap="square" lIns="0" tIns="0" rIns="0" bIns="0" anchor="t">
            <a:spAutoFit/>
          </a:bodyPr>
          <a:lstStyle/>
          <a:p>
            <a:pPr algn="l">
              <a:lnSpc>
                <a:spcPct val="112000"/>
              </a:lnSpc>
              <a:spcBef>
                <a:spcPts val="0"/>
              </a:spcBef>
              <a:spcAft>
                <a:spcPts val="500"/>
              </a:spcAft>
              <a:defRPr sz="1700" b="0">
                <a:solidFill>
                  <a:srgbClr val="5C6B62"/>
                </a:solidFill>
                <a:latin typeface="Arial"/>
              </a:defRPr>
            </a:pPr>
            <a:r>
              <a:t>Select an activity.</a:t>
            </a:r>
          </a:p>
        </p:txBody>
      </p:sp>
      <p:sp>
        <p:nvSpPr>
          <p:cNvPr id="15" name="Oval 14"/>
          <p:cNvSpPr/>
          <p:nvPr/>
        </p:nvSpPr>
        <p:spPr>
          <a:xfrm>
            <a:off x="7251192" y="2852928"/>
            <a:ext cx="374904" cy="374904"/>
          </a:xfrm>
          <a:prstGeom prst="ellipse">
            <a:avLst/>
          </a:prstGeom>
          <a:solidFill>
            <a:srgbClr val="215C4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7251192" y="2918764"/>
            <a:ext cx="374904" cy="219456"/>
          </a:xfrm>
          <a:prstGeom prst="rect">
            <a:avLst/>
          </a:prstGeom>
          <a:noFill/>
          <a:effectLst/>
        </p:spPr>
        <p:txBody>
          <a:bodyPr wrap="square" lIns="0" tIns="0" rIns="0" bIns="0" anchor="t">
            <a:spAutoFit/>
          </a:bodyPr>
          <a:lstStyle/>
          <a:p>
            <a:pPr algn="ctr">
              <a:lnSpc>
                <a:spcPct val="112000"/>
              </a:lnSpc>
              <a:spcBef>
                <a:spcPts val="0"/>
              </a:spcBef>
              <a:spcAft>
                <a:spcPts val="500"/>
              </a:spcAft>
              <a:defRPr sz="1300" b="1">
                <a:solidFill>
                  <a:srgbClr val="FFFFFF"/>
                </a:solidFill>
                <a:latin typeface="Arial"/>
              </a:defRPr>
            </a:pPr>
            <a:r>
              <a:t>2</a:t>
            </a:r>
          </a:p>
        </p:txBody>
      </p:sp>
      <p:sp>
        <p:nvSpPr>
          <p:cNvPr id="17" name="TextBox 16"/>
          <p:cNvSpPr txBox="1"/>
          <p:nvPr/>
        </p:nvSpPr>
        <p:spPr>
          <a:xfrm>
            <a:off x="7790688" y="2852928"/>
            <a:ext cx="3657600" cy="320040"/>
          </a:xfrm>
          <a:prstGeom prst="rect">
            <a:avLst/>
          </a:prstGeom>
          <a:noFill/>
          <a:effectLst/>
        </p:spPr>
        <p:txBody>
          <a:bodyPr wrap="square" lIns="0" tIns="0" rIns="0" bIns="0" anchor="t">
            <a:spAutoFit/>
          </a:bodyPr>
          <a:lstStyle/>
          <a:p>
            <a:pPr algn="l">
              <a:lnSpc>
                <a:spcPct val="112000"/>
              </a:lnSpc>
              <a:spcBef>
                <a:spcPts val="0"/>
              </a:spcBef>
              <a:spcAft>
                <a:spcPts val="500"/>
              </a:spcAft>
              <a:defRPr sz="2100" b="1">
                <a:solidFill>
                  <a:srgbClr val="233D33"/>
                </a:solidFill>
                <a:latin typeface="Arial"/>
              </a:defRPr>
            </a:pPr>
            <a:r>
              <a:t>Respond</a:t>
            </a:r>
          </a:p>
        </p:txBody>
      </p:sp>
      <p:sp>
        <p:nvSpPr>
          <p:cNvPr id="18" name="TextBox 17"/>
          <p:cNvSpPr txBox="1"/>
          <p:nvPr/>
        </p:nvSpPr>
        <p:spPr>
          <a:xfrm>
            <a:off x="7790688" y="3246120"/>
            <a:ext cx="3657600" cy="365760"/>
          </a:xfrm>
          <a:prstGeom prst="rect">
            <a:avLst/>
          </a:prstGeom>
          <a:noFill/>
          <a:effectLst/>
        </p:spPr>
        <p:txBody>
          <a:bodyPr wrap="square" lIns="0" tIns="0" rIns="0" bIns="0" anchor="t">
            <a:spAutoFit/>
          </a:bodyPr>
          <a:lstStyle/>
          <a:p>
            <a:pPr algn="l">
              <a:lnSpc>
                <a:spcPct val="112000"/>
              </a:lnSpc>
              <a:spcBef>
                <a:spcPts val="0"/>
              </a:spcBef>
              <a:spcAft>
                <a:spcPts val="500"/>
              </a:spcAft>
              <a:defRPr sz="1700" b="0">
                <a:solidFill>
                  <a:srgbClr val="5C6B62"/>
                </a:solidFill>
                <a:latin typeface="Arial"/>
              </a:defRPr>
            </a:pPr>
            <a:r>
              <a:t>Pick an answer; no timer.</a:t>
            </a:r>
          </a:p>
        </p:txBody>
      </p:sp>
      <p:sp>
        <p:nvSpPr>
          <p:cNvPr id="19" name="Oval 18"/>
          <p:cNvSpPr/>
          <p:nvPr/>
        </p:nvSpPr>
        <p:spPr>
          <a:xfrm>
            <a:off x="7251192" y="3703320"/>
            <a:ext cx="374904" cy="374904"/>
          </a:xfrm>
          <a:prstGeom prst="ellipse">
            <a:avLst/>
          </a:prstGeom>
          <a:solidFill>
            <a:srgbClr val="215C4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7251192" y="3769156"/>
            <a:ext cx="374904" cy="219456"/>
          </a:xfrm>
          <a:prstGeom prst="rect">
            <a:avLst/>
          </a:prstGeom>
          <a:noFill/>
          <a:effectLst/>
        </p:spPr>
        <p:txBody>
          <a:bodyPr wrap="square" lIns="0" tIns="0" rIns="0" bIns="0" anchor="t">
            <a:spAutoFit/>
          </a:bodyPr>
          <a:lstStyle/>
          <a:p>
            <a:pPr algn="ctr">
              <a:lnSpc>
                <a:spcPct val="112000"/>
              </a:lnSpc>
              <a:spcBef>
                <a:spcPts val="0"/>
              </a:spcBef>
              <a:spcAft>
                <a:spcPts val="500"/>
              </a:spcAft>
              <a:defRPr sz="1300" b="1">
                <a:solidFill>
                  <a:srgbClr val="FFFFFF"/>
                </a:solidFill>
                <a:latin typeface="Arial"/>
              </a:defRPr>
            </a:pPr>
            <a:r>
              <a:t>3</a:t>
            </a:r>
          </a:p>
        </p:txBody>
      </p:sp>
      <p:sp>
        <p:nvSpPr>
          <p:cNvPr id="21" name="TextBox 20"/>
          <p:cNvSpPr txBox="1"/>
          <p:nvPr/>
        </p:nvSpPr>
        <p:spPr>
          <a:xfrm>
            <a:off x="7790688" y="3703320"/>
            <a:ext cx="3657600" cy="320040"/>
          </a:xfrm>
          <a:prstGeom prst="rect">
            <a:avLst/>
          </a:prstGeom>
          <a:noFill/>
          <a:effectLst/>
        </p:spPr>
        <p:txBody>
          <a:bodyPr wrap="square" lIns="0" tIns="0" rIns="0" bIns="0" anchor="t">
            <a:spAutoFit/>
          </a:bodyPr>
          <a:lstStyle/>
          <a:p>
            <a:pPr algn="l">
              <a:lnSpc>
                <a:spcPct val="112000"/>
              </a:lnSpc>
              <a:spcBef>
                <a:spcPts val="0"/>
              </a:spcBef>
              <a:spcAft>
                <a:spcPts val="500"/>
              </a:spcAft>
              <a:defRPr sz="2100" b="1">
                <a:solidFill>
                  <a:srgbClr val="233D33"/>
                </a:solidFill>
                <a:latin typeface="Arial"/>
              </a:defRPr>
            </a:pPr>
            <a:r>
              <a:t>Receive feedback</a:t>
            </a:r>
          </a:p>
        </p:txBody>
      </p:sp>
      <p:sp>
        <p:nvSpPr>
          <p:cNvPr id="22" name="TextBox 21"/>
          <p:cNvSpPr txBox="1"/>
          <p:nvPr/>
        </p:nvSpPr>
        <p:spPr>
          <a:xfrm>
            <a:off x="7790688" y="4096511"/>
            <a:ext cx="3657600" cy="365760"/>
          </a:xfrm>
          <a:prstGeom prst="rect">
            <a:avLst/>
          </a:prstGeom>
          <a:noFill/>
          <a:effectLst/>
        </p:spPr>
        <p:txBody>
          <a:bodyPr wrap="square" lIns="0" tIns="0" rIns="0" bIns="0" anchor="t">
            <a:spAutoFit/>
          </a:bodyPr>
          <a:lstStyle/>
          <a:p>
            <a:pPr algn="l">
              <a:lnSpc>
                <a:spcPct val="112000"/>
              </a:lnSpc>
              <a:spcBef>
                <a:spcPts val="0"/>
              </a:spcBef>
              <a:spcAft>
                <a:spcPts val="500"/>
              </a:spcAft>
              <a:defRPr sz="1700" b="0">
                <a:solidFill>
                  <a:srgbClr val="5C6B62"/>
                </a:solidFill>
                <a:latin typeface="Arial"/>
              </a:defRPr>
            </a:pPr>
            <a:r>
              <a:t>Retry, or confirm success.</a:t>
            </a:r>
          </a:p>
        </p:txBody>
      </p:sp>
      <p:sp>
        <p:nvSpPr>
          <p:cNvPr id="23" name="Oval 22"/>
          <p:cNvSpPr/>
          <p:nvPr/>
        </p:nvSpPr>
        <p:spPr>
          <a:xfrm>
            <a:off x="7251192" y="4553712"/>
            <a:ext cx="374904" cy="374904"/>
          </a:xfrm>
          <a:prstGeom prst="ellipse">
            <a:avLst/>
          </a:prstGeom>
          <a:solidFill>
            <a:srgbClr val="215C4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7251192" y="4619548"/>
            <a:ext cx="374904" cy="219456"/>
          </a:xfrm>
          <a:prstGeom prst="rect">
            <a:avLst/>
          </a:prstGeom>
          <a:noFill/>
          <a:effectLst/>
        </p:spPr>
        <p:txBody>
          <a:bodyPr wrap="square" lIns="0" tIns="0" rIns="0" bIns="0" anchor="t">
            <a:spAutoFit/>
          </a:bodyPr>
          <a:lstStyle/>
          <a:p>
            <a:pPr algn="ctr">
              <a:lnSpc>
                <a:spcPct val="112000"/>
              </a:lnSpc>
              <a:spcBef>
                <a:spcPts val="0"/>
              </a:spcBef>
              <a:spcAft>
                <a:spcPts val="500"/>
              </a:spcAft>
              <a:defRPr sz="1300" b="1">
                <a:solidFill>
                  <a:srgbClr val="FFFFFF"/>
                </a:solidFill>
                <a:latin typeface="Arial"/>
              </a:defRPr>
            </a:pPr>
            <a:r>
              <a:t>4</a:t>
            </a:r>
          </a:p>
        </p:txBody>
      </p:sp>
      <p:sp>
        <p:nvSpPr>
          <p:cNvPr id="25" name="TextBox 24"/>
          <p:cNvSpPr txBox="1"/>
          <p:nvPr/>
        </p:nvSpPr>
        <p:spPr>
          <a:xfrm>
            <a:off x="7790688" y="4553712"/>
            <a:ext cx="3657600" cy="320040"/>
          </a:xfrm>
          <a:prstGeom prst="rect">
            <a:avLst/>
          </a:prstGeom>
          <a:noFill/>
          <a:effectLst/>
        </p:spPr>
        <p:txBody>
          <a:bodyPr wrap="square" lIns="0" tIns="0" rIns="0" bIns="0" anchor="t">
            <a:spAutoFit/>
          </a:bodyPr>
          <a:lstStyle/>
          <a:p>
            <a:pPr algn="l">
              <a:lnSpc>
                <a:spcPct val="112000"/>
              </a:lnSpc>
              <a:spcBef>
                <a:spcPts val="0"/>
              </a:spcBef>
              <a:spcAft>
                <a:spcPts val="500"/>
              </a:spcAft>
              <a:defRPr sz="2100" b="1">
                <a:solidFill>
                  <a:srgbClr val="233D33"/>
                </a:solidFill>
                <a:latin typeface="Arial"/>
              </a:defRPr>
            </a:pPr>
            <a:r>
              <a:t>Continue</a:t>
            </a:r>
          </a:p>
        </p:txBody>
      </p:sp>
      <p:sp>
        <p:nvSpPr>
          <p:cNvPr id="26" name="TextBox 25"/>
          <p:cNvSpPr txBox="1"/>
          <p:nvPr/>
        </p:nvSpPr>
        <p:spPr>
          <a:xfrm>
            <a:off x="7790688" y="4946904"/>
            <a:ext cx="3657600" cy="365760"/>
          </a:xfrm>
          <a:prstGeom prst="rect">
            <a:avLst/>
          </a:prstGeom>
          <a:noFill/>
          <a:effectLst/>
        </p:spPr>
        <p:txBody>
          <a:bodyPr wrap="square" lIns="0" tIns="0" rIns="0" bIns="0" anchor="t">
            <a:spAutoFit/>
          </a:bodyPr>
          <a:lstStyle/>
          <a:p>
            <a:pPr algn="l">
              <a:lnSpc>
                <a:spcPct val="112000"/>
              </a:lnSpc>
              <a:spcBef>
                <a:spcPts val="0"/>
              </a:spcBef>
              <a:spcAft>
                <a:spcPts val="500"/>
              </a:spcAft>
              <a:defRPr sz="1700" b="0">
                <a:solidFill>
                  <a:srgbClr val="5C6B62"/>
                </a:solidFill>
                <a:latin typeface="Arial"/>
              </a:defRPr>
            </a:pPr>
            <a:r>
              <a:t>Next card or a break.</a:t>
            </a:r>
          </a:p>
        </p:txBody>
      </p:sp>
      <p:sp>
        <p:nvSpPr>
          <p:cNvPr id="27" name="TextBox 26"/>
          <p:cNvSpPr txBox="1"/>
          <p:nvPr/>
        </p:nvSpPr>
        <p:spPr>
          <a:xfrm>
            <a:off x="7260336" y="5623560"/>
            <a:ext cx="4206240" cy="411480"/>
          </a:xfrm>
          <a:prstGeom prst="rect">
            <a:avLst/>
          </a:prstGeom>
          <a:noFill/>
          <a:effectLst/>
        </p:spPr>
        <p:txBody>
          <a:bodyPr wrap="square" lIns="0" tIns="0" rIns="0" bIns="0" anchor="t">
            <a:spAutoFit/>
          </a:bodyPr>
          <a:lstStyle/>
          <a:p>
            <a:pPr algn="l">
              <a:lnSpc>
                <a:spcPct val="112000"/>
              </a:lnSpc>
              <a:spcBef>
                <a:spcPts val="0"/>
              </a:spcBef>
              <a:spcAft>
                <a:spcPts val="500"/>
              </a:spcAft>
              <a:defRPr sz="1500" b="1">
                <a:solidFill>
                  <a:srgbClr val="215C49"/>
                </a:solidFill>
                <a:latin typeface="Arial"/>
              </a:defRPr>
            </a:pPr>
            <a:r>
              <a:t>3 or 5 cards • deterministic rotation, not adaptive AI</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9F5"/>
        </a:solidFill>
        <a:effectLst/>
      </p:bgPr>
    </p:bg>
    <p:spTree>
      <p:nvGrpSpPr>
        <p:cNvPr id="1" name=""/>
        <p:cNvGrpSpPr/>
        <p:nvPr/>
      </p:nvGrpSpPr>
      <p:grpSpPr>
        <a:xfrm>
          <a:off x="0" y="0"/>
          <a:ext cx="0" cy="0"/>
          <a:chOff x="0" y="0"/>
          <a:chExt cx="0" cy="0"/>
        </a:xfrm>
      </p:grpSpPr>
      <p:sp>
        <p:nvSpPr>
          <p:cNvPr id="2" name="TextBox 1"/>
          <p:cNvSpPr txBox="1"/>
          <p:nvPr/>
        </p:nvSpPr>
        <p:spPr>
          <a:xfrm>
            <a:off x="576072" y="310896"/>
            <a:ext cx="7315200" cy="237744"/>
          </a:xfrm>
          <a:prstGeom prst="rect">
            <a:avLst/>
          </a:prstGeom>
          <a:noFill/>
          <a:effectLst/>
        </p:spPr>
        <p:txBody>
          <a:bodyPr wrap="square" lIns="0" tIns="0" rIns="0" bIns="0" anchor="t">
            <a:spAutoFit/>
          </a:bodyPr>
          <a:lstStyle/>
          <a:p>
            <a:pPr algn="l">
              <a:lnSpc>
                <a:spcPct val="112000"/>
              </a:lnSpc>
              <a:spcBef>
                <a:spcPts val="0"/>
              </a:spcBef>
              <a:spcAft>
                <a:spcPts val="500"/>
              </a:spcAft>
              <a:defRPr sz="1000" b="1">
                <a:solidFill>
                  <a:srgbClr val="215C49"/>
                </a:solidFill>
                <a:latin typeface="Arial"/>
              </a:defRPr>
            </a:pPr>
            <a:r>
              <a:t>SAHAYA  /  LEARNER EXPERIENCE</a:t>
            </a:r>
          </a:p>
        </p:txBody>
      </p:sp>
      <p:sp>
        <p:nvSpPr>
          <p:cNvPr id="3" name="TextBox 2"/>
          <p:cNvSpPr txBox="1"/>
          <p:nvPr/>
        </p:nvSpPr>
        <p:spPr>
          <a:xfrm>
            <a:off x="576072" y="749808"/>
            <a:ext cx="11064240" cy="576072"/>
          </a:xfrm>
          <a:prstGeom prst="rect">
            <a:avLst/>
          </a:prstGeom>
          <a:noFill/>
          <a:effectLst/>
        </p:spPr>
        <p:txBody>
          <a:bodyPr wrap="square" lIns="0" tIns="0" rIns="0" bIns="0" anchor="t">
            <a:spAutoFit/>
          </a:bodyPr>
          <a:lstStyle/>
          <a:p>
            <a:pPr algn="l">
              <a:lnSpc>
                <a:spcPct val="112000"/>
              </a:lnSpc>
              <a:spcBef>
                <a:spcPts val="0"/>
              </a:spcBef>
              <a:spcAft>
                <a:spcPts val="500"/>
              </a:spcAft>
              <a:defRPr sz="3100" b="0">
                <a:solidFill>
                  <a:srgbClr val="233D33"/>
                </a:solidFill>
                <a:latin typeface="Georgia"/>
              </a:defRPr>
            </a:pPr>
            <a:r>
              <a:t>Accessible design is a starting point.</a:t>
            </a:r>
          </a:p>
        </p:txBody>
      </p:sp>
      <p:sp>
        <p:nvSpPr>
          <p:cNvPr id="4" name="TextBox 3"/>
          <p:cNvSpPr txBox="1"/>
          <p:nvPr/>
        </p:nvSpPr>
        <p:spPr>
          <a:xfrm>
            <a:off x="594360" y="1371600"/>
            <a:ext cx="10972800" cy="384048"/>
          </a:xfrm>
          <a:prstGeom prst="rect">
            <a:avLst/>
          </a:prstGeom>
          <a:noFill/>
          <a:effectLst/>
        </p:spPr>
        <p:txBody>
          <a:bodyPr wrap="square" lIns="0" tIns="0" rIns="0" bIns="0" anchor="t">
            <a:spAutoFit/>
          </a:bodyPr>
          <a:lstStyle/>
          <a:p>
            <a:pPr algn="l">
              <a:lnSpc>
                <a:spcPct val="112000"/>
              </a:lnSpc>
              <a:spcBef>
                <a:spcPts val="0"/>
              </a:spcBef>
              <a:spcAft>
                <a:spcPts val="500"/>
              </a:spcAft>
              <a:defRPr sz="1600" b="0">
                <a:solidFill>
                  <a:srgbClr val="5C6B62"/>
                </a:solidFill>
                <a:latin typeface="Arial"/>
              </a:defRPr>
            </a:pPr>
            <a:r>
              <a:t>Technical checks do not establish universal accessibility or individual suitability.</a:t>
            </a:r>
          </a:p>
        </p:txBody>
      </p:sp>
      <p:cxnSp>
        <p:nvCxnSpPr>
          <p:cNvPr id="5" name="Connector 4"/>
          <p:cNvCxnSpPr/>
          <p:nvPr/>
        </p:nvCxnSpPr>
        <p:spPr>
          <a:xfrm>
            <a:off x="585216" y="6373368"/>
            <a:ext cx="11018520" cy="0"/>
          </a:xfrm>
          <a:prstGeom prst="line">
            <a:avLst/>
          </a:prstGeom>
          <a:ln w="12700">
            <a:solidFill>
              <a:srgbClr val="DCE4DA"/>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85216" y="6419088"/>
            <a:ext cx="10972800" cy="164592"/>
          </a:xfrm>
          <a:prstGeom prst="rect">
            <a:avLst/>
          </a:prstGeom>
          <a:noFill/>
          <a:effectLst/>
        </p:spPr>
        <p:txBody>
          <a:bodyPr wrap="square" lIns="0" tIns="0" rIns="0" bIns="0" anchor="t">
            <a:spAutoFit/>
          </a:bodyPr>
          <a:lstStyle/>
          <a:p>
            <a:pPr algn="l">
              <a:lnSpc>
                <a:spcPct val="112000"/>
              </a:lnSpc>
              <a:spcBef>
                <a:spcPts val="0"/>
              </a:spcBef>
              <a:spcAft>
                <a:spcPts val="500"/>
              </a:spcAft>
              <a:defRPr sz="800" b="0">
                <a:solidFill>
                  <a:srgbClr val="5C6B62"/>
                </a:solidFill>
                <a:latin typeface="Arial"/>
              </a:defRPr>
            </a:pPr>
            <a:r>
              <a:t>Report Ch. 11; docs/FIELD_PROTOCOL.md; actual settings screen</a:t>
            </a:r>
          </a:p>
        </p:txBody>
      </p:sp>
      <p:sp>
        <p:nvSpPr>
          <p:cNvPr id="7" name="TextBox 6"/>
          <p:cNvSpPr txBox="1"/>
          <p:nvPr/>
        </p:nvSpPr>
        <p:spPr>
          <a:xfrm>
            <a:off x="585216" y="6638544"/>
            <a:ext cx="10607040" cy="173736"/>
          </a:xfrm>
          <a:prstGeom prst="rect">
            <a:avLst/>
          </a:prstGeom>
          <a:noFill/>
          <a:effectLst/>
        </p:spPr>
        <p:txBody>
          <a:bodyPr wrap="square" lIns="0" tIns="0" rIns="0" bIns="0" anchor="t">
            <a:spAutoFit/>
          </a:bodyPr>
          <a:lstStyle/>
          <a:p>
            <a:pPr algn="l">
              <a:lnSpc>
                <a:spcPct val="112000"/>
              </a:lnSpc>
              <a:spcBef>
                <a:spcPts val="0"/>
              </a:spcBef>
              <a:spcAft>
                <a:spcPts val="500"/>
              </a:spcAft>
              <a:defRPr sz="900" b="1">
                <a:solidFill>
                  <a:srgbClr val="215C49"/>
                </a:solidFill>
                <a:latin typeface="Arial"/>
              </a:defRPr>
            </a:pPr>
            <a:r>
              <a:t>Dr. Lokesh M R  |  Professor, ISE  |  AJIET, Mangaluru</a:t>
            </a:r>
          </a:p>
        </p:txBody>
      </p:sp>
      <p:sp>
        <p:nvSpPr>
          <p:cNvPr id="8" name="TextBox 7"/>
          <p:cNvSpPr txBox="1"/>
          <p:nvPr/>
        </p:nvSpPr>
        <p:spPr>
          <a:xfrm>
            <a:off x="11201400" y="6620256"/>
            <a:ext cx="393192" cy="210312"/>
          </a:xfrm>
          <a:prstGeom prst="rect">
            <a:avLst/>
          </a:prstGeom>
          <a:noFill/>
          <a:effectLst/>
        </p:spPr>
        <p:txBody>
          <a:bodyPr wrap="square" lIns="0" tIns="0" rIns="0" bIns="0" anchor="t">
            <a:spAutoFit/>
          </a:bodyPr>
          <a:lstStyle/>
          <a:p>
            <a:pPr algn="r">
              <a:lnSpc>
                <a:spcPct val="112000"/>
              </a:lnSpc>
              <a:spcBef>
                <a:spcPts val="0"/>
              </a:spcBef>
              <a:spcAft>
                <a:spcPts val="500"/>
              </a:spcAft>
              <a:defRPr sz="1000" b="1">
                <a:solidFill>
                  <a:srgbClr val="215C49"/>
                </a:solidFill>
                <a:latin typeface="Arial"/>
              </a:defRPr>
            </a:pPr>
            <a:r>
              <a:t>10</a:t>
            </a:r>
          </a:p>
        </p:txBody>
      </p:sp>
      <p:sp>
        <p:nvSpPr>
          <p:cNvPr id="9" name="TextBox 8"/>
          <p:cNvSpPr txBox="1"/>
          <p:nvPr/>
        </p:nvSpPr>
        <p:spPr>
          <a:xfrm>
            <a:off x="713232" y="1929384"/>
            <a:ext cx="6126480" cy="320040"/>
          </a:xfrm>
          <a:prstGeom prst="rect">
            <a:avLst/>
          </a:prstGeom>
          <a:noFill/>
          <a:effectLst/>
        </p:spPr>
        <p:txBody>
          <a:bodyPr wrap="square" lIns="0" tIns="0" rIns="0" bIns="0" anchor="t">
            <a:spAutoFit/>
          </a:bodyPr>
          <a:lstStyle/>
          <a:p>
            <a:pPr algn="l">
              <a:lnSpc>
                <a:spcPct val="112000"/>
              </a:lnSpc>
              <a:spcBef>
                <a:spcPts val="0"/>
              </a:spcBef>
              <a:spcAft>
                <a:spcPts val="500"/>
              </a:spcAft>
              <a:defRPr sz="1900" b="1">
                <a:solidFill>
                  <a:srgbClr val="233D33"/>
                </a:solidFill>
                <a:latin typeface="Arial"/>
              </a:defRPr>
            </a:pPr>
            <a:r>
              <a:t>Adjust the presentation</a:t>
            </a:r>
          </a:p>
        </p:txBody>
      </p:sp>
      <p:sp>
        <p:nvSpPr>
          <p:cNvPr id="10" name="TextBox 9"/>
          <p:cNvSpPr txBox="1"/>
          <p:nvPr/>
        </p:nvSpPr>
        <p:spPr>
          <a:xfrm>
            <a:off x="713232" y="2359152"/>
            <a:ext cx="6126480" cy="768096"/>
          </a:xfrm>
          <a:prstGeom prst="rect">
            <a:avLst/>
          </a:prstGeom>
          <a:noFill/>
          <a:effectLst/>
        </p:spPr>
        <p:txBody>
          <a:bodyPr wrap="square" lIns="0" tIns="0" rIns="0" bIns="0" anchor="t">
            <a:spAutoFit/>
          </a:bodyPr>
          <a:lstStyle/>
          <a:p>
            <a:pPr algn="l">
              <a:lnSpc>
                <a:spcPct val="112000"/>
              </a:lnSpc>
              <a:spcBef>
                <a:spcPts val="0"/>
              </a:spcBef>
              <a:spcAft>
                <a:spcPts val="500"/>
              </a:spcAft>
              <a:defRPr sz="1600" b="0">
                <a:solidFill>
                  <a:srgbClr val="5C6B62"/>
                </a:solidFill>
                <a:latin typeface="Arial"/>
              </a:defRPr>
            </a:pPr>
            <a:r>
              <a:t>Larger text, higher contrast, visible keyboard focus.</a:t>
            </a:r>
          </a:p>
        </p:txBody>
      </p:sp>
      <p:sp>
        <p:nvSpPr>
          <p:cNvPr id="11" name="TextBox 10"/>
          <p:cNvSpPr txBox="1"/>
          <p:nvPr/>
        </p:nvSpPr>
        <p:spPr>
          <a:xfrm>
            <a:off x="713232" y="3108960"/>
            <a:ext cx="6126480" cy="320040"/>
          </a:xfrm>
          <a:prstGeom prst="rect">
            <a:avLst/>
          </a:prstGeom>
          <a:noFill/>
          <a:effectLst/>
        </p:spPr>
        <p:txBody>
          <a:bodyPr wrap="square" lIns="0" tIns="0" rIns="0" bIns="0" anchor="t">
            <a:spAutoFit/>
          </a:bodyPr>
          <a:lstStyle/>
          <a:p>
            <a:pPr algn="l">
              <a:lnSpc>
                <a:spcPct val="112000"/>
              </a:lnSpc>
              <a:spcBef>
                <a:spcPts val="0"/>
              </a:spcBef>
              <a:spcAft>
                <a:spcPts val="500"/>
              </a:spcAft>
              <a:defRPr sz="1900" b="1">
                <a:solidFill>
                  <a:srgbClr val="233D33"/>
                </a:solidFill>
                <a:latin typeface="Arial"/>
              </a:defRPr>
            </a:pPr>
            <a:r>
              <a:t>Reduce pressure</a:t>
            </a:r>
          </a:p>
        </p:txBody>
      </p:sp>
      <p:sp>
        <p:nvSpPr>
          <p:cNvPr id="12" name="TextBox 11"/>
          <p:cNvSpPr txBox="1"/>
          <p:nvPr/>
        </p:nvSpPr>
        <p:spPr>
          <a:xfrm>
            <a:off x="713232" y="3538728"/>
            <a:ext cx="6126480" cy="768096"/>
          </a:xfrm>
          <a:prstGeom prst="rect">
            <a:avLst/>
          </a:prstGeom>
          <a:noFill/>
          <a:effectLst/>
        </p:spPr>
        <p:txBody>
          <a:bodyPr wrap="square" lIns="0" tIns="0" rIns="0" bIns="0" anchor="t">
            <a:spAutoFit/>
          </a:bodyPr>
          <a:lstStyle/>
          <a:p>
            <a:pPr algn="l">
              <a:lnSpc>
                <a:spcPct val="112000"/>
              </a:lnSpc>
              <a:spcBef>
                <a:spcPts val="0"/>
              </a:spcBef>
              <a:spcAft>
                <a:spcPts val="500"/>
              </a:spcAft>
              <a:defRPr sz="1600" b="0">
                <a:solidFill>
                  <a:srgbClr val="5C6B62"/>
                </a:solidFill>
                <a:latin typeface="Arial"/>
              </a:defRPr>
            </a:pPr>
            <a:r>
              <a:t>No timed answers; short sessions; supportive retries.</a:t>
            </a:r>
          </a:p>
        </p:txBody>
      </p:sp>
      <p:sp>
        <p:nvSpPr>
          <p:cNvPr id="13" name="TextBox 12"/>
          <p:cNvSpPr txBox="1"/>
          <p:nvPr/>
        </p:nvSpPr>
        <p:spPr>
          <a:xfrm>
            <a:off x="713232" y="4288536"/>
            <a:ext cx="6126480" cy="320040"/>
          </a:xfrm>
          <a:prstGeom prst="rect">
            <a:avLst/>
          </a:prstGeom>
          <a:noFill/>
          <a:effectLst/>
        </p:spPr>
        <p:txBody>
          <a:bodyPr wrap="square" lIns="0" tIns="0" rIns="0" bIns="0" anchor="t">
            <a:spAutoFit/>
          </a:bodyPr>
          <a:lstStyle/>
          <a:p>
            <a:pPr algn="l">
              <a:lnSpc>
                <a:spcPct val="112000"/>
              </a:lnSpc>
              <a:spcBef>
                <a:spcPts val="0"/>
              </a:spcBef>
              <a:spcAft>
                <a:spcPts val="500"/>
              </a:spcAft>
              <a:defRPr sz="1900" b="1">
                <a:solidFill>
                  <a:srgbClr val="233D33"/>
                </a:solidFill>
                <a:latin typeface="Arial"/>
              </a:defRPr>
            </a:pPr>
            <a:r>
              <a:t>Offer alternatives</a:t>
            </a:r>
          </a:p>
        </p:txBody>
      </p:sp>
      <p:sp>
        <p:nvSpPr>
          <p:cNvPr id="14" name="TextBox 13"/>
          <p:cNvSpPr txBox="1"/>
          <p:nvPr/>
        </p:nvSpPr>
        <p:spPr>
          <a:xfrm>
            <a:off x="713232" y="4718304"/>
            <a:ext cx="6126480" cy="768096"/>
          </a:xfrm>
          <a:prstGeom prst="rect">
            <a:avLst/>
          </a:prstGeom>
          <a:noFill/>
          <a:effectLst/>
        </p:spPr>
        <p:txBody>
          <a:bodyPr wrap="square" lIns="0" tIns="0" rIns="0" bIns="0" anchor="t">
            <a:spAutoFit/>
          </a:bodyPr>
          <a:lstStyle/>
          <a:p>
            <a:pPr algn="l">
              <a:lnSpc>
                <a:spcPct val="112000"/>
              </a:lnSpc>
              <a:spcBef>
                <a:spcPts val="0"/>
              </a:spcBef>
              <a:spcAft>
                <a:spcPts val="500"/>
              </a:spcAft>
              <a:defRPr sz="1600" b="0">
                <a:solidFill>
                  <a:srgbClr val="5C6B62"/>
                </a:solidFill>
                <a:latin typeface="Arial"/>
              </a:defRPr>
            </a:pPr>
            <a:r>
              <a:t>Colour, shape and digit recognition are visual tasks.</a:t>
            </a:r>
          </a:p>
        </p:txBody>
      </p:sp>
      <p:sp>
        <p:nvSpPr>
          <p:cNvPr id="15" name="Rounded Rectangle 14"/>
          <p:cNvSpPr/>
          <p:nvPr/>
        </p:nvSpPr>
        <p:spPr>
          <a:xfrm>
            <a:off x="7434072" y="1865376"/>
            <a:ext cx="4078224" cy="3794760"/>
          </a:xfrm>
          <a:prstGeom prst="roundRect">
            <a:avLst>
              <a:gd name="adj" fmla="val 12000"/>
            </a:avLst>
          </a:prstGeom>
          <a:solidFill>
            <a:srgbClr val="FFFFFF"/>
          </a:solidFill>
          <a:ln w="10160">
            <a:solidFill>
              <a:srgbClr val="DCE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pic>
        <p:nvPicPr>
          <p:cNvPr id="16" name="Picture 15" descr="settings.png"/>
          <p:cNvPicPr>
            <a:picLocks noChangeAspect="1"/>
          </p:cNvPicPr>
          <p:nvPr/>
        </p:nvPicPr>
        <p:blipFill>
          <a:blip r:embed="rId3"/>
          <a:stretch>
            <a:fillRect/>
          </a:stretch>
        </p:blipFill>
        <p:spPr>
          <a:xfrm>
            <a:off x="7697242" y="1993392"/>
            <a:ext cx="3551883" cy="3538728"/>
          </a:xfrm>
          <a:prstGeom prst="rect">
            <a:avLst/>
          </a:prstGeom>
          <a:effectLst/>
        </p:spPr>
      </p:pic>
      <p:sp>
        <p:nvSpPr>
          <p:cNvPr id="17" name="TextBox 16"/>
          <p:cNvSpPr txBox="1"/>
          <p:nvPr/>
        </p:nvSpPr>
        <p:spPr>
          <a:xfrm>
            <a:off x="722376" y="5742432"/>
            <a:ext cx="10881360" cy="283464"/>
          </a:xfrm>
          <a:prstGeom prst="rect">
            <a:avLst/>
          </a:prstGeom>
          <a:noFill/>
          <a:effectLst/>
        </p:spPr>
        <p:txBody>
          <a:bodyPr wrap="square" lIns="0" tIns="0" rIns="0" bIns="0" anchor="t">
            <a:spAutoFit/>
          </a:bodyPr>
          <a:lstStyle/>
          <a:p>
            <a:pPr algn="l">
              <a:lnSpc>
                <a:spcPct val="112000"/>
              </a:lnSpc>
              <a:spcBef>
                <a:spcPts val="0"/>
              </a:spcBef>
              <a:spcAft>
                <a:spcPts val="500"/>
              </a:spcAft>
              <a:defRPr sz="1700" b="1">
                <a:solidFill>
                  <a:srgbClr val="215C49"/>
                </a:solidFill>
                <a:latin typeface="Arial"/>
              </a:defRPr>
            </a:pPr>
            <a:r>
              <a:t>CLASS PROMPT  Which activities would need an alternative for a learner who cannot see the screen?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9F5"/>
        </a:solidFill>
        <a:effectLst/>
      </p:bgPr>
    </p:bg>
    <p:spTree>
      <p:nvGrpSpPr>
        <p:cNvPr id="1" name=""/>
        <p:cNvGrpSpPr/>
        <p:nvPr/>
      </p:nvGrpSpPr>
      <p:grpSpPr>
        <a:xfrm>
          <a:off x="0" y="0"/>
          <a:ext cx="0" cy="0"/>
          <a:chOff x="0" y="0"/>
          <a:chExt cx="0" cy="0"/>
        </a:xfrm>
      </p:grpSpPr>
      <p:sp>
        <p:nvSpPr>
          <p:cNvPr id="2" name="TextBox 1"/>
          <p:cNvSpPr txBox="1"/>
          <p:nvPr/>
        </p:nvSpPr>
        <p:spPr>
          <a:xfrm>
            <a:off x="576072" y="310896"/>
            <a:ext cx="7315200" cy="237744"/>
          </a:xfrm>
          <a:prstGeom prst="rect">
            <a:avLst/>
          </a:prstGeom>
          <a:noFill/>
          <a:effectLst/>
        </p:spPr>
        <p:txBody>
          <a:bodyPr wrap="square" lIns="0" tIns="0" rIns="0" bIns="0" anchor="t">
            <a:spAutoFit/>
          </a:bodyPr>
          <a:lstStyle/>
          <a:p>
            <a:pPr algn="l">
              <a:lnSpc>
                <a:spcPct val="112000"/>
              </a:lnSpc>
              <a:spcBef>
                <a:spcPts val="0"/>
              </a:spcBef>
              <a:spcAft>
                <a:spcPts val="500"/>
              </a:spcAft>
              <a:defRPr sz="1000" b="1">
                <a:solidFill>
                  <a:srgbClr val="215C49"/>
                </a:solidFill>
                <a:latin typeface="Arial"/>
              </a:defRPr>
            </a:pPr>
            <a:r>
              <a:t>SAHAYA  /  LEARNER EXPERIENCE</a:t>
            </a:r>
          </a:p>
        </p:txBody>
      </p:sp>
      <p:sp>
        <p:nvSpPr>
          <p:cNvPr id="3" name="TextBox 2"/>
          <p:cNvSpPr txBox="1"/>
          <p:nvPr/>
        </p:nvSpPr>
        <p:spPr>
          <a:xfrm>
            <a:off x="576072" y="749808"/>
            <a:ext cx="11064240" cy="576072"/>
          </a:xfrm>
          <a:prstGeom prst="rect">
            <a:avLst/>
          </a:prstGeom>
          <a:noFill/>
          <a:effectLst/>
        </p:spPr>
        <p:txBody>
          <a:bodyPr wrap="square" lIns="0" tIns="0" rIns="0" bIns="0" anchor="t">
            <a:spAutoFit/>
          </a:bodyPr>
          <a:lstStyle/>
          <a:p>
            <a:pPr algn="l">
              <a:lnSpc>
                <a:spcPct val="112000"/>
              </a:lnSpc>
              <a:spcBef>
                <a:spcPts val="0"/>
              </a:spcBef>
              <a:spcAft>
                <a:spcPts val="500"/>
              </a:spcAft>
              <a:defRPr sz="3100" b="0">
                <a:solidFill>
                  <a:srgbClr val="233D33"/>
                </a:solidFill>
                <a:latin typeface="Georgia"/>
              </a:defRPr>
            </a:pPr>
            <a:r>
              <a:t>Practice stays local by design.</a:t>
            </a:r>
          </a:p>
        </p:txBody>
      </p:sp>
      <p:sp>
        <p:nvSpPr>
          <p:cNvPr id="4" name="TextBox 3"/>
          <p:cNvSpPr txBox="1"/>
          <p:nvPr/>
        </p:nvSpPr>
        <p:spPr>
          <a:xfrm>
            <a:off x="594360" y="1371600"/>
            <a:ext cx="10972800" cy="384048"/>
          </a:xfrm>
          <a:prstGeom prst="rect">
            <a:avLst/>
          </a:prstGeom>
          <a:noFill/>
          <a:effectLst/>
        </p:spPr>
        <p:txBody>
          <a:bodyPr wrap="square" lIns="0" tIns="0" rIns="0" bIns="0" anchor="t">
            <a:spAutoFit/>
          </a:bodyPr>
          <a:lstStyle/>
          <a:p>
            <a:pPr algn="l">
              <a:lnSpc>
                <a:spcPct val="112000"/>
              </a:lnSpc>
              <a:spcBef>
                <a:spcPts val="0"/>
              </a:spcBef>
              <a:spcAft>
                <a:spcPts val="500"/>
              </a:spcAft>
              <a:defRPr sz="1600" b="0">
                <a:solidFill>
                  <a:srgbClr val="5C6B62"/>
                </a:solidFill>
                <a:latin typeface="Arial"/>
              </a:defRPr>
            </a:pPr>
            <a:r>
              <a:t>No names, diagnoses, learner accounts, analytics, or learner uploads.</a:t>
            </a:r>
          </a:p>
        </p:txBody>
      </p:sp>
      <p:cxnSp>
        <p:nvCxnSpPr>
          <p:cNvPr id="5" name="Connector 4"/>
          <p:cNvCxnSpPr/>
          <p:nvPr/>
        </p:nvCxnSpPr>
        <p:spPr>
          <a:xfrm>
            <a:off x="585216" y="6373368"/>
            <a:ext cx="11018520" cy="0"/>
          </a:xfrm>
          <a:prstGeom prst="line">
            <a:avLst/>
          </a:prstGeom>
          <a:ln w="12700">
            <a:solidFill>
              <a:srgbClr val="DCE4DA"/>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85216" y="6419088"/>
            <a:ext cx="10972800" cy="164592"/>
          </a:xfrm>
          <a:prstGeom prst="rect">
            <a:avLst/>
          </a:prstGeom>
          <a:noFill/>
          <a:effectLst/>
        </p:spPr>
        <p:txBody>
          <a:bodyPr wrap="square" lIns="0" tIns="0" rIns="0" bIns="0" anchor="t">
            <a:spAutoFit/>
          </a:bodyPr>
          <a:lstStyle/>
          <a:p>
            <a:pPr algn="l">
              <a:lnSpc>
                <a:spcPct val="112000"/>
              </a:lnSpc>
              <a:spcBef>
                <a:spcPts val="0"/>
              </a:spcBef>
              <a:spcAft>
                <a:spcPts val="500"/>
              </a:spcAft>
              <a:defRPr sz="800" b="0">
                <a:solidFill>
                  <a:srgbClr val="5C6B62"/>
                </a:solidFill>
                <a:latin typeface="Arial"/>
              </a:defRPr>
            </a:pPr>
            <a:r>
              <a:t>Report Ch. 8; docs/REQUIREMENTS.md, R5; package app.js and CSV schema</a:t>
            </a:r>
          </a:p>
        </p:txBody>
      </p:sp>
      <p:sp>
        <p:nvSpPr>
          <p:cNvPr id="7" name="TextBox 6"/>
          <p:cNvSpPr txBox="1"/>
          <p:nvPr/>
        </p:nvSpPr>
        <p:spPr>
          <a:xfrm>
            <a:off x="585216" y="6638544"/>
            <a:ext cx="10607040" cy="173736"/>
          </a:xfrm>
          <a:prstGeom prst="rect">
            <a:avLst/>
          </a:prstGeom>
          <a:noFill/>
          <a:effectLst/>
        </p:spPr>
        <p:txBody>
          <a:bodyPr wrap="square" lIns="0" tIns="0" rIns="0" bIns="0" anchor="t">
            <a:spAutoFit/>
          </a:bodyPr>
          <a:lstStyle/>
          <a:p>
            <a:pPr algn="l">
              <a:lnSpc>
                <a:spcPct val="112000"/>
              </a:lnSpc>
              <a:spcBef>
                <a:spcPts val="0"/>
              </a:spcBef>
              <a:spcAft>
                <a:spcPts val="500"/>
              </a:spcAft>
              <a:defRPr sz="900" b="1">
                <a:solidFill>
                  <a:srgbClr val="215C49"/>
                </a:solidFill>
                <a:latin typeface="Arial"/>
              </a:defRPr>
            </a:pPr>
            <a:r>
              <a:t>Dr. Lokesh M R  |  Professor, ISE  |  AJIET, Mangaluru</a:t>
            </a:r>
          </a:p>
        </p:txBody>
      </p:sp>
      <p:sp>
        <p:nvSpPr>
          <p:cNvPr id="8" name="TextBox 7"/>
          <p:cNvSpPr txBox="1"/>
          <p:nvPr/>
        </p:nvSpPr>
        <p:spPr>
          <a:xfrm>
            <a:off x="11201400" y="6620256"/>
            <a:ext cx="393192" cy="210312"/>
          </a:xfrm>
          <a:prstGeom prst="rect">
            <a:avLst/>
          </a:prstGeom>
          <a:noFill/>
          <a:effectLst/>
        </p:spPr>
        <p:txBody>
          <a:bodyPr wrap="square" lIns="0" tIns="0" rIns="0" bIns="0" anchor="t">
            <a:spAutoFit/>
          </a:bodyPr>
          <a:lstStyle/>
          <a:p>
            <a:pPr algn="r">
              <a:lnSpc>
                <a:spcPct val="112000"/>
              </a:lnSpc>
              <a:spcBef>
                <a:spcPts val="0"/>
              </a:spcBef>
              <a:spcAft>
                <a:spcPts val="500"/>
              </a:spcAft>
              <a:defRPr sz="1000" b="1">
                <a:solidFill>
                  <a:srgbClr val="215C49"/>
                </a:solidFill>
                <a:latin typeface="Arial"/>
              </a:defRPr>
            </a:pPr>
            <a:r>
              <a:t>11</a:t>
            </a:r>
          </a:p>
        </p:txBody>
      </p:sp>
      <p:sp>
        <p:nvSpPr>
          <p:cNvPr id="9" name="Rounded Rectangle 8"/>
          <p:cNvSpPr/>
          <p:nvPr/>
        </p:nvSpPr>
        <p:spPr>
          <a:xfrm>
            <a:off x="667512" y="2121408"/>
            <a:ext cx="3154680" cy="2505456"/>
          </a:xfrm>
          <a:prstGeom prst="roundRect">
            <a:avLst>
              <a:gd name="adj" fmla="val 12000"/>
            </a:avLst>
          </a:prstGeom>
          <a:solidFill>
            <a:srgbClr val="E8ED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877824" y="2340864"/>
            <a:ext cx="2697480" cy="384048"/>
          </a:xfrm>
          <a:prstGeom prst="rect">
            <a:avLst/>
          </a:prstGeom>
          <a:noFill/>
          <a:effectLst/>
        </p:spPr>
        <p:txBody>
          <a:bodyPr wrap="square" lIns="0" tIns="0" rIns="0" bIns="0" anchor="t">
            <a:spAutoFit/>
          </a:bodyPr>
          <a:lstStyle/>
          <a:p>
            <a:pPr algn="l">
              <a:lnSpc>
                <a:spcPct val="112000"/>
              </a:lnSpc>
              <a:spcBef>
                <a:spcPts val="0"/>
              </a:spcBef>
              <a:spcAft>
                <a:spcPts val="500"/>
              </a:spcAft>
              <a:defRPr sz="2000" b="1">
                <a:solidFill>
                  <a:srgbClr val="215C49"/>
                </a:solidFill>
                <a:latin typeface="Arial"/>
              </a:defRPr>
            </a:pPr>
            <a:r>
              <a:t>01</a:t>
            </a:r>
          </a:p>
        </p:txBody>
      </p:sp>
      <p:sp>
        <p:nvSpPr>
          <p:cNvPr id="11" name="TextBox 10"/>
          <p:cNvSpPr txBox="1"/>
          <p:nvPr/>
        </p:nvSpPr>
        <p:spPr>
          <a:xfrm>
            <a:off x="877824" y="2834640"/>
            <a:ext cx="2743200" cy="832104"/>
          </a:xfrm>
          <a:prstGeom prst="rect">
            <a:avLst/>
          </a:prstGeom>
          <a:noFill/>
          <a:effectLst/>
        </p:spPr>
        <p:txBody>
          <a:bodyPr wrap="square" lIns="0" tIns="0" rIns="0" bIns="0" anchor="t">
            <a:spAutoFit/>
          </a:bodyPr>
          <a:lstStyle/>
          <a:p>
            <a:pPr algn="l">
              <a:lnSpc>
                <a:spcPct val="112000"/>
              </a:lnSpc>
              <a:spcBef>
                <a:spcPts val="0"/>
              </a:spcBef>
              <a:spcAft>
                <a:spcPts val="500"/>
              </a:spcAft>
              <a:defRPr sz="2300" b="0">
                <a:solidFill>
                  <a:srgbClr val="233D33"/>
                </a:solidFill>
                <a:latin typeface="Georgia"/>
              </a:defRPr>
            </a:pPr>
            <a:r>
              <a:t>Default: session memory</a:t>
            </a:r>
          </a:p>
        </p:txBody>
      </p:sp>
      <p:sp>
        <p:nvSpPr>
          <p:cNvPr id="12" name="TextBox 11"/>
          <p:cNvSpPr txBox="1"/>
          <p:nvPr/>
        </p:nvSpPr>
        <p:spPr>
          <a:xfrm>
            <a:off x="877824" y="3813048"/>
            <a:ext cx="2724912" cy="649224"/>
          </a:xfrm>
          <a:prstGeom prst="rect">
            <a:avLst/>
          </a:prstGeom>
          <a:noFill/>
          <a:effectLst/>
        </p:spPr>
        <p:txBody>
          <a:bodyPr wrap="square" lIns="0" tIns="0" rIns="0" bIns="0" anchor="t">
            <a:spAutoFit/>
          </a:bodyPr>
          <a:lstStyle/>
          <a:p>
            <a:pPr algn="l">
              <a:lnSpc>
                <a:spcPct val="112000"/>
              </a:lnSpc>
              <a:spcBef>
                <a:spcPts val="0"/>
              </a:spcBef>
              <a:spcAft>
                <a:spcPts val="500"/>
              </a:spcAft>
              <a:defRPr sz="1700" b="0">
                <a:solidFill>
                  <a:srgbClr val="5C6B62"/>
                </a:solidFill>
                <a:latin typeface="Arial"/>
              </a:defRPr>
            </a:pPr>
            <a:r>
              <a:t>Records disappear after reload.</a:t>
            </a:r>
          </a:p>
        </p:txBody>
      </p:sp>
      <p:sp>
        <p:nvSpPr>
          <p:cNvPr id="13" name="Rounded Rectangle 12"/>
          <p:cNvSpPr/>
          <p:nvPr/>
        </p:nvSpPr>
        <p:spPr>
          <a:xfrm>
            <a:off x="4535424" y="2121408"/>
            <a:ext cx="3154680" cy="2505456"/>
          </a:xfrm>
          <a:prstGeom prst="roundRect">
            <a:avLst>
              <a:gd name="adj" fmla="val 12000"/>
            </a:avLst>
          </a:prstGeom>
          <a:solidFill>
            <a:srgbClr val="F3EB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745736" y="2340864"/>
            <a:ext cx="2697480" cy="384048"/>
          </a:xfrm>
          <a:prstGeom prst="rect">
            <a:avLst/>
          </a:prstGeom>
          <a:noFill/>
          <a:effectLst/>
        </p:spPr>
        <p:txBody>
          <a:bodyPr wrap="square" lIns="0" tIns="0" rIns="0" bIns="0" anchor="t">
            <a:spAutoFit/>
          </a:bodyPr>
          <a:lstStyle/>
          <a:p>
            <a:pPr algn="l">
              <a:lnSpc>
                <a:spcPct val="112000"/>
              </a:lnSpc>
              <a:spcBef>
                <a:spcPts val="0"/>
              </a:spcBef>
              <a:spcAft>
                <a:spcPts val="500"/>
              </a:spcAft>
              <a:defRPr sz="2000" b="1">
                <a:solidFill>
                  <a:srgbClr val="215C49"/>
                </a:solidFill>
                <a:latin typeface="Arial"/>
              </a:defRPr>
            </a:pPr>
            <a:r>
              <a:t>02</a:t>
            </a:r>
          </a:p>
        </p:txBody>
      </p:sp>
      <p:sp>
        <p:nvSpPr>
          <p:cNvPr id="15" name="TextBox 14"/>
          <p:cNvSpPr txBox="1"/>
          <p:nvPr/>
        </p:nvSpPr>
        <p:spPr>
          <a:xfrm>
            <a:off x="4745736" y="2834640"/>
            <a:ext cx="2743200" cy="832104"/>
          </a:xfrm>
          <a:prstGeom prst="rect">
            <a:avLst/>
          </a:prstGeom>
          <a:noFill/>
          <a:effectLst/>
        </p:spPr>
        <p:txBody>
          <a:bodyPr wrap="square" lIns="0" tIns="0" rIns="0" bIns="0" anchor="t">
            <a:spAutoFit/>
          </a:bodyPr>
          <a:lstStyle/>
          <a:p>
            <a:pPr algn="l">
              <a:lnSpc>
                <a:spcPct val="112000"/>
              </a:lnSpc>
              <a:spcBef>
                <a:spcPts val="0"/>
              </a:spcBef>
              <a:spcAft>
                <a:spcPts val="500"/>
              </a:spcAft>
              <a:defRPr sz="2300" b="0">
                <a:solidFill>
                  <a:srgbClr val="233D33"/>
                </a:solidFill>
                <a:latin typeface="Georgia"/>
              </a:defRPr>
            </a:pPr>
            <a:r>
              <a:t>Optional: device storage</a:t>
            </a:r>
          </a:p>
        </p:txBody>
      </p:sp>
      <p:sp>
        <p:nvSpPr>
          <p:cNvPr id="16" name="TextBox 15"/>
          <p:cNvSpPr txBox="1"/>
          <p:nvPr/>
        </p:nvSpPr>
        <p:spPr>
          <a:xfrm>
            <a:off x="4745736" y="3813048"/>
            <a:ext cx="2724912" cy="649224"/>
          </a:xfrm>
          <a:prstGeom prst="rect">
            <a:avLst/>
          </a:prstGeom>
          <a:noFill/>
          <a:effectLst/>
        </p:spPr>
        <p:txBody>
          <a:bodyPr wrap="square" lIns="0" tIns="0" rIns="0" bIns="0" anchor="t">
            <a:spAutoFit/>
          </a:bodyPr>
          <a:lstStyle/>
          <a:p>
            <a:pPr algn="l">
              <a:lnSpc>
                <a:spcPct val="112000"/>
              </a:lnSpc>
              <a:spcBef>
                <a:spcPts val="0"/>
              </a:spcBef>
              <a:spcAft>
                <a:spcPts val="500"/>
              </a:spcAft>
              <a:defRPr sz="1700" b="0">
                <a:solidFill>
                  <a:srgbClr val="5C6B62"/>
                </a:solidFill>
                <a:latin typeface="Arial"/>
              </a:defRPr>
            </a:pPr>
            <a:r>
              <a:t>“Remember progress” is opt-in.</a:t>
            </a:r>
          </a:p>
        </p:txBody>
      </p:sp>
      <p:sp>
        <p:nvSpPr>
          <p:cNvPr id="17" name="Rounded Rectangle 16"/>
          <p:cNvSpPr/>
          <p:nvPr/>
        </p:nvSpPr>
        <p:spPr>
          <a:xfrm>
            <a:off x="8403336" y="2121408"/>
            <a:ext cx="3154680" cy="2505456"/>
          </a:xfrm>
          <a:prstGeom prst="roundRect">
            <a:avLst>
              <a:gd name="adj" fmla="val 12000"/>
            </a:avLst>
          </a:prstGeom>
          <a:solidFill>
            <a:srgbClr val="E5EEF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8613648" y="2340864"/>
            <a:ext cx="2697480" cy="384048"/>
          </a:xfrm>
          <a:prstGeom prst="rect">
            <a:avLst/>
          </a:prstGeom>
          <a:noFill/>
          <a:effectLst/>
        </p:spPr>
        <p:txBody>
          <a:bodyPr wrap="square" lIns="0" tIns="0" rIns="0" bIns="0" anchor="t">
            <a:spAutoFit/>
          </a:bodyPr>
          <a:lstStyle/>
          <a:p>
            <a:pPr algn="l">
              <a:lnSpc>
                <a:spcPct val="112000"/>
              </a:lnSpc>
              <a:spcBef>
                <a:spcPts val="0"/>
              </a:spcBef>
              <a:spcAft>
                <a:spcPts val="500"/>
              </a:spcAft>
              <a:defRPr sz="2000" b="1">
                <a:solidFill>
                  <a:srgbClr val="215C49"/>
                </a:solidFill>
                <a:latin typeface="Arial"/>
              </a:defRPr>
            </a:pPr>
            <a:r>
              <a:t>03</a:t>
            </a:r>
          </a:p>
        </p:txBody>
      </p:sp>
      <p:sp>
        <p:nvSpPr>
          <p:cNvPr id="19" name="TextBox 18"/>
          <p:cNvSpPr txBox="1"/>
          <p:nvPr/>
        </p:nvSpPr>
        <p:spPr>
          <a:xfrm>
            <a:off x="8613648" y="2834640"/>
            <a:ext cx="2743200" cy="832104"/>
          </a:xfrm>
          <a:prstGeom prst="rect">
            <a:avLst/>
          </a:prstGeom>
          <a:noFill/>
          <a:effectLst/>
        </p:spPr>
        <p:txBody>
          <a:bodyPr wrap="square" lIns="0" tIns="0" rIns="0" bIns="0" anchor="t">
            <a:spAutoFit/>
          </a:bodyPr>
          <a:lstStyle/>
          <a:p>
            <a:pPr algn="l">
              <a:lnSpc>
                <a:spcPct val="112000"/>
              </a:lnSpc>
              <a:spcBef>
                <a:spcPts val="0"/>
              </a:spcBef>
              <a:spcAft>
                <a:spcPts val="500"/>
              </a:spcAft>
              <a:defRPr sz="2300" b="0">
                <a:solidFill>
                  <a:srgbClr val="233D33"/>
                </a:solidFill>
                <a:latin typeface="Georgia"/>
              </a:defRPr>
            </a:pPr>
            <a:r>
              <a:t>Export: local CSV</a:t>
            </a:r>
          </a:p>
        </p:txBody>
      </p:sp>
      <p:sp>
        <p:nvSpPr>
          <p:cNvPr id="20" name="TextBox 19"/>
          <p:cNvSpPr txBox="1"/>
          <p:nvPr/>
        </p:nvSpPr>
        <p:spPr>
          <a:xfrm>
            <a:off x="8613648" y="3813048"/>
            <a:ext cx="2724912" cy="649224"/>
          </a:xfrm>
          <a:prstGeom prst="rect">
            <a:avLst/>
          </a:prstGeom>
          <a:noFill/>
          <a:effectLst/>
        </p:spPr>
        <p:txBody>
          <a:bodyPr wrap="square" lIns="0" tIns="0" rIns="0" bIns="0" anchor="t">
            <a:spAutoFit/>
          </a:bodyPr>
          <a:lstStyle/>
          <a:p>
            <a:pPr algn="l">
              <a:lnSpc>
                <a:spcPct val="112000"/>
              </a:lnSpc>
              <a:spcBef>
                <a:spcPts val="0"/>
              </a:spcBef>
              <a:spcAft>
                <a:spcPts val="500"/>
              </a:spcAft>
              <a:defRPr sz="1700" b="0">
                <a:solidFill>
                  <a:srgbClr val="5C6B62"/>
                </a:solidFill>
                <a:latin typeface="Arial"/>
              </a:defRPr>
            </a:pPr>
            <a:r>
              <a:t>Use school-approved handling.</a:t>
            </a:r>
          </a:p>
        </p:txBody>
      </p:sp>
      <p:sp>
        <p:nvSpPr>
          <p:cNvPr id="21" name="Right Arrow 20"/>
          <p:cNvSpPr/>
          <p:nvPr/>
        </p:nvSpPr>
        <p:spPr>
          <a:xfrm>
            <a:off x="3959352" y="3246120"/>
            <a:ext cx="347472" cy="182880"/>
          </a:xfrm>
          <a:prstGeom prst="rightArrow">
            <a:avLst/>
          </a:prstGeom>
          <a:solidFill>
            <a:srgbClr val="215C4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Right Arrow 21"/>
          <p:cNvSpPr/>
          <p:nvPr/>
        </p:nvSpPr>
        <p:spPr>
          <a:xfrm>
            <a:off x="7827264" y="3246120"/>
            <a:ext cx="347472" cy="182880"/>
          </a:xfrm>
          <a:prstGeom prst="rightArrow">
            <a:avLst/>
          </a:prstGeom>
          <a:solidFill>
            <a:srgbClr val="215C4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Rounded Rectangle 22"/>
          <p:cNvSpPr/>
          <p:nvPr/>
        </p:nvSpPr>
        <p:spPr>
          <a:xfrm>
            <a:off x="685800" y="5047488"/>
            <a:ext cx="10863072" cy="630936"/>
          </a:xfrm>
          <a:prstGeom prst="roundRect">
            <a:avLst>
              <a:gd name="adj" fmla="val 12000"/>
            </a:avLst>
          </a:prstGeom>
          <a:solidFill>
            <a:srgbClr val="215C4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4" name="TextBox 23"/>
          <p:cNvSpPr txBox="1"/>
          <p:nvPr/>
        </p:nvSpPr>
        <p:spPr>
          <a:xfrm>
            <a:off x="886968" y="5230368"/>
            <a:ext cx="10451592" cy="283464"/>
          </a:xfrm>
          <a:prstGeom prst="rect">
            <a:avLst/>
          </a:prstGeom>
          <a:noFill/>
          <a:effectLst/>
        </p:spPr>
        <p:txBody>
          <a:bodyPr wrap="square" lIns="0" tIns="0" rIns="0" bIns="0" anchor="t">
            <a:spAutoFit/>
          </a:bodyPr>
          <a:lstStyle/>
          <a:p>
            <a:pPr algn="l">
              <a:lnSpc>
                <a:spcPct val="112000"/>
              </a:lnSpc>
              <a:spcBef>
                <a:spcPts val="0"/>
              </a:spcBef>
              <a:spcAft>
                <a:spcPts val="500"/>
              </a:spcAft>
              <a:defRPr sz="2000" b="1">
                <a:solidFill>
                  <a:srgbClr val="FFFFFF"/>
                </a:solidFill>
                <a:latin typeface="Arial"/>
              </a:defRPr>
            </a:pPr>
            <a:r>
              <a:t>Shared-device records are not per-learner records. Clear them before changing users.</a:t>
            </a:r>
          </a:p>
        </p:txBody>
      </p:sp>
      <p:sp>
        <p:nvSpPr>
          <p:cNvPr id="25" name="TextBox 24"/>
          <p:cNvSpPr txBox="1"/>
          <p:nvPr/>
        </p:nvSpPr>
        <p:spPr>
          <a:xfrm>
            <a:off x="722376" y="5852160"/>
            <a:ext cx="10881360" cy="246888"/>
          </a:xfrm>
          <a:prstGeom prst="rect">
            <a:avLst/>
          </a:prstGeom>
          <a:noFill/>
          <a:effectLst/>
        </p:spPr>
        <p:txBody>
          <a:bodyPr wrap="square" lIns="0" tIns="0" rIns="0" bIns="0" anchor="t">
            <a:spAutoFit/>
          </a:bodyPr>
          <a:lstStyle/>
          <a:p>
            <a:pPr algn="l">
              <a:lnSpc>
                <a:spcPct val="112000"/>
              </a:lnSpc>
              <a:spcBef>
                <a:spcPts val="0"/>
              </a:spcBef>
              <a:spcAft>
                <a:spcPts val="500"/>
              </a:spcAft>
              <a:defRPr sz="1400" b="0">
                <a:solidFill>
                  <a:srgbClr val="5C6B62"/>
                </a:solidFill>
                <a:latin typeface="Arial"/>
              </a:defRPr>
            </a:pPr>
            <a:r>
              <a:t>Browser voices and external links may use the network; hosting still sees ordinary request metadata.</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9F5"/>
        </a:solidFill>
        <a:effectLst/>
      </p:bgPr>
    </p:bg>
    <p:spTree>
      <p:nvGrpSpPr>
        <p:cNvPr id="1" name=""/>
        <p:cNvGrpSpPr/>
        <p:nvPr/>
      </p:nvGrpSpPr>
      <p:grpSpPr>
        <a:xfrm>
          <a:off x="0" y="0"/>
          <a:ext cx="0" cy="0"/>
          <a:chOff x="0" y="0"/>
          <a:chExt cx="0" cy="0"/>
        </a:xfrm>
      </p:grpSpPr>
      <p:sp>
        <p:nvSpPr>
          <p:cNvPr id="2" name="TextBox 1"/>
          <p:cNvSpPr txBox="1"/>
          <p:nvPr/>
        </p:nvSpPr>
        <p:spPr>
          <a:xfrm>
            <a:off x="576072" y="310896"/>
            <a:ext cx="7315200" cy="237744"/>
          </a:xfrm>
          <a:prstGeom prst="rect">
            <a:avLst/>
          </a:prstGeom>
          <a:noFill/>
          <a:effectLst/>
        </p:spPr>
        <p:txBody>
          <a:bodyPr wrap="square" lIns="0" tIns="0" rIns="0" bIns="0" anchor="t">
            <a:spAutoFit/>
          </a:bodyPr>
          <a:lstStyle/>
          <a:p>
            <a:pPr algn="l">
              <a:lnSpc>
                <a:spcPct val="112000"/>
              </a:lnSpc>
              <a:spcBef>
                <a:spcPts val="0"/>
              </a:spcBef>
              <a:spcAft>
                <a:spcPts val="500"/>
              </a:spcAft>
              <a:defRPr sz="1000" b="1">
                <a:solidFill>
                  <a:srgbClr val="215C49"/>
                </a:solidFill>
                <a:latin typeface="Arial"/>
              </a:defRPr>
            </a:pPr>
            <a:r>
              <a:t>SAHAYA  /  ENGINEERING</a:t>
            </a:r>
          </a:p>
        </p:txBody>
      </p:sp>
      <p:sp>
        <p:nvSpPr>
          <p:cNvPr id="3" name="TextBox 2"/>
          <p:cNvSpPr txBox="1"/>
          <p:nvPr/>
        </p:nvSpPr>
        <p:spPr>
          <a:xfrm>
            <a:off x="576072" y="749808"/>
            <a:ext cx="11064240" cy="576072"/>
          </a:xfrm>
          <a:prstGeom prst="rect">
            <a:avLst/>
          </a:prstGeom>
          <a:noFill/>
          <a:effectLst/>
        </p:spPr>
        <p:txBody>
          <a:bodyPr wrap="square" lIns="0" tIns="0" rIns="0" bIns="0" anchor="t">
            <a:spAutoFit/>
          </a:bodyPr>
          <a:lstStyle/>
          <a:p>
            <a:pPr algn="l">
              <a:lnSpc>
                <a:spcPct val="112000"/>
              </a:lnSpc>
              <a:spcBef>
                <a:spcPts val="0"/>
              </a:spcBef>
              <a:spcAft>
                <a:spcPts val="500"/>
              </a:spcAft>
              <a:defRPr sz="3100" b="0">
                <a:solidFill>
                  <a:srgbClr val="233D33"/>
                </a:solidFill>
                <a:latin typeface="Georgia"/>
              </a:defRPr>
            </a:pPr>
            <a:r>
              <a:t>Use open resources—with provenance.</a:t>
            </a:r>
          </a:p>
        </p:txBody>
      </p:sp>
      <p:sp>
        <p:nvSpPr>
          <p:cNvPr id="4" name="TextBox 3"/>
          <p:cNvSpPr txBox="1"/>
          <p:nvPr/>
        </p:nvSpPr>
        <p:spPr>
          <a:xfrm>
            <a:off x="594360" y="1371600"/>
            <a:ext cx="10972800" cy="384048"/>
          </a:xfrm>
          <a:prstGeom prst="rect">
            <a:avLst/>
          </a:prstGeom>
          <a:noFill/>
          <a:effectLst/>
        </p:spPr>
        <p:txBody>
          <a:bodyPr wrap="square" lIns="0" tIns="0" rIns="0" bIns="0" anchor="t">
            <a:spAutoFit/>
          </a:bodyPr>
          <a:lstStyle/>
          <a:p>
            <a:pPr algn="l">
              <a:lnSpc>
                <a:spcPct val="112000"/>
              </a:lnSpc>
              <a:spcBef>
                <a:spcPts val="0"/>
              </a:spcBef>
              <a:spcAft>
                <a:spcPts val="500"/>
              </a:spcAft>
              <a:defRPr sz="1600" b="0">
                <a:solidFill>
                  <a:srgbClr val="5C6B62"/>
                </a:solidFill>
                <a:latin typeface="Arial"/>
              </a:defRPr>
            </a:pPr>
            <a:r>
              <a:t>A licence and a source are part of the engineering result.</a:t>
            </a:r>
          </a:p>
        </p:txBody>
      </p:sp>
      <p:cxnSp>
        <p:nvCxnSpPr>
          <p:cNvPr id="5" name="Connector 4"/>
          <p:cNvCxnSpPr/>
          <p:nvPr/>
        </p:nvCxnSpPr>
        <p:spPr>
          <a:xfrm>
            <a:off x="585216" y="6373368"/>
            <a:ext cx="11018520" cy="0"/>
          </a:xfrm>
          <a:prstGeom prst="line">
            <a:avLst/>
          </a:prstGeom>
          <a:ln w="12700">
            <a:solidFill>
              <a:srgbClr val="DCE4DA"/>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85216" y="6419088"/>
            <a:ext cx="10972800" cy="164592"/>
          </a:xfrm>
          <a:prstGeom prst="rect">
            <a:avLst/>
          </a:prstGeom>
          <a:noFill/>
          <a:effectLst/>
        </p:spPr>
        <p:txBody>
          <a:bodyPr wrap="square" lIns="0" tIns="0" rIns="0" bIns="0" anchor="t">
            <a:spAutoFit/>
          </a:bodyPr>
          <a:lstStyle/>
          <a:p>
            <a:pPr algn="l">
              <a:lnSpc>
                <a:spcPct val="112000"/>
              </a:lnSpc>
              <a:spcBef>
                <a:spcPts val="0"/>
              </a:spcBef>
              <a:spcAft>
                <a:spcPts val="500"/>
              </a:spcAft>
              <a:defRPr sz="800" b="0">
                <a:solidFill>
                  <a:srgbClr val="5C6B62"/>
                </a:solidFill>
                <a:latin typeface="Arial"/>
              </a:defRPr>
            </a:pPr>
            <a:r>
              <a:t>Report Appendix A; docs/SOURCES.md; all licences apply to their own artifacts</a:t>
            </a:r>
          </a:p>
        </p:txBody>
      </p:sp>
      <p:sp>
        <p:nvSpPr>
          <p:cNvPr id="7" name="TextBox 6"/>
          <p:cNvSpPr txBox="1"/>
          <p:nvPr/>
        </p:nvSpPr>
        <p:spPr>
          <a:xfrm>
            <a:off x="585216" y="6638544"/>
            <a:ext cx="10607040" cy="173736"/>
          </a:xfrm>
          <a:prstGeom prst="rect">
            <a:avLst/>
          </a:prstGeom>
          <a:noFill/>
          <a:effectLst/>
        </p:spPr>
        <p:txBody>
          <a:bodyPr wrap="square" lIns="0" tIns="0" rIns="0" bIns="0" anchor="t">
            <a:spAutoFit/>
          </a:bodyPr>
          <a:lstStyle/>
          <a:p>
            <a:pPr algn="l">
              <a:lnSpc>
                <a:spcPct val="112000"/>
              </a:lnSpc>
              <a:spcBef>
                <a:spcPts val="0"/>
              </a:spcBef>
              <a:spcAft>
                <a:spcPts val="500"/>
              </a:spcAft>
              <a:defRPr sz="900" b="1">
                <a:solidFill>
                  <a:srgbClr val="215C49"/>
                </a:solidFill>
                <a:latin typeface="Arial"/>
              </a:defRPr>
            </a:pPr>
            <a:r>
              <a:t>Dr. Lokesh M R  |  Professor, ISE  |  AJIET, Mangaluru</a:t>
            </a:r>
          </a:p>
        </p:txBody>
      </p:sp>
      <p:sp>
        <p:nvSpPr>
          <p:cNvPr id="8" name="TextBox 7"/>
          <p:cNvSpPr txBox="1"/>
          <p:nvPr/>
        </p:nvSpPr>
        <p:spPr>
          <a:xfrm>
            <a:off x="11201400" y="6620256"/>
            <a:ext cx="393192" cy="210312"/>
          </a:xfrm>
          <a:prstGeom prst="rect">
            <a:avLst/>
          </a:prstGeom>
          <a:noFill/>
          <a:effectLst/>
        </p:spPr>
        <p:txBody>
          <a:bodyPr wrap="square" lIns="0" tIns="0" rIns="0" bIns="0" anchor="t">
            <a:spAutoFit/>
          </a:bodyPr>
          <a:lstStyle/>
          <a:p>
            <a:pPr algn="r">
              <a:lnSpc>
                <a:spcPct val="112000"/>
              </a:lnSpc>
              <a:spcBef>
                <a:spcPts val="0"/>
              </a:spcBef>
              <a:spcAft>
                <a:spcPts val="500"/>
              </a:spcAft>
              <a:defRPr sz="1000" b="1">
                <a:solidFill>
                  <a:srgbClr val="215C49"/>
                </a:solidFill>
                <a:latin typeface="Arial"/>
              </a:defRPr>
            </a:pPr>
            <a:r>
              <a:t>12</a:t>
            </a:r>
          </a:p>
        </p:txBody>
      </p:sp>
      <p:graphicFrame>
        <p:nvGraphicFramePr>
          <p:cNvPr id="9" name="Table 8"/>
          <p:cNvGraphicFramePr>
            <a:graphicFrameLocks noGrp="1"/>
          </p:cNvGraphicFramePr>
          <p:nvPr/>
        </p:nvGraphicFramePr>
        <p:xfrm>
          <a:off x="649224" y="1837943"/>
          <a:ext cx="10881360" cy="3008376"/>
        </p:xfrm>
        <a:graphic>
          <a:graphicData uri="http://schemas.openxmlformats.org/drawingml/2006/table">
            <a:tbl>
              <a:tblPr firstRow="1" bandRow="1">
                <a:tableStyleId>{5C22544A-7EE6-4342-B048-85BDC9FD1C3A}</a:tableStyleId>
              </a:tblPr>
              <a:tblGrid>
                <a:gridCol w="2990088">
                  <a:extLst>
                    <a:ext uri="{9D8B030D-6E8A-4147-A177-3AD203B41FA5}">
                      <a16:colId xmlns:a16="http://schemas.microsoft.com/office/drawing/2014/main" val="20000"/>
                    </a:ext>
                  </a:extLst>
                </a:gridCol>
                <a:gridCol w="4974336">
                  <a:extLst>
                    <a:ext uri="{9D8B030D-6E8A-4147-A177-3AD203B41FA5}">
                      <a16:colId xmlns:a16="http://schemas.microsoft.com/office/drawing/2014/main" val="20001"/>
                    </a:ext>
                  </a:extLst>
                </a:gridCol>
                <a:gridCol w="2916936">
                  <a:extLst>
                    <a:ext uri="{9D8B030D-6E8A-4147-A177-3AD203B41FA5}">
                      <a16:colId xmlns:a16="http://schemas.microsoft.com/office/drawing/2014/main" val="20002"/>
                    </a:ext>
                  </a:extLst>
                </a:gridCol>
              </a:tblGrid>
              <a:tr h="448056">
                <a:tc>
                  <a:txBody>
                    <a:bodyPr/>
                    <a:lstStyle/>
                    <a:p>
                      <a:pPr>
                        <a:lnSpc>
                          <a:spcPct val="110000"/>
                        </a:lnSpc>
                        <a:defRPr sz="1300" b="1">
                          <a:solidFill>
                            <a:srgbClr val="FFFFFF"/>
                          </a:solidFill>
                          <a:latin typeface="Arial"/>
                        </a:defRPr>
                      </a:pPr>
                      <a:r>
                        <a:t>Resource</a:t>
                      </a:r>
                    </a:p>
                  </a:txBody>
                  <a:tcPr marL="128016" marR="128016" marT="109728" marB="109728" anchor="ctr">
                    <a:solidFill>
                      <a:srgbClr val="215C49"/>
                    </a:solidFill>
                  </a:tcPr>
                </a:tc>
                <a:tc>
                  <a:txBody>
                    <a:bodyPr/>
                    <a:lstStyle/>
                    <a:p>
                      <a:pPr>
                        <a:lnSpc>
                          <a:spcPct val="110000"/>
                        </a:lnSpc>
                        <a:defRPr sz="1300" b="1">
                          <a:solidFill>
                            <a:srgbClr val="FFFFFF"/>
                          </a:solidFill>
                          <a:latin typeface="Arial"/>
                        </a:defRPr>
                      </a:pPr>
                      <a:r>
                        <a:t>How this project uses it</a:t>
                      </a:r>
                    </a:p>
                  </a:txBody>
                  <a:tcPr marL="128016" marR="128016" marT="109728" marB="109728" anchor="ctr">
                    <a:solidFill>
                      <a:srgbClr val="215C49"/>
                    </a:solidFill>
                  </a:tcPr>
                </a:tc>
                <a:tc>
                  <a:txBody>
                    <a:bodyPr/>
                    <a:lstStyle/>
                    <a:p>
                      <a:pPr>
                        <a:lnSpc>
                          <a:spcPct val="110000"/>
                        </a:lnSpc>
                        <a:defRPr sz="1300" b="1">
                          <a:solidFill>
                            <a:srgbClr val="FFFFFF"/>
                          </a:solidFill>
                          <a:latin typeface="Arial"/>
                        </a:defRPr>
                      </a:pPr>
                      <a:r>
                        <a:t>Licence</a:t>
                      </a:r>
                    </a:p>
                  </a:txBody>
                  <a:tcPr marL="128016" marR="128016" marT="109728" marB="109728" anchor="ctr">
                    <a:solidFill>
                      <a:srgbClr val="215C49"/>
                    </a:solidFill>
                  </a:tcPr>
                </a:tc>
                <a:extLst>
                  <a:ext uri="{0D108BD9-81ED-4DB2-BD59-A6C34878D82A}">
                    <a16:rowId xmlns:a16="http://schemas.microsoft.com/office/drawing/2014/main" val="10000"/>
                  </a:ext>
                </a:extLst>
              </a:tr>
              <a:tr h="512064">
                <a:tc>
                  <a:txBody>
                    <a:bodyPr/>
                    <a:lstStyle/>
                    <a:p>
                      <a:pPr>
                        <a:lnSpc>
                          <a:spcPct val="110000"/>
                        </a:lnSpc>
                        <a:defRPr sz="1600" b="0">
                          <a:solidFill>
                            <a:srgbClr val="233D33"/>
                          </a:solidFill>
                          <a:latin typeface="Arial"/>
                        </a:defRPr>
                      </a:pPr>
                      <a:r>
                        <a:t>UCI handwritten digits</a:t>
                      </a:r>
                    </a:p>
                  </a:txBody>
                  <a:tcPr marL="128016" marR="128016" marT="109728" marB="109728" anchor="ctr">
                    <a:solidFill>
                      <a:srgbClr val="FFFFFF"/>
                    </a:solidFill>
                  </a:tcPr>
                </a:tc>
                <a:tc>
                  <a:txBody>
                    <a:bodyPr/>
                    <a:lstStyle/>
                    <a:p>
                      <a:pPr>
                        <a:lnSpc>
                          <a:spcPct val="110000"/>
                        </a:lnSpc>
                        <a:defRPr sz="1600" b="0">
                          <a:solidFill>
                            <a:srgbClr val="233D33"/>
                          </a:solidFill>
                          <a:latin typeface="Arial"/>
                        </a:defRPr>
                      </a:pPr>
                      <a:r>
                        <a:t>Model fit/test; 10 optional digit cards</a:t>
                      </a:r>
                    </a:p>
                  </a:txBody>
                  <a:tcPr marL="128016" marR="128016" marT="109728" marB="109728" anchor="ctr">
                    <a:solidFill>
                      <a:srgbClr val="FFFFFF"/>
                    </a:solidFill>
                  </a:tcPr>
                </a:tc>
                <a:tc>
                  <a:txBody>
                    <a:bodyPr/>
                    <a:lstStyle/>
                    <a:p>
                      <a:pPr>
                        <a:lnSpc>
                          <a:spcPct val="110000"/>
                        </a:lnSpc>
                        <a:defRPr sz="1600" b="0">
                          <a:solidFill>
                            <a:srgbClr val="233D33"/>
                          </a:solidFill>
                          <a:latin typeface="Arial"/>
                        </a:defRPr>
                      </a:pPr>
                      <a:r>
                        <a:t>CC BY 4.0</a:t>
                      </a:r>
                    </a:p>
                  </a:txBody>
                  <a:tcPr marL="128016" marR="128016" marT="109728" marB="109728" anchor="ctr">
                    <a:solidFill>
                      <a:srgbClr val="FFFFFF"/>
                    </a:solidFill>
                  </a:tcPr>
                </a:tc>
                <a:extLst>
                  <a:ext uri="{0D108BD9-81ED-4DB2-BD59-A6C34878D82A}">
                    <a16:rowId xmlns:a16="http://schemas.microsoft.com/office/drawing/2014/main" val="10001"/>
                  </a:ext>
                </a:extLst>
              </a:tr>
              <a:tr h="512064">
                <a:tc>
                  <a:txBody>
                    <a:bodyPr/>
                    <a:lstStyle/>
                    <a:p>
                      <a:pPr>
                        <a:lnSpc>
                          <a:spcPct val="110000"/>
                        </a:lnSpc>
                        <a:defRPr sz="1600" b="0">
                          <a:solidFill>
                            <a:srgbClr val="233D33"/>
                          </a:solidFill>
                          <a:latin typeface="Arial"/>
                        </a:defRPr>
                      </a:pPr>
                      <a:r>
                        <a:t>geoBoundaries IND ADM2</a:t>
                      </a:r>
                    </a:p>
                  </a:txBody>
                  <a:tcPr marL="128016" marR="128016" marT="109728" marB="109728" anchor="ctr">
                    <a:solidFill>
                      <a:srgbClr val="E8EDDF"/>
                    </a:solidFill>
                  </a:tcPr>
                </a:tc>
                <a:tc>
                  <a:txBody>
                    <a:bodyPr/>
                    <a:lstStyle/>
                    <a:p>
                      <a:pPr>
                        <a:lnSpc>
                          <a:spcPct val="110000"/>
                        </a:lnSpc>
                        <a:defRPr sz="1600" b="0">
                          <a:solidFill>
                            <a:srgbClr val="233D33"/>
                          </a:solidFill>
                          <a:latin typeface="Arial"/>
                        </a:defRPr>
                      </a:pPr>
                      <a:r>
                        <a:t>Extracted district geometry and map</a:t>
                      </a:r>
                    </a:p>
                  </a:txBody>
                  <a:tcPr marL="128016" marR="128016" marT="109728" marB="109728" anchor="ctr">
                    <a:solidFill>
                      <a:srgbClr val="E8EDDF"/>
                    </a:solidFill>
                  </a:tcPr>
                </a:tc>
                <a:tc>
                  <a:txBody>
                    <a:bodyPr/>
                    <a:lstStyle/>
                    <a:p>
                      <a:pPr>
                        <a:lnSpc>
                          <a:spcPct val="110000"/>
                        </a:lnSpc>
                        <a:defRPr sz="1600" b="0">
                          <a:solidFill>
                            <a:srgbClr val="233D33"/>
                          </a:solidFill>
                          <a:latin typeface="Arial"/>
                        </a:defRPr>
                      </a:pPr>
                      <a:r>
                        <a:t>ODbL 1.0</a:t>
                      </a:r>
                    </a:p>
                  </a:txBody>
                  <a:tcPr marL="128016" marR="128016" marT="109728" marB="109728" anchor="ctr">
                    <a:solidFill>
                      <a:srgbClr val="E8EDDF"/>
                    </a:solidFill>
                  </a:tcPr>
                </a:tc>
                <a:extLst>
                  <a:ext uri="{0D108BD9-81ED-4DB2-BD59-A6C34878D82A}">
                    <a16:rowId xmlns:a16="http://schemas.microsoft.com/office/drawing/2014/main" val="10002"/>
                  </a:ext>
                </a:extLst>
              </a:tr>
              <a:tr h="512064">
                <a:tc>
                  <a:txBody>
                    <a:bodyPr/>
                    <a:lstStyle/>
                    <a:p>
                      <a:pPr>
                        <a:lnSpc>
                          <a:spcPct val="110000"/>
                        </a:lnSpc>
                        <a:defRPr sz="1600" b="0">
                          <a:solidFill>
                            <a:srgbClr val="233D33"/>
                          </a:solidFill>
                          <a:latin typeface="Arial"/>
                        </a:defRPr>
                      </a:pPr>
                      <a:r>
                        <a:t>Twemoji graphics</a:t>
                      </a:r>
                    </a:p>
                  </a:txBody>
                  <a:tcPr marL="128016" marR="128016" marT="109728" marB="109728" anchor="ctr">
                    <a:solidFill>
                      <a:srgbClr val="FFFFFF"/>
                    </a:solidFill>
                  </a:tcPr>
                </a:tc>
                <a:tc>
                  <a:txBody>
                    <a:bodyPr/>
                    <a:lstStyle/>
                    <a:p>
                      <a:pPr>
                        <a:lnSpc>
                          <a:spcPct val="110000"/>
                        </a:lnSpc>
                        <a:defRPr sz="1600" b="0">
                          <a:solidFill>
                            <a:srgbClr val="233D33"/>
                          </a:solidFill>
                          <a:latin typeface="Arial"/>
                        </a:defRPr>
                      </a:pPr>
                      <a:r>
                        <a:t>Apple, banana, soap and water SVGs</a:t>
                      </a:r>
                    </a:p>
                  </a:txBody>
                  <a:tcPr marL="128016" marR="128016" marT="109728" marB="109728" anchor="ctr">
                    <a:solidFill>
                      <a:srgbClr val="FFFFFF"/>
                    </a:solidFill>
                  </a:tcPr>
                </a:tc>
                <a:tc>
                  <a:txBody>
                    <a:bodyPr/>
                    <a:lstStyle/>
                    <a:p>
                      <a:pPr>
                        <a:lnSpc>
                          <a:spcPct val="110000"/>
                        </a:lnSpc>
                        <a:defRPr sz="1600" b="0">
                          <a:solidFill>
                            <a:srgbClr val="233D33"/>
                          </a:solidFill>
                          <a:latin typeface="Arial"/>
                        </a:defRPr>
                      </a:pPr>
                      <a:r>
                        <a:t>CC BY 4.0</a:t>
                      </a:r>
                    </a:p>
                  </a:txBody>
                  <a:tcPr marL="128016" marR="128016" marT="109728" marB="109728" anchor="ctr">
                    <a:solidFill>
                      <a:srgbClr val="FFFFFF"/>
                    </a:solidFill>
                  </a:tcPr>
                </a:tc>
                <a:extLst>
                  <a:ext uri="{0D108BD9-81ED-4DB2-BD59-A6C34878D82A}">
                    <a16:rowId xmlns:a16="http://schemas.microsoft.com/office/drawing/2014/main" val="10003"/>
                  </a:ext>
                </a:extLst>
              </a:tr>
              <a:tr h="512064">
                <a:tc>
                  <a:txBody>
                    <a:bodyPr/>
                    <a:lstStyle/>
                    <a:p>
                      <a:pPr>
                        <a:lnSpc>
                          <a:spcPct val="110000"/>
                        </a:lnSpc>
                        <a:defRPr sz="1600" b="0">
                          <a:solidFill>
                            <a:srgbClr val="233D33"/>
                          </a:solidFill>
                          <a:latin typeface="Arial"/>
                        </a:defRPr>
                      </a:pPr>
                      <a:r>
                        <a:t>scikit-learn 1.6.1</a:t>
                      </a:r>
                    </a:p>
                  </a:txBody>
                  <a:tcPr marL="128016" marR="128016" marT="109728" marB="109728" anchor="ctr">
                    <a:solidFill>
                      <a:srgbClr val="E8EDDF"/>
                    </a:solidFill>
                  </a:tcPr>
                </a:tc>
                <a:tc>
                  <a:txBody>
                    <a:bodyPr/>
                    <a:lstStyle/>
                    <a:p>
                      <a:pPr>
                        <a:lnSpc>
                          <a:spcPct val="110000"/>
                        </a:lnSpc>
                        <a:defRPr sz="1600" b="0">
                          <a:solidFill>
                            <a:srgbClr val="233D33"/>
                          </a:solidFill>
                          <a:latin typeface="Arial"/>
                        </a:defRPr>
                      </a:pPr>
                      <a:r>
                        <a:t>Executed 3-NN reference implementation</a:t>
                      </a:r>
                    </a:p>
                  </a:txBody>
                  <a:tcPr marL="128016" marR="128016" marT="109728" marB="109728" anchor="ctr">
                    <a:solidFill>
                      <a:srgbClr val="E8EDDF"/>
                    </a:solidFill>
                  </a:tcPr>
                </a:tc>
                <a:tc>
                  <a:txBody>
                    <a:bodyPr/>
                    <a:lstStyle/>
                    <a:p>
                      <a:pPr>
                        <a:lnSpc>
                          <a:spcPct val="110000"/>
                        </a:lnSpc>
                        <a:defRPr sz="1600" b="0">
                          <a:solidFill>
                            <a:srgbClr val="233D33"/>
                          </a:solidFill>
                          <a:latin typeface="Arial"/>
                        </a:defRPr>
                      </a:pPr>
                      <a:r>
                        <a:t>BSD-3-Clause</a:t>
                      </a:r>
                    </a:p>
                  </a:txBody>
                  <a:tcPr marL="128016" marR="128016" marT="109728" marB="109728" anchor="ctr">
                    <a:solidFill>
                      <a:srgbClr val="E8EDDF"/>
                    </a:solidFill>
                  </a:tcPr>
                </a:tc>
                <a:extLst>
                  <a:ext uri="{0D108BD9-81ED-4DB2-BD59-A6C34878D82A}">
                    <a16:rowId xmlns:a16="http://schemas.microsoft.com/office/drawing/2014/main" val="10004"/>
                  </a:ext>
                </a:extLst>
              </a:tr>
              <a:tr h="512064">
                <a:tc>
                  <a:txBody>
                    <a:bodyPr/>
                    <a:lstStyle/>
                    <a:p>
                      <a:pPr>
                        <a:lnSpc>
                          <a:spcPct val="110000"/>
                        </a:lnSpc>
                        <a:defRPr sz="1600" b="0">
                          <a:solidFill>
                            <a:srgbClr val="233D33"/>
                          </a:solidFill>
                          <a:latin typeface="Arial"/>
                        </a:defRPr>
                      </a:pPr>
                      <a:r>
                        <a:t>Noto Sans Kannada</a:t>
                      </a:r>
                    </a:p>
                  </a:txBody>
                  <a:tcPr marL="128016" marR="128016" marT="109728" marB="109728" anchor="ctr">
                    <a:solidFill>
                      <a:srgbClr val="FFFFFF"/>
                    </a:solidFill>
                  </a:tcPr>
                </a:tc>
                <a:tc>
                  <a:txBody>
                    <a:bodyPr/>
                    <a:lstStyle/>
                    <a:p>
                      <a:pPr>
                        <a:lnSpc>
                          <a:spcPct val="110000"/>
                        </a:lnSpc>
                        <a:defRPr sz="1600" b="0">
                          <a:solidFill>
                            <a:srgbClr val="233D33"/>
                          </a:solidFill>
                          <a:latin typeface="Arial"/>
                        </a:defRPr>
                      </a:pPr>
                      <a:r>
                        <a:t>Bundled Kannada font</a:t>
                      </a:r>
                    </a:p>
                  </a:txBody>
                  <a:tcPr marL="128016" marR="128016" marT="109728" marB="109728" anchor="ctr">
                    <a:solidFill>
                      <a:srgbClr val="FFFFFF"/>
                    </a:solidFill>
                  </a:tcPr>
                </a:tc>
                <a:tc>
                  <a:txBody>
                    <a:bodyPr/>
                    <a:lstStyle/>
                    <a:p>
                      <a:pPr>
                        <a:lnSpc>
                          <a:spcPct val="110000"/>
                        </a:lnSpc>
                        <a:defRPr sz="1600" b="0">
                          <a:solidFill>
                            <a:srgbClr val="233D33"/>
                          </a:solidFill>
                          <a:latin typeface="Arial"/>
                        </a:defRPr>
                      </a:pPr>
                      <a:r>
                        <a:t>SIL OFL 1.1</a:t>
                      </a:r>
                    </a:p>
                  </a:txBody>
                  <a:tcPr marL="128016" marR="128016" marT="109728" marB="109728" anchor="ctr">
                    <a:solidFill>
                      <a:srgbClr val="FFFFFF"/>
                    </a:solidFill>
                  </a:tcPr>
                </a:tc>
                <a:extLst>
                  <a:ext uri="{0D108BD9-81ED-4DB2-BD59-A6C34878D82A}">
                    <a16:rowId xmlns:a16="http://schemas.microsoft.com/office/drawing/2014/main" val="10005"/>
                  </a:ext>
                </a:extLst>
              </a:tr>
            </a:tbl>
          </a:graphicData>
        </a:graphic>
      </p:graphicFrame>
      <p:sp>
        <p:nvSpPr>
          <p:cNvPr id="10" name="Rounded Rectangle 9"/>
          <p:cNvSpPr/>
          <p:nvPr/>
        </p:nvSpPr>
        <p:spPr>
          <a:xfrm>
            <a:off x="676656" y="5129784"/>
            <a:ext cx="10872216" cy="640080"/>
          </a:xfrm>
          <a:prstGeom prst="roundRect">
            <a:avLst>
              <a:gd name="adj" fmla="val 12000"/>
            </a:avLst>
          </a:prstGeom>
          <a:solidFill>
            <a:srgbClr val="F3EB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868680" y="5321808"/>
            <a:ext cx="10469880" cy="283464"/>
          </a:xfrm>
          <a:prstGeom prst="rect">
            <a:avLst/>
          </a:prstGeom>
          <a:noFill/>
          <a:effectLst/>
        </p:spPr>
        <p:txBody>
          <a:bodyPr wrap="square" lIns="0" tIns="0" rIns="0" bIns="0" anchor="t">
            <a:spAutoFit/>
          </a:bodyPr>
          <a:lstStyle/>
          <a:p>
            <a:pPr algn="l">
              <a:lnSpc>
                <a:spcPct val="112000"/>
              </a:lnSpc>
              <a:spcBef>
                <a:spcPts val="0"/>
              </a:spcBef>
              <a:spcAft>
                <a:spcPts val="500"/>
              </a:spcAft>
              <a:defRPr sz="1800" b="1">
                <a:solidFill>
                  <a:srgbClr val="A25436"/>
                </a:solidFill>
                <a:latin typeface="Arial"/>
              </a:defRPr>
            </a:pPr>
            <a:r>
              <a:t>IndicTrans2: documented as an optional model—not downloaded, executed, or integrated.</a:t>
            </a:r>
          </a:p>
        </p:txBody>
      </p:sp>
      <p:sp>
        <p:nvSpPr>
          <p:cNvPr id="12" name="TextBox 11"/>
          <p:cNvSpPr txBox="1"/>
          <p:nvPr/>
        </p:nvSpPr>
        <p:spPr>
          <a:xfrm>
            <a:off x="731520" y="5861304"/>
            <a:ext cx="10789920" cy="274320"/>
          </a:xfrm>
          <a:prstGeom prst="rect">
            <a:avLst/>
          </a:prstGeom>
          <a:noFill/>
          <a:effectLst/>
        </p:spPr>
        <p:txBody>
          <a:bodyPr wrap="square" lIns="0" tIns="0" rIns="0" bIns="0" anchor="t">
            <a:spAutoFit/>
          </a:bodyPr>
          <a:lstStyle/>
          <a:p>
            <a:pPr algn="l">
              <a:lnSpc>
                <a:spcPct val="112000"/>
              </a:lnSpc>
              <a:spcBef>
                <a:spcPts val="0"/>
              </a:spcBef>
              <a:spcAft>
                <a:spcPts val="500"/>
              </a:spcAft>
              <a:defRPr sz="1600" b="0">
                <a:solidFill>
                  <a:srgbClr val="5C6B62"/>
                </a:solidFill>
                <a:latin typeface="Arial"/>
              </a:defRPr>
            </a:pPr>
            <a:r>
              <a:t>Finders: UCI • Google Dataset Search • Hugging Face • OGD India • Kaggle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9F5"/>
        </a:solidFill>
        <a:effectLst/>
      </p:bgPr>
    </p:bg>
    <p:spTree>
      <p:nvGrpSpPr>
        <p:cNvPr id="1" name=""/>
        <p:cNvGrpSpPr/>
        <p:nvPr/>
      </p:nvGrpSpPr>
      <p:grpSpPr>
        <a:xfrm>
          <a:off x="0" y="0"/>
          <a:ext cx="0" cy="0"/>
          <a:chOff x="0" y="0"/>
          <a:chExt cx="0" cy="0"/>
        </a:xfrm>
      </p:grpSpPr>
      <p:sp>
        <p:nvSpPr>
          <p:cNvPr id="2" name="TextBox 1"/>
          <p:cNvSpPr txBox="1"/>
          <p:nvPr/>
        </p:nvSpPr>
        <p:spPr>
          <a:xfrm>
            <a:off x="576072" y="310896"/>
            <a:ext cx="7315200" cy="237744"/>
          </a:xfrm>
          <a:prstGeom prst="rect">
            <a:avLst/>
          </a:prstGeom>
          <a:noFill/>
          <a:effectLst/>
        </p:spPr>
        <p:txBody>
          <a:bodyPr wrap="square" lIns="0" tIns="0" rIns="0" bIns="0" anchor="t">
            <a:spAutoFit/>
          </a:bodyPr>
          <a:lstStyle/>
          <a:p>
            <a:pPr algn="l">
              <a:lnSpc>
                <a:spcPct val="112000"/>
              </a:lnSpc>
              <a:spcBef>
                <a:spcPts val="0"/>
              </a:spcBef>
              <a:spcAft>
                <a:spcPts val="500"/>
              </a:spcAft>
              <a:defRPr sz="1000" b="1">
                <a:solidFill>
                  <a:srgbClr val="215C49"/>
                </a:solidFill>
                <a:latin typeface="Arial"/>
              </a:defRPr>
            </a:pPr>
            <a:r>
              <a:t>SAHAYA  /  ENGINEERING</a:t>
            </a:r>
          </a:p>
        </p:txBody>
      </p:sp>
      <p:sp>
        <p:nvSpPr>
          <p:cNvPr id="3" name="TextBox 2"/>
          <p:cNvSpPr txBox="1"/>
          <p:nvPr/>
        </p:nvSpPr>
        <p:spPr>
          <a:xfrm>
            <a:off x="576072" y="749808"/>
            <a:ext cx="11064240" cy="576072"/>
          </a:xfrm>
          <a:prstGeom prst="rect">
            <a:avLst/>
          </a:prstGeom>
          <a:noFill/>
          <a:effectLst/>
        </p:spPr>
        <p:txBody>
          <a:bodyPr wrap="square" lIns="0" tIns="0" rIns="0" bIns="0" anchor="t">
            <a:spAutoFit/>
          </a:bodyPr>
          <a:lstStyle/>
          <a:p>
            <a:pPr algn="l">
              <a:lnSpc>
                <a:spcPct val="112000"/>
              </a:lnSpc>
              <a:spcBef>
                <a:spcPts val="0"/>
              </a:spcBef>
              <a:spcAft>
                <a:spcPts val="500"/>
              </a:spcAft>
              <a:defRPr sz="3100" b="0">
                <a:solidFill>
                  <a:srgbClr val="233D33"/>
                </a:solidFill>
                <a:latin typeface="Georgia"/>
              </a:defRPr>
            </a:pPr>
            <a:r>
              <a:t>A transparent model: three nearest neighbours</a:t>
            </a:r>
          </a:p>
        </p:txBody>
      </p:sp>
      <p:sp>
        <p:nvSpPr>
          <p:cNvPr id="4" name="TextBox 3"/>
          <p:cNvSpPr txBox="1"/>
          <p:nvPr/>
        </p:nvSpPr>
        <p:spPr>
          <a:xfrm>
            <a:off x="594360" y="1371600"/>
            <a:ext cx="10972800" cy="384048"/>
          </a:xfrm>
          <a:prstGeom prst="rect">
            <a:avLst/>
          </a:prstGeom>
          <a:noFill/>
          <a:effectLst/>
        </p:spPr>
        <p:txBody>
          <a:bodyPr wrap="square" lIns="0" tIns="0" rIns="0" bIns="0" anchor="t">
            <a:spAutoFit/>
          </a:bodyPr>
          <a:lstStyle/>
          <a:p>
            <a:pPr algn="l">
              <a:lnSpc>
                <a:spcPct val="112000"/>
              </a:lnSpc>
              <a:spcBef>
                <a:spcPts val="0"/>
              </a:spcBef>
              <a:spcAft>
                <a:spcPts val="500"/>
              </a:spcAft>
              <a:defRPr sz="1600" b="0">
                <a:solidFill>
                  <a:srgbClr val="5C6B62"/>
                </a:solidFill>
                <a:latin typeface="Arial"/>
              </a:defRPr>
            </a:pPr>
            <a:r>
              <a:t>Classifies repository digit images—not learners, disability, or learning progress.</a:t>
            </a:r>
          </a:p>
        </p:txBody>
      </p:sp>
      <p:cxnSp>
        <p:nvCxnSpPr>
          <p:cNvPr id="5" name="Connector 4"/>
          <p:cNvCxnSpPr/>
          <p:nvPr/>
        </p:nvCxnSpPr>
        <p:spPr>
          <a:xfrm>
            <a:off x="585216" y="6373368"/>
            <a:ext cx="11018520" cy="0"/>
          </a:xfrm>
          <a:prstGeom prst="line">
            <a:avLst/>
          </a:prstGeom>
          <a:ln w="12700">
            <a:solidFill>
              <a:srgbClr val="DCE4DA"/>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85216" y="6419088"/>
            <a:ext cx="10972800" cy="164592"/>
          </a:xfrm>
          <a:prstGeom prst="rect">
            <a:avLst/>
          </a:prstGeom>
          <a:noFill/>
          <a:effectLst/>
        </p:spPr>
        <p:txBody>
          <a:bodyPr wrap="square" lIns="0" tIns="0" rIns="0" bIns="0" anchor="t">
            <a:spAutoFit/>
          </a:bodyPr>
          <a:lstStyle/>
          <a:p>
            <a:pPr algn="l">
              <a:lnSpc>
                <a:spcPct val="112000"/>
              </a:lnSpc>
              <a:spcBef>
                <a:spcPts val="0"/>
              </a:spcBef>
              <a:spcAft>
                <a:spcPts val="500"/>
              </a:spcAft>
              <a:defRPr sz="800" b="0">
                <a:solidFill>
                  <a:srgbClr val="5C6B62"/>
                </a:solidFill>
                <a:latin typeface="Arial"/>
              </a:defRPr>
            </a:pPr>
            <a:r>
              <a:t>Report Ch. 9; docs/MODEL_CARD.md; UCI test row 3 used as the illustrated example</a:t>
            </a:r>
          </a:p>
        </p:txBody>
      </p:sp>
      <p:sp>
        <p:nvSpPr>
          <p:cNvPr id="7" name="TextBox 6"/>
          <p:cNvSpPr txBox="1"/>
          <p:nvPr/>
        </p:nvSpPr>
        <p:spPr>
          <a:xfrm>
            <a:off x="585216" y="6638544"/>
            <a:ext cx="10607040" cy="173736"/>
          </a:xfrm>
          <a:prstGeom prst="rect">
            <a:avLst/>
          </a:prstGeom>
          <a:noFill/>
          <a:effectLst/>
        </p:spPr>
        <p:txBody>
          <a:bodyPr wrap="square" lIns="0" tIns="0" rIns="0" bIns="0" anchor="t">
            <a:spAutoFit/>
          </a:bodyPr>
          <a:lstStyle/>
          <a:p>
            <a:pPr algn="l">
              <a:lnSpc>
                <a:spcPct val="112000"/>
              </a:lnSpc>
              <a:spcBef>
                <a:spcPts val="0"/>
              </a:spcBef>
              <a:spcAft>
                <a:spcPts val="500"/>
              </a:spcAft>
              <a:defRPr sz="900" b="1">
                <a:solidFill>
                  <a:srgbClr val="215C49"/>
                </a:solidFill>
                <a:latin typeface="Arial"/>
              </a:defRPr>
            </a:pPr>
            <a:r>
              <a:t>Dr. Lokesh M R  |  Professor, ISE  |  AJIET, Mangaluru</a:t>
            </a:r>
          </a:p>
        </p:txBody>
      </p:sp>
      <p:sp>
        <p:nvSpPr>
          <p:cNvPr id="8" name="TextBox 7"/>
          <p:cNvSpPr txBox="1"/>
          <p:nvPr/>
        </p:nvSpPr>
        <p:spPr>
          <a:xfrm>
            <a:off x="11201400" y="6620256"/>
            <a:ext cx="393192" cy="210312"/>
          </a:xfrm>
          <a:prstGeom prst="rect">
            <a:avLst/>
          </a:prstGeom>
          <a:noFill/>
          <a:effectLst/>
        </p:spPr>
        <p:txBody>
          <a:bodyPr wrap="square" lIns="0" tIns="0" rIns="0" bIns="0" anchor="t">
            <a:spAutoFit/>
          </a:bodyPr>
          <a:lstStyle/>
          <a:p>
            <a:pPr algn="r">
              <a:lnSpc>
                <a:spcPct val="112000"/>
              </a:lnSpc>
              <a:spcBef>
                <a:spcPts val="0"/>
              </a:spcBef>
              <a:spcAft>
                <a:spcPts val="500"/>
              </a:spcAft>
              <a:defRPr sz="1000" b="1">
                <a:solidFill>
                  <a:srgbClr val="215C49"/>
                </a:solidFill>
                <a:latin typeface="Arial"/>
              </a:defRPr>
            </a:pPr>
            <a:r>
              <a:t>13</a:t>
            </a:r>
          </a:p>
        </p:txBody>
      </p:sp>
      <p:sp>
        <p:nvSpPr>
          <p:cNvPr id="9" name="Rounded Rectangle 8"/>
          <p:cNvSpPr/>
          <p:nvPr/>
        </p:nvSpPr>
        <p:spPr>
          <a:xfrm>
            <a:off x="658368" y="2029968"/>
            <a:ext cx="2194560" cy="2990088"/>
          </a:xfrm>
          <a:prstGeom prst="roundRect">
            <a:avLst>
              <a:gd name="adj" fmla="val 12000"/>
            </a:avLst>
          </a:prstGeom>
          <a:solidFill>
            <a:srgbClr val="FFFFFF"/>
          </a:solidFill>
          <a:ln w="10160">
            <a:solidFill>
              <a:srgbClr val="DCE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pic>
        <p:nvPicPr>
          <p:cNvPr id="10" name="Picture 9" descr="digit-example.png"/>
          <p:cNvPicPr>
            <a:picLocks noChangeAspect="1"/>
          </p:cNvPicPr>
          <p:nvPr/>
        </p:nvPicPr>
        <p:blipFill>
          <a:blip r:embed="rId3"/>
          <a:stretch>
            <a:fillRect/>
          </a:stretch>
        </p:blipFill>
        <p:spPr>
          <a:xfrm>
            <a:off x="896112" y="2258568"/>
            <a:ext cx="1728216" cy="1728216"/>
          </a:xfrm>
          <a:prstGeom prst="rect">
            <a:avLst/>
          </a:prstGeom>
          <a:effectLst/>
        </p:spPr>
      </p:pic>
      <p:sp>
        <p:nvSpPr>
          <p:cNvPr id="11" name="TextBox 10"/>
          <p:cNvSpPr txBox="1"/>
          <p:nvPr/>
        </p:nvSpPr>
        <p:spPr>
          <a:xfrm>
            <a:off x="850392" y="4187952"/>
            <a:ext cx="1819656" cy="594360"/>
          </a:xfrm>
          <a:prstGeom prst="rect">
            <a:avLst/>
          </a:prstGeom>
          <a:noFill/>
          <a:effectLst/>
        </p:spPr>
        <p:txBody>
          <a:bodyPr wrap="square" lIns="0" tIns="0" rIns="0" bIns="0" anchor="t">
            <a:spAutoFit/>
          </a:bodyPr>
          <a:lstStyle/>
          <a:p>
            <a:pPr algn="ctr">
              <a:lnSpc>
                <a:spcPct val="112000"/>
              </a:lnSpc>
              <a:spcBef>
                <a:spcPts val="0"/>
              </a:spcBef>
              <a:spcAft>
                <a:spcPts val="500"/>
              </a:spcAft>
              <a:defRPr sz="1700" b="0">
                <a:solidFill>
                  <a:srgbClr val="233D33"/>
                </a:solidFill>
                <a:latin typeface="Arial"/>
              </a:defRPr>
            </a:pPr>
            <a:r>
              <a:t>8 × 8 image</a:t>
            </a:r>
          </a:p>
          <a:p>
            <a:pPr algn="ctr">
              <a:lnSpc>
                <a:spcPct val="112000"/>
              </a:lnSpc>
              <a:spcBef>
                <a:spcPts val="0"/>
              </a:spcBef>
              <a:spcAft>
                <a:spcPts val="500"/>
              </a:spcAft>
              <a:defRPr sz="1700" b="0">
                <a:solidFill>
                  <a:srgbClr val="233D33"/>
                </a:solidFill>
                <a:latin typeface="Arial"/>
              </a:defRPr>
            </a:pPr>
            <a:r>
              <a:t>UCI example: “3”</a:t>
            </a:r>
          </a:p>
        </p:txBody>
      </p:sp>
      <p:sp>
        <p:nvSpPr>
          <p:cNvPr id="12" name="Right Arrow 11"/>
          <p:cNvSpPr/>
          <p:nvPr/>
        </p:nvSpPr>
        <p:spPr>
          <a:xfrm>
            <a:off x="3072384" y="3227832"/>
            <a:ext cx="384048" cy="182880"/>
          </a:xfrm>
          <a:prstGeom prst="rightArrow">
            <a:avLst/>
          </a:prstGeom>
          <a:solidFill>
            <a:srgbClr val="215C4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3" name="Rounded Rectangle 12"/>
          <p:cNvSpPr/>
          <p:nvPr/>
        </p:nvSpPr>
        <p:spPr>
          <a:xfrm>
            <a:off x="3675887" y="2523744"/>
            <a:ext cx="2084831" cy="1901952"/>
          </a:xfrm>
          <a:prstGeom prst="roundRect">
            <a:avLst>
              <a:gd name="adj" fmla="val 12000"/>
            </a:avLst>
          </a:prstGeom>
          <a:solidFill>
            <a:srgbClr val="E8ED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3867912" y="2743200"/>
            <a:ext cx="1709928" cy="530352"/>
          </a:xfrm>
          <a:prstGeom prst="rect">
            <a:avLst/>
          </a:prstGeom>
          <a:noFill/>
          <a:effectLst/>
        </p:spPr>
        <p:txBody>
          <a:bodyPr wrap="square" lIns="0" tIns="0" rIns="0" bIns="0" anchor="t">
            <a:spAutoFit/>
          </a:bodyPr>
          <a:lstStyle/>
          <a:p>
            <a:pPr algn="l">
              <a:lnSpc>
                <a:spcPct val="112000"/>
              </a:lnSpc>
              <a:spcBef>
                <a:spcPts val="0"/>
              </a:spcBef>
              <a:spcAft>
                <a:spcPts val="500"/>
              </a:spcAft>
              <a:defRPr sz="2700" b="1">
                <a:solidFill>
                  <a:srgbClr val="215C49"/>
                </a:solidFill>
                <a:latin typeface="Arial"/>
              </a:defRPr>
            </a:pPr>
            <a:r>
              <a:t>64 values</a:t>
            </a:r>
          </a:p>
        </p:txBody>
      </p:sp>
      <p:sp>
        <p:nvSpPr>
          <p:cNvPr id="15" name="TextBox 14"/>
          <p:cNvSpPr txBox="1"/>
          <p:nvPr/>
        </p:nvSpPr>
        <p:spPr>
          <a:xfrm>
            <a:off x="3877056" y="3474720"/>
            <a:ext cx="1673352" cy="685800"/>
          </a:xfrm>
          <a:prstGeom prst="rect">
            <a:avLst/>
          </a:prstGeom>
          <a:noFill/>
          <a:effectLst/>
        </p:spPr>
        <p:txBody>
          <a:bodyPr wrap="square" lIns="0" tIns="0" rIns="0" bIns="0" anchor="t">
            <a:spAutoFit/>
          </a:bodyPr>
          <a:lstStyle/>
          <a:p>
            <a:pPr algn="l">
              <a:lnSpc>
                <a:spcPct val="112000"/>
              </a:lnSpc>
              <a:spcBef>
                <a:spcPts val="0"/>
              </a:spcBef>
              <a:spcAft>
                <a:spcPts val="500"/>
              </a:spcAft>
              <a:defRPr sz="1700" b="0">
                <a:solidFill>
                  <a:srgbClr val="5C6B62"/>
                </a:solidFill>
                <a:latin typeface="Arial"/>
              </a:defRPr>
            </a:pPr>
            <a:r>
              <a:t>Intensity range</a:t>
            </a:r>
          </a:p>
          <a:p>
            <a:pPr algn="l">
              <a:lnSpc>
                <a:spcPct val="112000"/>
              </a:lnSpc>
              <a:spcBef>
                <a:spcPts val="0"/>
              </a:spcBef>
              <a:spcAft>
                <a:spcPts val="500"/>
              </a:spcAft>
              <a:defRPr sz="1700" b="0">
                <a:solidFill>
                  <a:srgbClr val="5C6B62"/>
                </a:solidFill>
                <a:latin typeface="Arial"/>
              </a:defRPr>
            </a:pPr>
            <a:r>
              <a:t>0 to 16</a:t>
            </a:r>
          </a:p>
        </p:txBody>
      </p:sp>
      <p:sp>
        <p:nvSpPr>
          <p:cNvPr id="16" name="Right Arrow 15"/>
          <p:cNvSpPr/>
          <p:nvPr/>
        </p:nvSpPr>
        <p:spPr>
          <a:xfrm>
            <a:off x="5971032" y="3227832"/>
            <a:ext cx="384048" cy="182880"/>
          </a:xfrm>
          <a:prstGeom prst="rightArrow">
            <a:avLst/>
          </a:prstGeom>
          <a:solidFill>
            <a:srgbClr val="215C4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Rounded Rectangle 16"/>
          <p:cNvSpPr/>
          <p:nvPr/>
        </p:nvSpPr>
        <p:spPr>
          <a:xfrm>
            <a:off x="6547104" y="2523744"/>
            <a:ext cx="2093976" cy="1901952"/>
          </a:xfrm>
          <a:prstGeom prst="roundRect">
            <a:avLst>
              <a:gd name="adj" fmla="val 12000"/>
            </a:avLst>
          </a:prstGeom>
          <a:solidFill>
            <a:srgbClr val="F3EB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757416" y="2743200"/>
            <a:ext cx="1673352" cy="530352"/>
          </a:xfrm>
          <a:prstGeom prst="rect">
            <a:avLst/>
          </a:prstGeom>
          <a:noFill/>
          <a:effectLst/>
        </p:spPr>
        <p:txBody>
          <a:bodyPr wrap="square" lIns="0" tIns="0" rIns="0" bIns="0" anchor="t">
            <a:spAutoFit/>
          </a:bodyPr>
          <a:lstStyle/>
          <a:p>
            <a:pPr algn="l">
              <a:lnSpc>
                <a:spcPct val="112000"/>
              </a:lnSpc>
              <a:spcBef>
                <a:spcPts val="0"/>
              </a:spcBef>
              <a:spcAft>
                <a:spcPts val="500"/>
              </a:spcAft>
              <a:defRPr sz="2700" b="1">
                <a:solidFill>
                  <a:srgbClr val="215C49"/>
                </a:solidFill>
                <a:latin typeface="Arial"/>
              </a:defRPr>
            </a:pPr>
            <a:r>
              <a:t>3-NN</a:t>
            </a:r>
          </a:p>
        </p:txBody>
      </p:sp>
      <p:sp>
        <p:nvSpPr>
          <p:cNvPr id="19" name="TextBox 18"/>
          <p:cNvSpPr txBox="1"/>
          <p:nvPr/>
        </p:nvSpPr>
        <p:spPr>
          <a:xfrm>
            <a:off x="6757416" y="3474720"/>
            <a:ext cx="1673352" cy="685800"/>
          </a:xfrm>
          <a:prstGeom prst="rect">
            <a:avLst/>
          </a:prstGeom>
          <a:noFill/>
          <a:effectLst/>
        </p:spPr>
        <p:txBody>
          <a:bodyPr wrap="square" lIns="0" tIns="0" rIns="0" bIns="0" anchor="t">
            <a:spAutoFit/>
          </a:bodyPr>
          <a:lstStyle/>
          <a:p>
            <a:pPr algn="l">
              <a:lnSpc>
                <a:spcPct val="112000"/>
              </a:lnSpc>
              <a:spcBef>
                <a:spcPts val="0"/>
              </a:spcBef>
              <a:spcAft>
                <a:spcPts val="500"/>
              </a:spcAft>
              <a:defRPr sz="1600" b="0">
                <a:solidFill>
                  <a:srgbClr val="5C6B62"/>
                </a:solidFill>
                <a:latin typeface="Arial"/>
              </a:defRPr>
            </a:pPr>
            <a:r>
              <a:t>Euclidean distance</a:t>
            </a:r>
          </a:p>
          <a:p>
            <a:pPr algn="l">
              <a:lnSpc>
                <a:spcPct val="112000"/>
              </a:lnSpc>
              <a:spcBef>
                <a:spcPts val="0"/>
              </a:spcBef>
              <a:spcAft>
                <a:spcPts val="500"/>
              </a:spcAft>
              <a:defRPr sz="1600" b="0">
                <a:solidFill>
                  <a:srgbClr val="5C6B62"/>
                </a:solidFill>
                <a:latin typeface="Arial"/>
              </a:defRPr>
            </a:pPr>
            <a:r>
              <a:t>Uniform voting</a:t>
            </a:r>
          </a:p>
        </p:txBody>
      </p:sp>
      <p:sp>
        <p:nvSpPr>
          <p:cNvPr id="20" name="Right Arrow 19"/>
          <p:cNvSpPr/>
          <p:nvPr/>
        </p:nvSpPr>
        <p:spPr>
          <a:xfrm>
            <a:off x="8869680" y="3227832"/>
            <a:ext cx="384048" cy="182880"/>
          </a:xfrm>
          <a:prstGeom prst="rightArrow">
            <a:avLst/>
          </a:prstGeom>
          <a:solidFill>
            <a:srgbClr val="215C4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1" name="Rounded Rectangle 20"/>
          <p:cNvSpPr/>
          <p:nvPr/>
        </p:nvSpPr>
        <p:spPr>
          <a:xfrm>
            <a:off x="9436608" y="2523744"/>
            <a:ext cx="2048256" cy="1901952"/>
          </a:xfrm>
          <a:prstGeom prst="roundRect">
            <a:avLst>
              <a:gd name="adj" fmla="val 12000"/>
            </a:avLst>
          </a:prstGeom>
          <a:solidFill>
            <a:srgbClr val="215C4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9637776" y="2743200"/>
            <a:ext cx="1655064" cy="338328"/>
          </a:xfrm>
          <a:prstGeom prst="rect">
            <a:avLst/>
          </a:prstGeom>
          <a:noFill/>
          <a:effectLst/>
        </p:spPr>
        <p:txBody>
          <a:bodyPr wrap="square" lIns="0" tIns="0" rIns="0" bIns="0" anchor="t">
            <a:spAutoFit/>
          </a:bodyPr>
          <a:lstStyle/>
          <a:p>
            <a:pPr algn="l">
              <a:lnSpc>
                <a:spcPct val="112000"/>
              </a:lnSpc>
              <a:spcBef>
                <a:spcPts val="0"/>
              </a:spcBef>
              <a:spcAft>
                <a:spcPts val="500"/>
              </a:spcAft>
              <a:defRPr sz="1300" b="1">
                <a:solidFill>
                  <a:srgbClr val="CEDDC9"/>
                </a:solidFill>
                <a:latin typeface="Arial"/>
              </a:defRPr>
            </a:pPr>
            <a:r>
              <a:t>PREDICTION</a:t>
            </a:r>
          </a:p>
        </p:txBody>
      </p:sp>
      <p:sp>
        <p:nvSpPr>
          <p:cNvPr id="23" name="TextBox 22"/>
          <p:cNvSpPr txBox="1"/>
          <p:nvPr/>
        </p:nvSpPr>
        <p:spPr>
          <a:xfrm>
            <a:off x="9628632" y="3227832"/>
            <a:ext cx="1645920" cy="932688"/>
          </a:xfrm>
          <a:prstGeom prst="rect">
            <a:avLst/>
          </a:prstGeom>
          <a:noFill/>
          <a:effectLst/>
        </p:spPr>
        <p:txBody>
          <a:bodyPr wrap="square" lIns="0" tIns="0" rIns="0" bIns="0" anchor="t">
            <a:spAutoFit/>
          </a:bodyPr>
          <a:lstStyle/>
          <a:p>
            <a:pPr algn="l">
              <a:lnSpc>
                <a:spcPct val="112000"/>
              </a:lnSpc>
              <a:spcBef>
                <a:spcPts val="0"/>
              </a:spcBef>
              <a:spcAft>
                <a:spcPts val="500"/>
              </a:spcAft>
              <a:defRPr sz="5100" b="0">
                <a:solidFill>
                  <a:srgbClr val="FFFFFF"/>
                </a:solidFill>
                <a:latin typeface="Georgia"/>
              </a:defRPr>
            </a:pPr>
            <a:r>
              <a:t>3</a:t>
            </a:r>
          </a:p>
        </p:txBody>
      </p:sp>
      <p:sp>
        <p:nvSpPr>
          <p:cNvPr id="24" name="TextBox 23"/>
          <p:cNvSpPr txBox="1"/>
          <p:nvPr/>
        </p:nvSpPr>
        <p:spPr>
          <a:xfrm>
            <a:off x="777240" y="5413248"/>
            <a:ext cx="10698480" cy="621792"/>
          </a:xfrm>
          <a:prstGeom prst="rect">
            <a:avLst/>
          </a:prstGeom>
          <a:noFill/>
          <a:effectLst/>
        </p:spPr>
        <p:txBody>
          <a:bodyPr wrap="square" lIns="0" tIns="0" rIns="0" bIns="0" anchor="t">
            <a:spAutoFit/>
          </a:bodyPr>
          <a:lstStyle/>
          <a:p>
            <a:pPr algn="l">
              <a:lnSpc>
                <a:spcPct val="112000"/>
              </a:lnSpc>
              <a:spcBef>
                <a:spcPts val="0"/>
              </a:spcBef>
              <a:spcAft>
                <a:spcPts val="500"/>
              </a:spcAft>
              <a:defRPr sz="2000" b="0">
                <a:solidFill>
                  <a:srgbClr val="233D33"/>
                </a:solidFill>
                <a:latin typeface="Arial"/>
              </a:defRPr>
            </a:pPr>
            <a:r>
              <a:t>Python evaluates the full source split. A small JavaScript equivalent runs examples locally in the educator view.</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9F5"/>
        </a:solidFill>
        <a:effectLst/>
      </p:bgPr>
    </p:bg>
    <p:spTree>
      <p:nvGrpSpPr>
        <p:cNvPr id="1" name=""/>
        <p:cNvGrpSpPr/>
        <p:nvPr/>
      </p:nvGrpSpPr>
      <p:grpSpPr>
        <a:xfrm>
          <a:off x="0" y="0"/>
          <a:ext cx="0" cy="0"/>
          <a:chOff x="0" y="0"/>
          <a:chExt cx="0" cy="0"/>
        </a:xfrm>
      </p:grpSpPr>
      <p:sp>
        <p:nvSpPr>
          <p:cNvPr id="2" name="TextBox 1"/>
          <p:cNvSpPr txBox="1"/>
          <p:nvPr/>
        </p:nvSpPr>
        <p:spPr>
          <a:xfrm>
            <a:off x="576072" y="310896"/>
            <a:ext cx="7315200" cy="237744"/>
          </a:xfrm>
          <a:prstGeom prst="rect">
            <a:avLst/>
          </a:prstGeom>
          <a:noFill/>
          <a:effectLst/>
        </p:spPr>
        <p:txBody>
          <a:bodyPr wrap="square" lIns="0" tIns="0" rIns="0" bIns="0" anchor="t">
            <a:spAutoFit/>
          </a:bodyPr>
          <a:lstStyle/>
          <a:p>
            <a:pPr algn="l">
              <a:lnSpc>
                <a:spcPct val="112000"/>
              </a:lnSpc>
              <a:spcBef>
                <a:spcPts val="0"/>
              </a:spcBef>
              <a:spcAft>
                <a:spcPts val="500"/>
              </a:spcAft>
              <a:defRPr sz="1000" b="1">
                <a:solidFill>
                  <a:srgbClr val="215C49"/>
                </a:solidFill>
                <a:latin typeface="Arial"/>
              </a:defRPr>
            </a:pPr>
            <a:r>
              <a:t>SAHAYA  /  EVIDENCE</a:t>
            </a:r>
          </a:p>
        </p:txBody>
      </p:sp>
      <p:sp>
        <p:nvSpPr>
          <p:cNvPr id="3" name="TextBox 2"/>
          <p:cNvSpPr txBox="1"/>
          <p:nvPr/>
        </p:nvSpPr>
        <p:spPr>
          <a:xfrm>
            <a:off x="576072" y="749808"/>
            <a:ext cx="11064240" cy="576072"/>
          </a:xfrm>
          <a:prstGeom prst="rect">
            <a:avLst/>
          </a:prstGeom>
          <a:noFill/>
          <a:effectLst/>
        </p:spPr>
        <p:txBody>
          <a:bodyPr wrap="square" lIns="0" tIns="0" rIns="0" bIns="0" anchor="t">
            <a:spAutoFit/>
          </a:bodyPr>
          <a:lstStyle/>
          <a:p>
            <a:pPr algn="l">
              <a:lnSpc>
                <a:spcPct val="112000"/>
              </a:lnSpc>
              <a:spcBef>
                <a:spcPts val="0"/>
              </a:spcBef>
              <a:spcAft>
                <a:spcPts val="500"/>
              </a:spcAft>
              <a:defRPr sz="3100" b="0">
                <a:solidFill>
                  <a:srgbClr val="233D33"/>
                </a:solidFill>
                <a:latin typeface="Georgia"/>
              </a:defRPr>
            </a:pPr>
            <a:r>
              <a:t>97.83% measures digit recognition.</a:t>
            </a:r>
          </a:p>
        </p:txBody>
      </p:sp>
      <p:sp>
        <p:nvSpPr>
          <p:cNvPr id="4" name="TextBox 3"/>
          <p:cNvSpPr txBox="1"/>
          <p:nvPr/>
        </p:nvSpPr>
        <p:spPr>
          <a:xfrm>
            <a:off x="594360" y="1371600"/>
            <a:ext cx="10972800" cy="384048"/>
          </a:xfrm>
          <a:prstGeom prst="rect">
            <a:avLst/>
          </a:prstGeom>
          <a:noFill/>
          <a:effectLst/>
        </p:spPr>
        <p:txBody>
          <a:bodyPr wrap="square" lIns="0" tIns="0" rIns="0" bIns="0" anchor="t">
            <a:spAutoFit/>
          </a:bodyPr>
          <a:lstStyle/>
          <a:p>
            <a:pPr algn="l">
              <a:lnSpc>
                <a:spcPct val="112000"/>
              </a:lnSpc>
              <a:spcBef>
                <a:spcPts val="0"/>
              </a:spcBef>
              <a:spcAft>
                <a:spcPts val="500"/>
              </a:spcAft>
              <a:defRPr sz="1600" b="0">
                <a:solidFill>
                  <a:srgbClr val="5C6B62"/>
                </a:solidFill>
                <a:latin typeface="Arial"/>
              </a:defRPr>
            </a:pPr>
            <a:r>
              <a:t>It does not measure learner improvement.</a:t>
            </a:r>
          </a:p>
        </p:txBody>
      </p:sp>
      <p:cxnSp>
        <p:nvCxnSpPr>
          <p:cNvPr id="5" name="Connector 4"/>
          <p:cNvCxnSpPr/>
          <p:nvPr/>
        </p:nvCxnSpPr>
        <p:spPr>
          <a:xfrm>
            <a:off x="585216" y="6373368"/>
            <a:ext cx="11018520" cy="0"/>
          </a:xfrm>
          <a:prstGeom prst="line">
            <a:avLst/>
          </a:prstGeom>
          <a:ln w="12700">
            <a:solidFill>
              <a:srgbClr val="DCE4DA"/>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85216" y="6419088"/>
            <a:ext cx="10972800" cy="164592"/>
          </a:xfrm>
          <a:prstGeom prst="rect">
            <a:avLst/>
          </a:prstGeom>
          <a:noFill/>
          <a:effectLst/>
        </p:spPr>
        <p:txBody>
          <a:bodyPr wrap="square" lIns="0" tIns="0" rIns="0" bIns="0" anchor="t">
            <a:spAutoFit/>
          </a:bodyPr>
          <a:lstStyle/>
          <a:p>
            <a:pPr algn="l">
              <a:lnSpc>
                <a:spcPct val="112000"/>
              </a:lnSpc>
              <a:spcBef>
                <a:spcPts val="0"/>
              </a:spcBef>
              <a:spcAft>
                <a:spcPts val="500"/>
              </a:spcAft>
              <a:defRPr sz="800" b="0">
                <a:solidFill>
                  <a:srgbClr val="5C6B62"/>
                </a:solidFill>
                <a:latin typeface="Arial"/>
              </a:defRPr>
            </a:pPr>
            <a:r>
              <a:t>public/data/model-metrics.json; original UCI optdigits.tra / optdigits.tes; report Ch. 9</a:t>
            </a:r>
          </a:p>
        </p:txBody>
      </p:sp>
      <p:sp>
        <p:nvSpPr>
          <p:cNvPr id="7" name="TextBox 6"/>
          <p:cNvSpPr txBox="1"/>
          <p:nvPr/>
        </p:nvSpPr>
        <p:spPr>
          <a:xfrm>
            <a:off x="585216" y="6638544"/>
            <a:ext cx="10607040" cy="173736"/>
          </a:xfrm>
          <a:prstGeom prst="rect">
            <a:avLst/>
          </a:prstGeom>
          <a:noFill/>
          <a:effectLst/>
        </p:spPr>
        <p:txBody>
          <a:bodyPr wrap="square" lIns="0" tIns="0" rIns="0" bIns="0" anchor="t">
            <a:spAutoFit/>
          </a:bodyPr>
          <a:lstStyle/>
          <a:p>
            <a:pPr algn="l">
              <a:lnSpc>
                <a:spcPct val="112000"/>
              </a:lnSpc>
              <a:spcBef>
                <a:spcPts val="0"/>
              </a:spcBef>
              <a:spcAft>
                <a:spcPts val="500"/>
              </a:spcAft>
              <a:defRPr sz="900" b="1">
                <a:solidFill>
                  <a:srgbClr val="215C49"/>
                </a:solidFill>
                <a:latin typeface="Arial"/>
              </a:defRPr>
            </a:pPr>
            <a:r>
              <a:t>Dr. Lokesh M R  |  Professor, ISE  |  AJIET, Mangaluru</a:t>
            </a:r>
          </a:p>
        </p:txBody>
      </p:sp>
      <p:sp>
        <p:nvSpPr>
          <p:cNvPr id="8" name="TextBox 7"/>
          <p:cNvSpPr txBox="1"/>
          <p:nvPr/>
        </p:nvSpPr>
        <p:spPr>
          <a:xfrm>
            <a:off x="11201400" y="6620256"/>
            <a:ext cx="393192" cy="210312"/>
          </a:xfrm>
          <a:prstGeom prst="rect">
            <a:avLst/>
          </a:prstGeom>
          <a:noFill/>
          <a:effectLst/>
        </p:spPr>
        <p:txBody>
          <a:bodyPr wrap="square" lIns="0" tIns="0" rIns="0" bIns="0" anchor="t">
            <a:spAutoFit/>
          </a:bodyPr>
          <a:lstStyle/>
          <a:p>
            <a:pPr algn="r">
              <a:lnSpc>
                <a:spcPct val="112000"/>
              </a:lnSpc>
              <a:spcBef>
                <a:spcPts val="0"/>
              </a:spcBef>
              <a:spcAft>
                <a:spcPts val="500"/>
              </a:spcAft>
              <a:defRPr sz="1000" b="1">
                <a:solidFill>
                  <a:srgbClr val="215C49"/>
                </a:solidFill>
                <a:latin typeface="Arial"/>
              </a:defRPr>
            </a:pPr>
            <a:r>
              <a:t>14</a:t>
            </a:r>
          </a:p>
        </p:txBody>
      </p:sp>
      <p:sp>
        <p:nvSpPr>
          <p:cNvPr id="9" name="TextBox 8"/>
          <p:cNvSpPr txBox="1"/>
          <p:nvPr/>
        </p:nvSpPr>
        <p:spPr>
          <a:xfrm>
            <a:off x="731520" y="1975104"/>
            <a:ext cx="5888736" cy="1280160"/>
          </a:xfrm>
          <a:prstGeom prst="rect">
            <a:avLst/>
          </a:prstGeom>
          <a:noFill/>
          <a:effectLst/>
        </p:spPr>
        <p:txBody>
          <a:bodyPr wrap="square" lIns="0" tIns="0" rIns="0" bIns="0" anchor="t">
            <a:spAutoFit/>
          </a:bodyPr>
          <a:lstStyle/>
          <a:p>
            <a:pPr algn="l">
              <a:lnSpc>
                <a:spcPct val="112000"/>
              </a:lnSpc>
              <a:spcBef>
                <a:spcPts val="0"/>
              </a:spcBef>
              <a:spcAft>
                <a:spcPts val="500"/>
              </a:spcAft>
              <a:defRPr sz="7600" b="0">
                <a:solidFill>
                  <a:srgbClr val="215C49"/>
                </a:solidFill>
                <a:latin typeface="Georgia"/>
              </a:defRPr>
            </a:pPr>
            <a:r>
              <a:t>97.83%</a:t>
            </a:r>
          </a:p>
        </p:txBody>
      </p:sp>
      <p:sp>
        <p:nvSpPr>
          <p:cNvPr id="10" name="TextBox 9"/>
          <p:cNvSpPr txBox="1"/>
          <p:nvPr/>
        </p:nvSpPr>
        <p:spPr>
          <a:xfrm>
            <a:off x="795528" y="3410712"/>
            <a:ext cx="5797296" cy="457200"/>
          </a:xfrm>
          <a:prstGeom prst="rect">
            <a:avLst/>
          </a:prstGeom>
          <a:noFill/>
          <a:effectLst/>
        </p:spPr>
        <p:txBody>
          <a:bodyPr wrap="square" lIns="0" tIns="0" rIns="0" bIns="0" anchor="t">
            <a:spAutoFit/>
          </a:bodyPr>
          <a:lstStyle/>
          <a:p>
            <a:pPr algn="l">
              <a:lnSpc>
                <a:spcPct val="112000"/>
              </a:lnSpc>
              <a:spcBef>
                <a:spcPts val="0"/>
              </a:spcBef>
              <a:spcAft>
                <a:spcPts val="500"/>
              </a:spcAft>
              <a:defRPr sz="2100" b="1">
                <a:solidFill>
                  <a:srgbClr val="233D33"/>
                </a:solidFill>
                <a:latin typeface="Arial"/>
              </a:defRPr>
            </a:pPr>
            <a:r>
              <a:t>1,758 / 1,797 test digits classified correctly</a:t>
            </a:r>
          </a:p>
        </p:txBody>
      </p:sp>
      <p:sp>
        <p:nvSpPr>
          <p:cNvPr id="11" name="Rectangle 10"/>
          <p:cNvSpPr/>
          <p:nvPr/>
        </p:nvSpPr>
        <p:spPr>
          <a:xfrm>
            <a:off x="813816" y="4151376"/>
            <a:ext cx="5532120" cy="228600"/>
          </a:xfrm>
          <a:prstGeom prst="rect">
            <a:avLst/>
          </a:prstGeom>
          <a:solidFill>
            <a:srgbClr val="DCE4D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813816" y="4151376"/>
            <a:ext cx="5412057" cy="228600"/>
          </a:xfrm>
          <a:prstGeom prst="rect">
            <a:avLst/>
          </a:prstGeom>
          <a:solidFill>
            <a:srgbClr val="215C4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3" name="TextBox 12"/>
          <p:cNvSpPr txBox="1"/>
          <p:nvPr/>
        </p:nvSpPr>
        <p:spPr>
          <a:xfrm>
            <a:off x="813816" y="4599432"/>
            <a:ext cx="5559552" cy="502920"/>
          </a:xfrm>
          <a:prstGeom prst="rect">
            <a:avLst/>
          </a:prstGeom>
          <a:noFill/>
          <a:effectLst/>
        </p:spPr>
        <p:txBody>
          <a:bodyPr wrap="square" lIns="0" tIns="0" rIns="0" bIns="0" anchor="t">
            <a:spAutoFit/>
          </a:bodyPr>
          <a:lstStyle/>
          <a:p>
            <a:pPr algn="l">
              <a:lnSpc>
                <a:spcPct val="112000"/>
              </a:lnSpc>
              <a:spcBef>
                <a:spcPts val="0"/>
              </a:spcBef>
              <a:spcAft>
                <a:spcPts val="500"/>
              </a:spcAft>
              <a:defRPr sz="1700" b="0">
                <a:solidFill>
                  <a:srgbClr val="5C6B62"/>
                </a:solidFill>
                <a:latin typeface="Arial"/>
              </a:defRPr>
            </a:pPr>
            <a:r>
              <a:t>39 errors • original fixed split • no test-label tuning</a:t>
            </a:r>
          </a:p>
        </p:txBody>
      </p:sp>
      <p:cxnSp>
        <p:nvCxnSpPr>
          <p:cNvPr id="14" name="Connector 13"/>
          <p:cNvCxnSpPr/>
          <p:nvPr/>
        </p:nvCxnSpPr>
        <p:spPr>
          <a:xfrm>
            <a:off x="6784848" y="2075688"/>
            <a:ext cx="0" cy="3264408"/>
          </a:xfrm>
          <a:prstGeom prst="line">
            <a:avLst/>
          </a:prstGeom>
          <a:ln w="12700">
            <a:solidFill>
              <a:srgbClr val="DCE4DA"/>
            </a:solidFill>
          </a:ln>
          <a:effectLst/>
        </p:spPr>
        <p:style>
          <a:lnRef idx="2">
            <a:schemeClr val="accent1"/>
          </a:lnRef>
          <a:fillRef idx="0">
            <a:schemeClr val="accent1"/>
          </a:fillRef>
          <a:effectRef idx="0">
            <a:schemeClr val="accent1"/>
          </a:effectRef>
          <a:fontRef idx="minor">
            <a:schemeClr val="tx1"/>
          </a:fontRef>
        </p:style>
      </p:cxnSp>
      <p:sp>
        <p:nvSpPr>
          <p:cNvPr id="15" name="TextBox 14"/>
          <p:cNvSpPr txBox="1"/>
          <p:nvPr/>
        </p:nvSpPr>
        <p:spPr>
          <a:xfrm>
            <a:off x="7223760" y="2167128"/>
            <a:ext cx="4206240" cy="320040"/>
          </a:xfrm>
          <a:prstGeom prst="rect">
            <a:avLst/>
          </a:prstGeom>
          <a:noFill/>
          <a:effectLst/>
        </p:spPr>
        <p:txBody>
          <a:bodyPr wrap="square" lIns="0" tIns="0" rIns="0" bIns="0" anchor="t">
            <a:spAutoFit/>
          </a:bodyPr>
          <a:lstStyle/>
          <a:p>
            <a:pPr algn="l">
              <a:lnSpc>
                <a:spcPct val="112000"/>
              </a:lnSpc>
              <a:spcBef>
                <a:spcPts val="0"/>
              </a:spcBef>
              <a:spcAft>
                <a:spcPts val="500"/>
              </a:spcAft>
              <a:defRPr sz="1900" b="1">
                <a:solidFill>
                  <a:srgbClr val="233D33"/>
                </a:solidFill>
                <a:latin typeface="Arial"/>
              </a:defRPr>
            </a:pPr>
            <a:r>
              <a:t>3,823 training rows</a:t>
            </a:r>
          </a:p>
        </p:txBody>
      </p:sp>
      <p:sp>
        <p:nvSpPr>
          <p:cNvPr id="16" name="TextBox 15"/>
          <p:cNvSpPr txBox="1"/>
          <p:nvPr/>
        </p:nvSpPr>
        <p:spPr>
          <a:xfrm>
            <a:off x="7223760" y="2596896"/>
            <a:ext cx="4206240" cy="768096"/>
          </a:xfrm>
          <a:prstGeom prst="rect">
            <a:avLst/>
          </a:prstGeom>
          <a:noFill/>
          <a:effectLst/>
        </p:spPr>
        <p:txBody>
          <a:bodyPr wrap="square" lIns="0" tIns="0" rIns="0" bIns="0" anchor="t">
            <a:spAutoFit/>
          </a:bodyPr>
          <a:lstStyle/>
          <a:p>
            <a:pPr algn="l">
              <a:lnSpc>
                <a:spcPct val="112000"/>
              </a:lnSpc>
              <a:spcBef>
                <a:spcPts val="0"/>
              </a:spcBef>
              <a:spcAft>
                <a:spcPts val="500"/>
              </a:spcAft>
              <a:defRPr sz="1600" b="0">
                <a:solidFill>
                  <a:srgbClr val="5C6B62"/>
                </a:solidFill>
                <a:latin typeface="Arial"/>
              </a:defRPr>
            </a:pPr>
            <a:r>
              <a:t>Original UCI training file.</a:t>
            </a:r>
          </a:p>
        </p:txBody>
      </p:sp>
      <p:sp>
        <p:nvSpPr>
          <p:cNvPr id="17" name="TextBox 16"/>
          <p:cNvSpPr txBox="1"/>
          <p:nvPr/>
        </p:nvSpPr>
        <p:spPr>
          <a:xfrm>
            <a:off x="7223760" y="3300984"/>
            <a:ext cx="4206240" cy="320040"/>
          </a:xfrm>
          <a:prstGeom prst="rect">
            <a:avLst/>
          </a:prstGeom>
          <a:noFill/>
          <a:effectLst/>
        </p:spPr>
        <p:txBody>
          <a:bodyPr wrap="square" lIns="0" tIns="0" rIns="0" bIns="0" anchor="t">
            <a:spAutoFit/>
          </a:bodyPr>
          <a:lstStyle/>
          <a:p>
            <a:pPr algn="l">
              <a:lnSpc>
                <a:spcPct val="112000"/>
              </a:lnSpc>
              <a:spcBef>
                <a:spcPts val="0"/>
              </a:spcBef>
              <a:spcAft>
                <a:spcPts val="500"/>
              </a:spcAft>
              <a:defRPr sz="1900" b="1">
                <a:solidFill>
                  <a:srgbClr val="233D33"/>
                </a:solidFill>
                <a:latin typeface="Arial"/>
              </a:defRPr>
            </a:pPr>
            <a:r>
              <a:t>1,797 test rows</a:t>
            </a:r>
          </a:p>
        </p:txBody>
      </p:sp>
      <p:sp>
        <p:nvSpPr>
          <p:cNvPr id="18" name="TextBox 17"/>
          <p:cNvSpPr txBox="1"/>
          <p:nvPr/>
        </p:nvSpPr>
        <p:spPr>
          <a:xfrm>
            <a:off x="7223760" y="3730752"/>
            <a:ext cx="4206240" cy="768096"/>
          </a:xfrm>
          <a:prstGeom prst="rect">
            <a:avLst/>
          </a:prstGeom>
          <a:noFill/>
          <a:effectLst/>
        </p:spPr>
        <p:txBody>
          <a:bodyPr wrap="square" lIns="0" tIns="0" rIns="0" bIns="0" anchor="t">
            <a:spAutoFit/>
          </a:bodyPr>
          <a:lstStyle/>
          <a:p>
            <a:pPr algn="l">
              <a:lnSpc>
                <a:spcPct val="112000"/>
              </a:lnSpc>
              <a:spcBef>
                <a:spcPts val="0"/>
              </a:spcBef>
              <a:spcAft>
                <a:spcPts val="500"/>
              </a:spcAft>
              <a:defRPr sz="1600" b="0">
                <a:solidFill>
                  <a:srgbClr val="5C6B62"/>
                </a:solidFill>
                <a:latin typeface="Arial"/>
              </a:defRPr>
            </a:pPr>
            <a:r>
              <a:t>Original held-out test file.</a:t>
            </a:r>
          </a:p>
        </p:txBody>
      </p:sp>
      <p:sp>
        <p:nvSpPr>
          <p:cNvPr id="19" name="TextBox 18"/>
          <p:cNvSpPr txBox="1"/>
          <p:nvPr/>
        </p:nvSpPr>
        <p:spPr>
          <a:xfrm>
            <a:off x="7223760" y="4434840"/>
            <a:ext cx="4206240" cy="320040"/>
          </a:xfrm>
          <a:prstGeom prst="rect">
            <a:avLst/>
          </a:prstGeom>
          <a:noFill/>
          <a:effectLst/>
        </p:spPr>
        <p:txBody>
          <a:bodyPr wrap="square" lIns="0" tIns="0" rIns="0" bIns="0" anchor="t">
            <a:spAutoFit/>
          </a:bodyPr>
          <a:lstStyle/>
          <a:p>
            <a:pPr algn="l">
              <a:lnSpc>
                <a:spcPct val="112000"/>
              </a:lnSpc>
              <a:spcBef>
                <a:spcPts val="0"/>
              </a:spcBef>
              <a:spcAft>
                <a:spcPts val="500"/>
              </a:spcAft>
              <a:defRPr sz="1900" b="1">
                <a:solidFill>
                  <a:srgbClr val="233D33"/>
                </a:solidFill>
                <a:latin typeface="Arial"/>
              </a:defRPr>
            </a:pPr>
            <a:r>
              <a:t>20 browser examples</a:t>
            </a:r>
          </a:p>
        </p:txBody>
      </p:sp>
      <p:sp>
        <p:nvSpPr>
          <p:cNvPr id="20" name="TextBox 19"/>
          <p:cNvSpPr txBox="1"/>
          <p:nvPr/>
        </p:nvSpPr>
        <p:spPr>
          <a:xfrm>
            <a:off x="7223760" y="4864607"/>
            <a:ext cx="4206240" cy="768096"/>
          </a:xfrm>
          <a:prstGeom prst="rect">
            <a:avLst/>
          </a:prstGeom>
          <a:noFill/>
          <a:effectLst/>
        </p:spPr>
        <p:txBody>
          <a:bodyPr wrap="square" lIns="0" tIns="0" rIns="0" bIns="0" anchor="t">
            <a:spAutoFit/>
          </a:bodyPr>
          <a:lstStyle/>
          <a:p>
            <a:pPr algn="l">
              <a:lnSpc>
                <a:spcPct val="112000"/>
              </a:lnSpc>
              <a:spcBef>
                <a:spcPts val="0"/>
              </a:spcBef>
              <a:spcAft>
                <a:spcPts val="500"/>
              </a:spcAft>
              <a:defRPr sz="1600" b="0">
                <a:solidFill>
                  <a:srgbClr val="5C6B62"/>
                </a:solidFill>
                <a:latin typeface="Arial"/>
              </a:defRPr>
            </a:pPr>
            <a:r>
              <a:t>Prediction parity checks, not a full browser evaluation.</a:t>
            </a:r>
          </a:p>
        </p:txBody>
      </p:sp>
      <p:sp>
        <p:nvSpPr>
          <p:cNvPr id="21" name="Rounded Rectangle 20"/>
          <p:cNvSpPr/>
          <p:nvPr/>
        </p:nvSpPr>
        <p:spPr>
          <a:xfrm>
            <a:off x="722376" y="5641848"/>
            <a:ext cx="10799064" cy="457200"/>
          </a:xfrm>
          <a:prstGeom prst="roundRect">
            <a:avLst>
              <a:gd name="adj" fmla="val 12000"/>
            </a:avLst>
          </a:prstGeom>
          <a:solidFill>
            <a:srgbClr val="F3EB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896112" y="5769864"/>
            <a:ext cx="10415016" cy="228600"/>
          </a:xfrm>
          <a:prstGeom prst="rect">
            <a:avLst/>
          </a:prstGeom>
          <a:noFill/>
          <a:effectLst/>
        </p:spPr>
        <p:txBody>
          <a:bodyPr wrap="square" lIns="0" tIns="0" rIns="0" bIns="0" anchor="t">
            <a:spAutoFit/>
          </a:bodyPr>
          <a:lstStyle/>
          <a:p>
            <a:pPr algn="l">
              <a:lnSpc>
                <a:spcPct val="112000"/>
              </a:lnSpc>
              <a:spcBef>
                <a:spcPts val="0"/>
              </a:spcBef>
              <a:spcAft>
                <a:spcPts val="500"/>
              </a:spcAft>
              <a:defRPr sz="1600" b="1">
                <a:solidFill>
                  <a:srgbClr val="A25436"/>
                </a:solidFill>
                <a:latin typeface="Arial"/>
              </a:defRPr>
            </a:pPr>
            <a:r>
              <a:t>Do not report this percentage as a learning gain, disability score, or Kannada handwriting accuracy.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9F5"/>
        </a:solidFill>
        <a:effectLst/>
      </p:bgPr>
    </p:bg>
    <p:spTree>
      <p:nvGrpSpPr>
        <p:cNvPr id="1" name=""/>
        <p:cNvGrpSpPr/>
        <p:nvPr/>
      </p:nvGrpSpPr>
      <p:grpSpPr>
        <a:xfrm>
          <a:off x="0" y="0"/>
          <a:ext cx="0" cy="0"/>
          <a:chOff x="0" y="0"/>
          <a:chExt cx="0" cy="0"/>
        </a:xfrm>
      </p:grpSpPr>
      <p:sp>
        <p:nvSpPr>
          <p:cNvPr id="2" name="TextBox 1"/>
          <p:cNvSpPr txBox="1"/>
          <p:nvPr/>
        </p:nvSpPr>
        <p:spPr>
          <a:xfrm>
            <a:off x="576072" y="310896"/>
            <a:ext cx="7315200" cy="237744"/>
          </a:xfrm>
          <a:prstGeom prst="rect">
            <a:avLst/>
          </a:prstGeom>
          <a:noFill/>
          <a:effectLst/>
        </p:spPr>
        <p:txBody>
          <a:bodyPr wrap="square" lIns="0" tIns="0" rIns="0" bIns="0" anchor="t">
            <a:spAutoFit/>
          </a:bodyPr>
          <a:lstStyle/>
          <a:p>
            <a:pPr algn="l">
              <a:lnSpc>
                <a:spcPct val="112000"/>
              </a:lnSpc>
              <a:spcBef>
                <a:spcPts val="0"/>
              </a:spcBef>
              <a:spcAft>
                <a:spcPts val="500"/>
              </a:spcAft>
              <a:defRPr sz="1000" b="1">
                <a:solidFill>
                  <a:srgbClr val="215C49"/>
                </a:solidFill>
                <a:latin typeface="Arial"/>
              </a:defRPr>
            </a:pPr>
            <a:r>
              <a:t>SAHAYA  /  ENGINEERING</a:t>
            </a:r>
          </a:p>
        </p:txBody>
      </p:sp>
      <p:sp>
        <p:nvSpPr>
          <p:cNvPr id="3" name="TextBox 2"/>
          <p:cNvSpPr txBox="1"/>
          <p:nvPr/>
        </p:nvSpPr>
        <p:spPr>
          <a:xfrm>
            <a:off x="576072" y="749808"/>
            <a:ext cx="11064240" cy="576072"/>
          </a:xfrm>
          <a:prstGeom prst="rect">
            <a:avLst/>
          </a:prstGeom>
          <a:noFill/>
          <a:effectLst/>
        </p:spPr>
        <p:txBody>
          <a:bodyPr wrap="square" lIns="0" tIns="0" rIns="0" bIns="0" anchor="t">
            <a:spAutoFit/>
          </a:bodyPr>
          <a:lstStyle/>
          <a:p>
            <a:pPr algn="l">
              <a:lnSpc>
                <a:spcPct val="112000"/>
              </a:lnSpc>
              <a:spcBef>
                <a:spcPts val="0"/>
              </a:spcBef>
              <a:spcAft>
                <a:spcPts val="500"/>
              </a:spcAft>
              <a:defRPr sz="3100" b="0">
                <a:solidFill>
                  <a:srgbClr val="233D33"/>
                </a:solidFill>
                <a:latin typeface="Georgia"/>
              </a:defRPr>
            </a:pPr>
            <a:r>
              <a:t>A small static architecture</a:t>
            </a:r>
          </a:p>
        </p:txBody>
      </p:sp>
      <p:sp>
        <p:nvSpPr>
          <p:cNvPr id="4" name="TextBox 3"/>
          <p:cNvSpPr txBox="1"/>
          <p:nvPr/>
        </p:nvSpPr>
        <p:spPr>
          <a:xfrm>
            <a:off x="594360" y="1371600"/>
            <a:ext cx="10972800" cy="384048"/>
          </a:xfrm>
          <a:prstGeom prst="rect">
            <a:avLst/>
          </a:prstGeom>
          <a:noFill/>
          <a:effectLst/>
        </p:spPr>
        <p:txBody>
          <a:bodyPr wrap="square" lIns="0" tIns="0" rIns="0" bIns="0" anchor="t">
            <a:spAutoFit/>
          </a:bodyPr>
          <a:lstStyle/>
          <a:p>
            <a:pPr algn="l">
              <a:lnSpc>
                <a:spcPct val="112000"/>
              </a:lnSpc>
              <a:spcBef>
                <a:spcPts val="0"/>
              </a:spcBef>
              <a:spcAft>
                <a:spcPts val="500"/>
              </a:spcAft>
              <a:defRPr sz="1600" b="0">
                <a:solidFill>
                  <a:srgbClr val="5C6B62"/>
                </a:solidFill>
                <a:latin typeface="Arial"/>
              </a:defRPr>
            </a:pPr>
            <a:r>
              <a:t>Build-time data processing is separate from learner practice.</a:t>
            </a:r>
          </a:p>
        </p:txBody>
      </p:sp>
      <p:cxnSp>
        <p:nvCxnSpPr>
          <p:cNvPr id="5" name="Connector 4"/>
          <p:cNvCxnSpPr/>
          <p:nvPr/>
        </p:nvCxnSpPr>
        <p:spPr>
          <a:xfrm>
            <a:off x="585216" y="6373368"/>
            <a:ext cx="11018520" cy="0"/>
          </a:xfrm>
          <a:prstGeom prst="line">
            <a:avLst/>
          </a:prstGeom>
          <a:ln w="12700">
            <a:solidFill>
              <a:srgbClr val="DCE4DA"/>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85216" y="6419088"/>
            <a:ext cx="10972800" cy="164592"/>
          </a:xfrm>
          <a:prstGeom prst="rect">
            <a:avLst/>
          </a:prstGeom>
          <a:noFill/>
          <a:effectLst/>
        </p:spPr>
        <p:txBody>
          <a:bodyPr wrap="square" lIns="0" tIns="0" rIns="0" bIns="0" anchor="t">
            <a:spAutoFit/>
          </a:bodyPr>
          <a:lstStyle/>
          <a:p>
            <a:pPr algn="l">
              <a:lnSpc>
                <a:spcPct val="112000"/>
              </a:lnSpc>
              <a:spcBef>
                <a:spcPts val="0"/>
              </a:spcBef>
              <a:spcAft>
                <a:spcPts val="500"/>
              </a:spcAft>
              <a:defRPr sz="800" b="0">
                <a:solidFill>
                  <a:srgbClr val="5C6B62"/>
                </a:solidFill>
                <a:latin typeface="Arial"/>
              </a:defRPr>
            </a:pPr>
            <a:r>
              <a:t>Report Chs. 8–10; scripts/prepare_data.py; public/engine.js; scripts/build.mjs</a:t>
            </a:r>
          </a:p>
        </p:txBody>
      </p:sp>
      <p:sp>
        <p:nvSpPr>
          <p:cNvPr id="7" name="TextBox 6"/>
          <p:cNvSpPr txBox="1"/>
          <p:nvPr/>
        </p:nvSpPr>
        <p:spPr>
          <a:xfrm>
            <a:off x="585216" y="6638544"/>
            <a:ext cx="10607040" cy="173736"/>
          </a:xfrm>
          <a:prstGeom prst="rect">
            <a:avLst/>
          </a:prstGeom>
          <a:noFill/>
          <a:effectLst/>
        </p:spPr>
        <p:txBody>
          <a:bodyPr wrap="square" lIns="0" tIns="0" rIns="0" bIns="0" anchor="t">
            <a:spAutoFit/>
          </a:bodyPr>
          <a:lstStyle/>
          <a:p>
            <a:pPr algn="l">
              <a:lnSpc>
                <a:spcPct val="112000"/>
              </a:lnSpc>
              <a:spcBef>
                <a:spcPts val="0"/>
              </a:spcBef>
              <a:spcAft>
                <a:spcPts val="500"/>
              </a:spcAft>
              <a:defRPr sz="900" b="1">
                <a:solidFill>
                  <a:srgbClr val="215C49"/>
                </a:solidFill>
                <a:latin typeface="Arial"/>
              </a:defRPr>
            </a:pPr>
            <a:r>
              <a:t>Dr. Lokesh M R  |  Professor, ISE  |  AJIET, Mangaluru</a:t>
            </a:r>
          </a:p>
        </p:txBody>
      </p:sp>
      <p:sp>
        <p:nvSpPr>
          <p:cNvPr id="8" name="TextBox 7"/>
          <p:cNvSpPr txBox="1"/>
          <p:nvPr/>
        </p:nvSpPr>
        <p:spPr>
          <a:xfrm>
            <a:off x="11201400" y="6620256"/>
            <a:ext cx="393192" cy="210312"/>
          </a:xfrm>
          <a:prstGeom prst="rect">
            <a:avLst/>
          </a:prstGeom>
          <a:noFill/>
          <a:effectLst/>
        </p:spPr>
        <p:txBody>
          <a:bodyPr wrap="square" lIns="0" tIns="0" rIns="0" bIns="0" anchor="t">
            <a:spAutoFit/>
          </a:bodyPr>
          <a:lstStyle/>
          <a:p>
            <a:pPr algn="r">
              <a:lnSpc>
                <a:spcPct val="112000"/>
              </a:lnSpc>
              <a:spcBef>
                <a:spcPts val="0"/>
              </a:spcBef>
              <a:spcAft>
                <a:spcPts val="500"/>
              </a:spcAft>
              <a:defRPr sz="1000" b="1">
                <a:solidFill>
                  <a:srgbClr val="215C49"/>
                </a:solidFill>
                <a:latin typeface="Arial"/>
              </a:defRPr>
            </a:pPr>
            <a:r>
              <a:t>15</a:t>
            </a:r>
          </a:p>
        </p:txBody>
      </p:sp>
      <p:sp>
        <p:nvSpPr>
          <p:cNvPr id="9" name="Rounded Rectangle 8"/>
          <p:cNvSpPr/>
          <p:nvPr/>
        </p:nvSpPr>
        <p:spPr>
          <a:xfrm>
            <a:off x="649224" y="2066543"/>
            <a:ext cx="2157984" cy="2615184"/>
          </a:xfrm>
          <a:prstGeom prst="roundRect">
            <a:avLst>
              <a:gd name="adj" fmla="val 12000"/>
            </a:avLst>
          </a:prstGeom>
          <a:solidFill>
            <a:srgbClr val="E8ED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813815" y="2331720"/>
            <a:ext cx="1847088" cy="329184"/>
          </a:xfrm>
          <a:prstGeom prst="rect">
            <a:avLst/>
          </a:prstGeom>
          <a:noFill/>
          <a:effectLst/>
        </p:spPr>
        <p:txBody>
          <a:bodyPr wrap="square" lIns="0" tIns="0" rIns="0" bIns="0" anchor="t">
            <a:spAutoFit/>
          </a:bodyPr>
          <a:lstStyle/>
          <a:p>
            <a:pPr algn="l">
              <a:lnSpc>
                <a:spcPct val="112000"/>
              </a:lnSpc>
              <a:spcBef>
                <a:spcPts val="0"/>
              </a:spcBef>
              <a:spcAft>
                <a:spcPts val="500"/>
              </a:spcAft>
              <a:defRPr sz="1400" b="1">
                <a:solidFill>
                  <a:srgbClr val="215C49"/>
                </a:solidFill>
                <a:latin typeface="Arial"/>
              </a:defRPr>
            </a:pPr>
            <a:r>
              <a:t>OPEN SOURCES</a:t>
            </a:r>
          </a:p>
        </p:txBody>
      </p:sp>
      <p:sp>
        <p:nvSpPr>
          <p:cNvPr id="11" name="TextBox 10"/>
          <p:cNvSpPr txBox="1"/>
          <p:nvPr/>
        </p:nvSpPr>
        <p:spPr>
          <a:xfrm>
            <a:off x="822959" y="2916936"/>
            <a:ext cx="1837943" cy="1453896"/>
          </a:xfrm>
          <a:prstGeom prst="rect">
            <a:avLst/>
          </a:prstGeom>
          <a:noFill/>
          <a:effectLst/>
        </p:spPr>
        <p:txBody>
          <a:bodyPr wrap="square" lIns="0" tIns="0" rIns="0" bIns="0" anchor="t">
            <a:spAutoFit/>
          </a:bodyPr>
          <a:lstStyle/>
          <a:p>
            <a:pPr algn="l">
              <a:lnSpc>
                <a:spcPct val="112000"/>
              </a:lnSpc>
              <a:spcBef>
                <a:spcPts val="0"/>
              </a:spcBef>
              <a:spcAft>
                <a:spcPts val="500"/>
              </a:spcAft>
              <a:defRPr sz="1800" b="0">
                <a:solidFill>
                  <a:srgbClr val="233D33"/>
                </a:solidFill>
                <a:latin typeface="Arial"/>
              </a:defRPr>
            </a:pPr>
            <a:r>
              <a:t>UCI digits</a:t>
            </a:r>
          </a:p>
          <a:p>
            <a:pPr algn="l">
              <a:lnSpc>
                <a:spcPct val="112000"/>
              </a:lnSpc>
              <a:spcBef>
                <a:spcPts val="0"/>
              </a:spcBef>
              <a:spcAft>
                <a:spcPts val="500"/>
              </a:spcAft>
              <a:defRPr sz="1800" b="0">
                <a:solidFill>
                  <a:srgbClr val="233D33"/>
                </a:solidFill>
                <a:latin typeface="Arial"/>
              </a:defRPr>
            </a:pPr>
            <a:r>
              <a:t>District geometry</a:t>
            </a:r>
          </a:p>
          <a:p>
            <a:pPr algn="l">
              <a:lnSpc>
                <a:spcPct val="112000"/>
              </a:lnSpc>
              <a:spcBef>
                <a:spcPts val="0"/>
              </a:spcBef>
              <a:spcAft>
                <a:spcPts val="500"/>
              </a:spcAft>
              <a:defRPr sz="1800" b="0">
                <a:solidFill>
                  <a:srgbClr val="233D33"/>
                </a:solidFill>
                <a:latin typeface="Arial"/>
              </a:defRPr>
            </a:pPr>
            <a:r>
              <a:t>Illustrations + font</a:t>
            </a:r>
          </a:p>
        </p:txBody>
      </p:sp>
      <p:sp>
        <p:nvSpPr>
          <p:cNvPr id="12" name="Rounded Rectangle 11"/>
          <p:cNvSpPr/>
          <p:nvPr/>
        </p:nvSpPr>
        <p:spPr>
          <a:xfrm>
            <a:off x="3566160" y="2066543"/>
            <a:ext cx="2157984" cy="2615184"/>
          </a:xfrm>
          <a:prstGeom prst="roundRect">
            <a:avLst>
              <a:gd name="adj" fmla="val 12000"/>
            </a:avLst>
          </a:prstGeom>
          <a:solidFill>
            <a:srgbClr val="F3EB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3" name="TextBox 12"/>
          <p:cNvSpPr txBox="1"/>
          <p:nvPr/>
        </p:nvSpPr>
        <p:spPr>
          <a:xfrm>
            <a:off x="3730752" y="2331720"/>
            <a:ext cx="1847088" cy="329184"/>
          </a:xfrm>
          <a:prstGeom prst="rect">
            <a:avLst/>
          </a:prstGeom>
          <a:noFill/>
          <a:effectLst/>
        </p:spPr>
        <p:txBody>
          <a:bodyPr wrap="square" lIns="0" tIns="0" rIns="0" bIns="0" anchor="t">
            <a:spAutoFit/>
          </a:bodyPr>
          <a:lstStyle/>
          <a:p>
            <a:pPr algn="l">
              <a:lnSpc>
                <a:spcPct val="112000"/>
              </a:lnSpc>
              <a:spcBef>
                <a:spcPts val="0"/>
              </a:spcBef>
              <a:spcAft>
                <a:spcPts val="500"/>
              </a:spcAft>
              <a:defRPr sz="1400" b="1">
                <a:solidFill>
                  <a:srgbClr val="215C49"/>
                </a:solidFill>
                <a:latin typeface="Arial"/>
              </a:defRPr>
            </a:pPr>
            <a:r>
              <a:t>PREPARE</a:t>
            </a:r>
          </a:p>
        </p:txBody>
      </p:sp>
      <p:sp>
        <p:nvSpPr>
          <p:cNvPr id="14" name="TextBox 13"/>
          <p:cNvSpPr txBox="1"/>
          <p:nvPr/>
        </p:nvSpPr>
        <p:spPr>
          <a:xfrm>
            <a:off x="3739896" y="2916936"/>
            <a:ext cx="1837943" cy="1453896"/>
          </a:xfrm>
          <a:prstGeom prst="rect">
            <a:avLst/>
          </a:prstGeom>
          <a:noFill/>
          <a:effectLst/>
        </p:spPr>
        <p:txBody>
          <a:bodyPr wrap="square" lIns="0" tIns="0" rIns="0" bIns="0" anchor="t">
            <a:spAutoFit/>
          </a:bodyPr>
          <a:lstStyle/>
          <a:p>
            <a:pPr algn="l">
              <a:lnSpc>
                <a:spcPct val="112000"/>
              </a:lnSpc>
              <a:spcBef>
                <a:spcPts val="0"/>
              </a:spcBef>
              <a:spcAft>
                <a:spcPts val="500"/>
              </a:spcAft>
              <a:defRPr sz="1800" b="0">
                <a:solidFill>
                  <a:srgbClr val="233D33"/>
                </a:solidFill>
                <a:latin typeface="Arial"/>
              </a:defRPr>
            </a:pPr>
            <a:r>
              <a:t>Python scripts</a:t>
            </a:r>
          </a:p>
          <a:p>
            <a:pPr algn="l">
              <a:lnSpc>
                <a:spcPct val="112000"/>
              </a:lnSpc>
              <a:spcBef>
                <a:spcPts val="0"/>
              </a:spcBef>
              <a:spcAft>
                <a:spcPts val="500"/>
              </a:spcAft>
              <a:defRPr sz="1800" b="0">
                <a:solidFill>
                  <a:srgbClr val="233D33"/>
                </a:solidFill>
                <a:latin typeface="Arial"/>
              </a:defRPr>
            </a:pPr>
            <a:r>
              <a:t>Model evaluation</a:t>
            </a:r>
          </a:p>
          <a:p>
            <a:pPr algn="l">
              <a:lnSpc>
                <a:spcPct val="112000"/>
              </a:lnSpc>
              <a:spcBef>
                <a:spcPts val="0"/>
              </a:spcBef>
              <a:spcAft>
                <a:spcPts val="500"/>
              </a:spcAft>
              <a:defRPr sz="1800" b="0">
                <a:solidFill>
                  <a:srgbClr val="233D33"/>
                </a:solidFill>
                <a:latin typeface="Arial"/>
              </a:defRPr>
            </a:pPr>
            <a:r>
              <a:t>JSON + map artifacts</a:t>
            </a:r>
          </a:p>
        </p:txBody>
      </p:sp>
      <p:sp>
        <p:nvSpPr>
          <p:cNvPr id="15" name="Rounded Rectangle 14"/>
          <p:cNvSpPr/>
          <p:nvPr/>
        </p:nvSpPr>
        <p:spPr>
          <a:xfrm>
            <a:off x="6473952" y="2066543"/>
            <a:ext cx="2157984" cy="2615184"/>
          </a:xfrm>
          <a:prstGeom prst="roundRect">
            <a:avLst>
              <a:gd name="adj" fmla="val 12000"/>
            </a:avLst>
          </a:prstGeom>
          <a:solidFill>
            <a:srgbClr val="E5EEF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6" name="TextBox 15"/>
          <p:cNvSpPr txBox="1"/>
          <p:nvPr/>
        </p:nvSpPr>
        <p:spPr>
          <a:xfrm>
            <a:off x="6638544" y="2331720"/>
            <a:ext cx="1847088" cy="329184"/>
          </a:xfrm>
          <a:prstGeom prst="rect">
            <a:avLst/>
          </a:prstGeom>
          <a:noFill/>
          <a:effectLst/>
        </p:spPr>
        <p:txBody>
          <a:bodyPr wrap="square" lIns="0" tIns="0" rIns="0" bIns="0" anchor="t">
            <a:spAutoFit/>
          </a:bodyPr>
          <a:lstStyle/>
          <a:p>
            <a:pPr algn="l">
              <a:lnSpc>
                <a:spcPct val="112000"/>
              </a:lnSpc>
              <a:spcBef>
                <a:spcPts val="0"/>
              </a:spcBef>
              <a:spcAft>
                <a:spcPts val="500"/>
              </a:spcAft>
              <a:defRPr sz="1400" b="1">
                <a:solidFill>
                  <a:srgbClr val="215C49"/>
                </a:solidFill>
                <a:latin typeface="Arial"/>
              </a:defRPr>
            </a:pPr>
            <a:r>
              <a:t>PUBLISH</a:t>
            </a:r>
          </a:p>
        </p:txBody>
      </p:sp>
      <p:sp>
        <p:nvSpPr>
          <p:cNvPr id="17" name="TextBox 16"/>
          <p:cNvSpPr txBox="1"/>
          <p:nvPr/>
        </p:nvSpPr>
        <p:spPr>
          <a:xfrm>
            <a:off x="6647688" y="2916936"/>
            <a:ext cx="1837943" cy="1453896"/>
          </a:xfrm>
          <a:prstGeom prst="rect">
            <a:avLst/>
          </a:prstGeom>
          <a:noFill/>
          <a:effectLst/>
        </p:spPr>
        <p:txBody>
          <a:bodyPr wrap="square" lIns="0" tIns="0" rIns="0" bIns="0" anchor="t">
            <a:spAutoFit/>
          </a:bodyPr>
          <a:lstStyle/>
          <a:p>
            <a:pPr algn="l">
              <a:lnSpc>
                <a:spcPct val="112000"/>
              </a:lnSpc>
              <a:spcBef>
                <a:spcPts val="0"/>
              </a:spcBef>
              <a:spcAft>
                <a:spcPts val="500"/>
              </a:spcAft>
              <a:defRPr sz="1800" b="0">
                <a:solidFill>
                  <a:srgbClr val="233D33"/>
                </a:solidFill>
                <a:latin typeface="Arial"/>
              </a:defRPr>
            </a:pPr>
            <a:r>
              <a:t>HTML / CSS / JS</a:t>
            </a:r>
          </a:p>
          <a:p>
            <a:pPr algn="l">
              <a:lnSpc>
                <a:spcPct val="112000"/>
              </a:lnSpc>
              <a:spcBef>
                <a:spcPts val="0"/>
              </a:spcBef>
              <a:spcAft>
                <a:spcPts val="500"/>
              </a:spcAft>
              <a:defRPr sz="1800" b="0">
                <a:solidFill>
                  <a:srgbClr val="233D33"/>
                </a:solidFill>
                <a:latin typeface="Arial"/>
              </a:defRPr>
            </a:pPr>
            <a:r>
              <a:t>Bundled model + data</a:t>
            </a:r>
          </a:p>
          <a:p>
            <a:pPr algn="l">
              <a:lnSpc>
                <a:spcPct val="112000"/>
              </a:lnSpc>
              <a:spcBef>
                <a:spcPts val="0"/>
              </a:spcBef>
              <a:spcAft>
                <a:spcPts val="500"/>
              </a:spcAft>
              <a:defRPr sz="1800" b="0">
                <a:solidFill>
                  <a:srgbClr val="233D33"/>
                </a:solidFill>
                <a:latin typeface="Arial"/>
              </a:defRPr>
            </a:pPr>
            <a:r>
              <a:t>Service-worker cache</a:t>
            </a:r>
          </a:p>
        </p:txBody>
      </p:sp>
      <p:sp>
        <p:nvSpPr>
          <p:cNvPr id="18" name="Rounded Rectangle 17"/>
          <p:cNvSpPr/>
          <p:nvPr/>
        </p:nvSpPr>
        <p:spPr>
          <a:xfrm>
            <a:off x="9390888" y="2066543"/>
            <a:ext cx="2157984" cy="2615184"/>
          </a:xfrm>
          <a:prstGeom prst="roundRect">
            <a:avLst>
              <a:gd name="adj" fmla="val 12000"/>
            </a:avLst>
          </a:prstGeom>
          <a:solidFill>
            <a:srgbClr val="CEDDC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9" name="TextBox 18"/>
          <p:cNvSpPr txBox="1"/>
          <p:nvPr/>
        </p:nvSpPr>
        <p:spPr>
          <a:xfrm>
            <a:off x="9555480" y="2331720"/>
            <a:ext cx="1847088" cy="329184"/>
          </a:xfrm>
          <a:prstGeom prst="rect">
            <a:avLst/>
          </a:prstGeom>
          <a:noFill/>
          <a:effectLst/>
        </p:spPr>
        <p:txBody>
          <a:bodyPr wrap="square" lIns="0" tIns="0" rIns="0" bIns="0" anchor="t">
            <a:spAutoFit/>
          </a:bodyPr>
          <a:lstStyle/>
          <a:p>
            <a:pPr algn="l">
              <a:lnSpc>
                <a:spcPct val="112000"/>
              </a:lnSpc>
              <a:spcBef>
                <a:spcPts val="0"/>
              </a:spcBef>
              <a:spcAft>
                <a:spcPts val="500"/>
              </a:spcAft>
              <a:defRPr sz="1400" b="1">
                <a:solidFill>
                  <a:srgbClr val="215C49"/>
                </a:solidFill>
                <a:latin typeface="Arial"/>
              </a:defRPr>
            </a:pPr>
            <a:r>
              <a:t>USE</a:t>
            </a:r>
          </a:p>
        </p:txBody>
      </p:sp>
      <p:sp>
        <p:nvSpPr>
          <p:cNvPr id="20" name="TextBox 19"/>
          <p:cNvSpPr txBox="1"/>
          <p:nvPr/>
        </p:nvSpPr>
        <p:spPr>
          <a:xfrm>
            <a:off x="9564624" y="2916936"/>
            <a:ext cx="1837943" cy="1453896"/>
          </a:xfrm>
          <a:prstGeom prst="rect">
            <a:avLst/>
          </a:prstGeom>
          <a:noFill/>
          <a:effectLst/>
        </p:spPr>
        <p:txBody>
          <a:bodyPr wrap="square" lIns="0" tIns="0" rIns="0" bIns="0" anchor="t">
            <a:spAutoFit/>
          </a:bodyPr>
          <a:lstStyle/>
          <a:p>
            <a:pPr algn="l">
              <a:lnSpc>
                <a:spcPct val="112000"/>
              </a:lnSpc>
              <a:spcBef>
                <a:spcPts val="0"/>
              </a:spcBef>
              <a:spcAft>
                <a:spcPts val="500"/>
              </a:spcAft>
              <a:defRPr sz="1800" b="0">
                <a:solidFill>
                  <a:srgbClr val="233D33"/>
                </a:solidFill>
                <a:latin typeface="Arial"/>
              </a:defRPr>
            </a:pPr>
            <a:r>
              <a:t>Learner activities</a:t>
            </a:r>
          </a:p>
          <a:p>
            <a:pPr algn="l">
              <a:lnSpc>
                <a:spcPct val="112000"/>
              </a:lnSpc>
              <a:spcBef>
                <a:spcPts val="0"/>
              </a:spcBef>
              <a:spcAft>
                <a:spcPts val="500"/>
              </a:spcAft>
              <a:defRPr sz="1800" b="0">
                <a:solidFill>
                  <a:srgbClr val="233D33"/>
                </a:solidFill>
                <a:latin typeface="Arial"/>
              </a:defRPr>
            </a:pPr>
            <a:r>
              <a:t>Local records</a:t>
            </a:r>
          </a:p>
          <a:p>
            <a:pPr algn="l">
              <a:lnSpc>
                <a:spcPct val="112000"/>
              </a:lnSpc>
              <a:spcBef>
                <a:spcPts val="0"/>
              </a:spcBef>
              <a:spcAft>
                <a:spcPts val="500"/>
              </a:spcAft>
              <a:defRPr sz="1800" b="0">
                <a:solidFill>
                  <a:srgbClr val="233D33"/>
                </a:solidFill>
                <a:latin typeface="Arial"/>
              </a:defRPr>
            </a:pPr>
            <a:r>
              <a:t>Educator model demo</a:t>
            </a:r>
          </a:p>
        </p:txBody>
      </p:sp>
      <p:sp>
        <p:nvSpPr>
          <p:cNvPr id="21" name="Right Arrow 20"/>
          <p:cNvSpPr/>
          <p:nvPr/>
        </p:nvSpPr>
        <p:spPr>
          <a:xfrm>
            <a:off x="3008376" y="3264408"/>
            <a:ext cx="338328" cy="182880"/>
          </a:xfrm>
          <a:prstGeom prst="rightArrow">
            <a:avLst/>
          </a:prstGeom>
          <a:solidFill>
            <a:srgbClr val="215C4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Right Arrow 21"/>
          <p:cNvSpPr/>
          <p:nvPr/>
        </p:nvSpPr>
        <p:spPr>
          <a:xfrm>
            <a:off x="5916168" y="3264408"/>
            <a:ext cx="338328" cy="182880"/>
          </a:xfrm>
          <a:prstGeom prst="rightArrow">
            <a:avLst/>
          </a:prstGeom>
          <a:solidFill>
            <a:srgbClr val="215C4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3" name="Right Arrow 22"/>
          <p:cNvSpPr/>
          <p:nvPr/>
        </p:nvSpPr>
        <p:spPr>
          <a:xfrm>
            <a:off x="8833104" y="3264408"/>
            <a:ext cx="338328" cy="182880"/>
          </a:xfrm>
          <a:prstGeom prst="rightArrow">
            <a:avLst/>
          </a:prstGeom>
          <a:solidFill>
            <a:srgbClr val="215C4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cxnSp>
        <p:nvCxnSpPr>
          <p:cNvPr id="24" name="Connector 23"/>
          <p:cNvCxnSpPr/>
          <p:nvPr/>
        </p:nvCxnSpPr>
        <p:spPr>
          <a:xfrm>
            <a:off x="795528" y="5129784"/>
            <a:ext cx="10533888" cy="0"/>
          </a:xfrm>
          <a:prstGeom prst="line">
            <a:avLst/>
          </a:prstGeom>
          <a:ln w="12700">
            <a:solidFill>
              <a:srgbClr val="DCE4DA"/>
            </a:solidFill>
          </a:ln>
          <a:effectLst/>
        </p:spPr>
        <p:style>
          <a:lnRef idx="2">
            <a:schemeClr val="accent1"/>
          </a:lnRef>
          <a:fillRef idx="0">
            <a:schemeClr val="accent1"/>
          </a:fillRef>
          <a:effectRef idx="0">
            <a:schemeClr val="accent1"/>
          </a:effectRef>
          <a:fontRef idx="minor">
            <a:schemeClr val="tx1"/>
          </a:fontRef>
        </p:style>
      </p:cxnSp>
      <p:sp>
        <p:nvSpPr>
          <p:cNvPr id="25" name="TextBox 24"/>
          <p:cNvSpPr txBox="1"/>
          <p:nvPr/>
        </p:nvSpPr>
        <p:spPr>
          <a:xfrm>
            <a:off x="786384" y="5431536"/>
            <a:ext cx="5120640" cy="566928"/>
          </a:xfrm>
          <a:prstGeom prst="rect">
            <a:avLst/>
          </a:prstGeom>
          <a:noFill/>
          <a:effectLst/>
        </p:spPr>
        <p:txBody>
          <a:bodyPr wrap="square" lIns="0" tIns="0" rIns="0" bIns="0" anchor="t">
            <a:spAutoFit/>
          </a:bodyPr>
          <a:lstStyle/>
          <a:p>
            <a:pPr algn="l">
              <a:lnSpc>
                <a:spcPct val="112000"/>
              </a:lnSpc>
              <a:spcBef>
                <a:spcPts val="0"/>
              </a:spcBef>
              <a:spcAft>
                <a:spcPts val="500"/>
              </a:spcAft>
              <a:defRPr sz="2000" b="1">
                <a:solidFill>
                  <a:srgbClr val="215C49"/>
                </a:solidFill>
                <a:latin typeface="Arial"/>
              </a:defRPr>
            </a:pPr>
            <a:r>
              <a:t>No application backend, database,</a:t>
            </a:r>
          </a:p>
          <a:p>
            <a:pPr algn="l">
              <a:lnSpc>
                <a:spcPct val="112000"/>
              </a:lnSpc>
              <a:spcBef>
                <a:spcPts val="0"/>
              </a:spcBef>
              <a:spcAft>
                <a:spcPts val="500"/>
              </a:spcAft>
              <a:defRPr sz="2000" b="1">
                <a:solidFill>
                  <a:srgbClr val="215C49"/>
                </a:solidFill>
                <a:latin typeface="Arial"/>
              </a:defRPr>
            </a:pPr>
            <a:r>
              <a:t>or mandatory API key.</a:t>
            </a:r>
          </a:p>
        </p:txBody>
      </p:sp>
      <p:sp>
        <p:nvSpPr>
          <p:cNvPr id="26" name="TextBox 25"/>
          <p:cNvSpPr txBox="1"/>
          <p:nvPr/>
        </p:nvSpPr>
        <p:spPr>
          <a:xfrm>
            <a:off x="6419088" y="5431536"/>
            <a:ext cx="4855464" cy="640080"/>
          </a:xfrm>
          <a:prstGeom prst="rect">
            <a:avLst/>
          </a:prstGeom>
          <a:noFill/>
          <a:effectLst/>
        </p:spPr>
        <p:txBody>
          <a:bodyPr wrap="square" lIns="0" tIns="0" rIns="0" bIns="0" anchor="t">
            <a:spAutoFit/>
          </a:bodyPr>
          <a:lstStyle/>
          <a:p>
            <a:pPr algn="l">
              <a:lnSpc>
                <a:spcPct val="112000"/>
              </a:lnSpc>
              <a:spcBef>
                <a:spcPts val="0"/>
              </a:spcBef>
              <a:spcAft>
                <a:spcPts val="500"/>
              </a:spcAft>
              <a:defRPr sz="1700" b="0">
                <a:solidFill>
                  <a:srgbClr val="5C6B62"/>
                </a:solidFill>
                <a:latin typeface="Arial"/>
              </a:defRPr>
            </a:pPr>
            <a:r>
              <a:t>Offline only after the first successful cache.</a:t>
            </a:r>
          </a:p>
          <a:p>
            <a:pPr algn="l">
              <a:lnSpc>
                <a:spcPct val="112000"/>
              </a:lnSpc>
              <a:spcBef>
                <a:spcPts val="0"/>
              </a:spcBef>
              <a:spcAft>
                <a:spcPts val="500"/>
              </a:spcAft>
              <a:defRPr sz="1700" b="0">
                <a:solidFill>
                  <a:srgbClr val="5C6B62"/>
                </a:solidFill>
                <a:latin typeface="Arial"/>
              </a:defRPr>
            </a:pPr>
            <a:r>
              <a:t>Some voices and source links need internet.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9F5"/>
        </a:solidFill>
        <a:effectLst/>
      </p:bgPr>
    </p:bg>
    <p:spTree>
      <p:nvGrpSpPr>
        <p:cNvPr id="1" name=""/>
        <p:cNvGrpSpPr/>
        <p:nvPr/>
      </p:nvGrpSpPr>
      <p:grpSpPr>
        <a:xfrm>
          <a:off x="0" y="0"/>
          <a:ext cx="0" cy="0"/>
          <a:chOff x="0" y="0"/>
          <a:chExt cx="0" cy="0"/>
        </a:xfrm>
      </p:grpSpPr>
      <p:sp>
        <p:nvSpPr>
          <p:cNvPr id="2" name="TextBox 1"/>
          <p:cNvSpPr txBox="1"/>
          <p:nvPr/>
        </p:nvSpPr>
        <p:spPr>
          <a:xfrm>
            <a:off x="576072" y="310896"/>
            <a:ext cx="7315200" cy="237744"/>
          </a:xfrm>
          <a:prstGeom prst="rect">
            <a:avLst/>
          </a:prstGeom>
          <a:noFill/>
          <a:effectLst/>
        </p:spPr>
        <p:txBody>
          <a:bodyPr wrap="square" lIns="0" tIns="0" rIns="0" bIns="0" anchor="t">
            <a:spAutoFit/>
          </a:bodyPr>
          <a:lstStyle/>
          <a:p>
            <a:pPr algn="l">
              <a:lnSpc>
                <a:spcPct val="112000"/>
              </a:lnSpc>
              <a:spcBef>
                <a:spcPts val="0"/>
              </a:spcBef>
              <a:spcAft>
                <a:spcPts val="500"/>
              </a:spcAft>
              <a:defRPr sz="1000" b="1">
                <a:solidFill>
                  <a:srgbClr val="215C49"/>
                </a:solidFill>
                <a:latin typeface="Arial"/>
              </a:defRPr>
            </a:pPr>
            <a:r>
              <a:t>SAHAYA  /  EVIDENCE</a:t>
            </a:r>
          </a:p>
        </p:txBody>
      </p:sp>
      <p:sp>
        <p:nvSpPr>
          <p:cNvPr id="3" name="TextBox 2"/>
          <p:cNvSpPr txBox="1"/>
          <p:nvPr/>
        </p:nvSpPr>
        <p:spPr>
          <a:xfrm>
            <a:off x="576072" y="749808"/>
            <a:ext cx="11064240" cy="576072"/>
          </a:xfrm>
          <a:prstGeom prst="rect">
            <a:avLst/>
          </a:prstGeom>
          <a:noFill/>
          <a:effectLst/>
        </p:spPr>
        <p:txBody>
          <a:bodyPr wrap="square" lIns="0" tIns="0" rIns="0" bIns="0" anchor="t">
            <a:spAutoFit/>
          </a:bodyPr>
          <a:lstStyle/>
          <a:p>
            <a:pPr algn="l">
              <a:lnSpc>
                <a:spcPct val="112000"/>
              </a:lnSpc>
              <a:spcBef>
                <a:spcPts val="0"/>
              </a:spcBef>
              <a:spcAft>
                <a:spcPts val="500"/>
              </a:spcAft>
              <a:defRPr sz="3100" b="0">
                <a:solidFill>
                  <a:srgbClr val="233D33"/>
                </a:solidFill>
                <a:latin typeface="Georgia"/>
              </a:defRPr>
            </a:pPr>
            <a:r>
              <a:t>Evidence, not just a working screenshot.</a:t>
            </a:r>
          </a:p>
        </p:txBody>
      </p:sp>
      <p:sp>
        <p:nvSpPr>
          <p:cNvPr id="4" name="TextBox 3"/>
          <p:cNvSpPr txBox="1"/>
          <p:nvPr/>
        </p:nvSpPr>
        <p:spPr>
          <a:xfrm>
            <a:off x="594360" y="1371600"/>
            <a:ext cx="10972800" cy="384048"/>
          </a:xfrm>
          <a:prstGeom prst="rect">
            <a:avLst/>
          </a:prstGeom>
          <a:noFill/>
          <a:effectLst/>
        </p:spPr>
        <p:txBody>
          <a:bodyPr wrap="square" lIns="0" tIns="0" rIns="0" bIns="0" anchor="t">
            <a:spAutoFit/>
          </a:bodyPr>
          <a:lstStyle/>
          <a:p>
            <a:pPr algn="l">
              <a:lnSpc>
                <a:spcPct val="112000"/>
              </a:lnSpc>
              <a:spcBef>
                <a:spcPts val="0"/>
              </a:spcBef>
              <a:spcAft>
                <a:spcPts val="500"/>
              </a:spcAft>
              <a:defRPr sz="1600" b="0">
                <a:solidFill>
                  <a:srgbClr val="5C6B62"/>
                </a:solidFill>
                <a:latin typeface="Arial"/>
              </a:defRPr>
            </a:pPr>
            <a:r>
              <a:t>Recorded engineering checks from the delivered package.</a:t>
            </a:r>
          </a:p>
        </p:txBody>
      </p:sp>
      <p:cxnSp>
        <p:nvCxnSpPr>
          <p:cNvPr id="5" name="Connector 4"/>
          <p:cNvCxnSpPr/>
          <p:nvPr/>
        </p:nvCxnSpPr>
        <p:spPr>
          <a:xfrm>
            <a:off x="585216" y="6373368"/>
            <a:ext cx="11018520" cy="0"/>
          </a:xfrm>
          <a:prstGeom prst="line">
            <a:avLst/>
          </a:prstGeom>
          <a:ln w="12700">
            <a:solidFill>
              <a:srgbClr val="DCE4DA"/>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85216" y="6419088"/>
            <a:ext cx="10972800" cy="164592"/>
          </a:xfrm>
          <a:prstGeom prst="rect">
            <a:avLst/>
          </a:prstGeom>
          <a:noFill/>
          <a:effectLst/>
        </p:spPr>
        <p:txBody>
          <a:bodyPr wrap="square" lIns="0" tIns="0" rIns="0" bIns="0" anchor="t">
            <a:spAutoFit/>
          </a:bodyPr>
          <a:lstStyle/>
          <a:p>
            <a:pPr algn="l">
              <a:lnSpc>
                <a:spcPct val="112000"/>
              </a:lnSpc>
              <a:spcBef>
                <a:spcPts val="0"/>
              </a:spcBef>
              <a:spcAft>
                <a:spcPts val="500"/>
              </a:spcAft>
              <a:defRPr sz="800" b="0">
                <a:solidFill>
                  <a:srgbClr val="5C6B62"/>
                </a:solidFill>
                <a:latin typeface="Arial"/>
              </a:defRPr>
            </a:pPr>
            <a:r>
              <a:t>evidence/unit-transcript.txt; browser-results.json; capture-summary.txt; artifact-verification.txt</a:t>
            </a:r>
          </a:p>
        </p:txBody>
      </p:sp>
      <p:sp>
        <p:nvSpPr>
          <p:cNvPr id="7" name="TextBox 6"/>
          <p:cNvSpPr txBox="1"/>
          <p:nvPr/>
        </p:nvSpPr>
        <p:spPr>
          <a:xfrm>
            <a:off x="585216" y="6638544"/>
            <a:ext cx="10607040" cy="173736"/>
          </a:xfrm>
          <a:prstGeom prst="rect">
            <a:avLst/>
          </a:prstGeom>
          <a:noFill/>
          <a:effectLst/>
        </p:spPr>
        <p:txBody>
          <a:bodyPr wrap="square" lIns="0" tIns="0" rIns="0" bIns="0" anchor="t">
            <a:spAutoFit/>
          </a:bodyPr>
          <a:lstStyle/>
          <a:p>
            <a:pPr algn="l">
              <a:lnSpc>
                <a:spcPct val="112000"/>
              </a:lnSpc>
              <a:spcBef>
                <a:spcPts val="0"/>
              </a:spcBef>
              <a:spcAft>
                <a:spcPts val="500"/>
              </a:spcAft>
              <a:defRPr sz="900" b="1">
                <a:solidFill>
                  <a:srgbClr val="215C49"/>
                </a:solidFill>
                <a:latin typeface="Arial"/>
              </a:defRPr>
            </a:pPr>
            <a:r>
              <a:t>Dr. Lokesh M R  |  Professor, ISE  |  AJIET, Mangaluru</a:t>
            </a:r>
          </a:p>
        </p:txBody>
      </p:sp>
      <p:sp>
        <p:nvSpPr>
          <p:cNvPr id="8" name="TextBox 7"/>
          <p:cNvSpPr txBox="1"/>
          <p:nvPr/>
        </p:nvSpPr>
        <p:spPr>
          <a:xfrm>
            <a:off x="11201400" y="6620256"/>
            <a:ext cx="393192" cy="210312"/>
          </a:xfrm>
          <a:prstGeom prst="rect">
            <a:avLst/>
          </a:prstGeom>
          <a:noFill/>
          <a:effectLst/>
        </p:spPr>
        <p:txBody>
          <a:bodyPr wrap="square" lIns="0" tIns="0" rIns="0" bIns="0" anchor="t">
            <a:spAutoFit/>
          </a:bodyPr>
          <a:lstStyle/>
          <a:p>
            <a:pPr algn="r">
              <a:lnSpc>
                <a:spcPct val="112000"/>
              </a:lnSpc>
              <a:spcBef>
                <a:spcPts val="0"/>
              </a:spcBef>
              <a:spcAft>
                <a:spcPts val="500"/>
              </a:spcAft>
              <a:defRPr sz="1000" b="1">
                <a:solidFill>
                  <a:srgbClr val="215C49"/>
                </a:solidFill>
                <a:latin typeface="Arial"/>
              </a:defRPr>
            </a:pPr>
            <a:r>
              <a:t>16</a:t>
            </a:r>
          </a:p>
        </p:txBody>
      </p:sp>
      <p:sp>
        <p:nvSpPr>
          <p:cNvPr id="9" name="Rounded Rectangle 8"/>
          <p:cNvSpPr/>
          <p:nvPr/>
        </p:nvSpPr>
        <p:spPr>
          <a:xfrm>
            <a:off x="676656" y="1984248"/>
            <a:ext cx="2633472" cy="2743200"/>
          </a:xfrm>
          <a:prstGeom prst="roundRect">
            <a:avLst>
              <a:gd name="adj" fmla="val 12000"/>
            </a:avLst>
          </a:prstGeom>
          <a:solidFill>
            <a:srgbClr val="FFFFFF"/>
          </a:solidFill>
          <a:ln w="10160">
            <a:solidFill>
              <a:srgbClr val="DCE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886968" y="2185416"/>
            <a:ext cx="2194560" cy="886968"/>
          </a:xfrm>
          <a:prstGeom prst="rect">
            <a:avLst/>
          </a:prstGeom>
          <a:noFill/>
          <a:effectLst/>
        </p:spPr>
        <p:txBody>
          <a:bodyPr wrap="square" lIns="0" tIns="0" rIns="0" bIns="0" anchor="t">
            <a:spAutoFit/>
          </a:bodyPr>
          <a:lstStyle/>
          <a:p>
            <a:pPr algn="l">
              <a:lnSpc>
                <a:spcPct val="112000"/>
              </a:lnSpc>
              <a:spcBef>
                <a:spcPts val="0"/>
              </a:spcBef>
              <a:spcAft>
                <a:spcPts val="500"/>
              </a:spcAft>
              <a:defRPr sz="5300" b="0">
                <a:solidFill>
                  <a:srgbClr val="215C49"/>
                </a:solidFill>
                <a:latin typeface="Georgia"/>
              </a:defRPr>
            </a:pPr>
            <a:r>
              <a:t>9</a:t>
            </a:r>
          </a:p>
        </p:txBody>
      </p:sp>
      <p:sp>
        <p:nvSpPr>
          <p:cNvPr id="11" name="TextBox 10"/>
          <p:cNvSpPr txBox="1"/>
          <p:nvPr/>
        </p:nvSpPr>
        <p:spPr>
          <a:xfrm>
            <a:off x="886968" y="3182112"/>
            <a:ext cx="2221992" cy="365760"/>
          </a:xfrm>
          <a:prstGeom prst="rect">
            <a:avLst/>
          </a:prstGeom>
          <a:noFill/>
          <a:effectLst/>
        </p:spPr>
        <p:txBody>
          <a:bodyPr wrap="square" lIns="0" tIns="0" rIns="0" bIns="0" anchor="t">
            <a:spAutoFit/>
          </a:bodyPr>
          <a:lstStyle/>
          <a:p>
            <a:pPr algn="l">
              <a:lnSpc>
                <a:spcPct val="112000"/>
              </a:lnSpc>
              <a:spcBef>
                <a:spcPts val="0"/>
              </a:spcBef>
              <a:spcAft>
                <a:spcPts val="500"/>
              </a:spcAft>
              <a:defRPr sz="2200" b="1">
                <a:solidFill>
                  <a:srgbClr val="233D33"/>
                </a:solidFill>
                <a:latin typeface="Arial"/>
              </a:defRPr>
            </a:pPr>
            <a:r>
              <a:t>Engine tests</a:t>
            </a:r>
          </a:p>
        </p:txBody>
      </p:sp>
      <p:sp>
        <p:nvSpPr>
          <p:cNvPr id="12" name="TextBox 11"/>
          <p:cNvSpPr txBox="1"/>
          <p:nvPr/>
        </p:nvSpPr>
        <p:spPr>
          <a:xfrm>
            <a:off x="886968" y="3730752"/>
            <a:ext cx="2194560" cy="813816"/>
          </a:xfrm>
          <a:prstGeom prst="rect">
            <a:avLst/>
          </a:prstGeom>
          <a:noFill/>
          <a:effectLst/>
        </p:spPr>
        <p:txBody>
          <a:bodyPr wrap="square" lIns="0" tIns="0" rIns="0" bIns="0" anchor="t">
            <a:spAutoFit/>
          </a:bodyPr>
          <a:lstStyle/>
          <a:p>
            <a:pPr algn="l">
              <a:lnSpc>
                <a:spcPct val="112000"/>
              </a:lnSpc>
              <a:spcBef>
                <a:spcPts val="0"/>
              </a:spcBef>
              <a:spcAft>
                <a:spcPts val="500"/>
              </a:spcAft>
              <a:defRPr sz="1600" b="0">
                <a:solidFill>
                  <a:srgbClr val="5C6B62"/>
                </a:solidFill>
                <a:latin typeface="Arial"/>
              </a:defRPr>
            </a:pPr>
            <a:r>
              <a:t>Content, grading, CSV, model examples.</a:t>
            </a:r>
          </a:p>
        </p:txBody>
      </p:sp>
      <p:sp>
        <p:nvSpPr>
          <p:cNvPr id="13" name="Rounded Rectangle 12"/>
          <p:cNvSpPr/>
          <p:nvPr/>
        </p:nvSpPr>
        <p:spPr>
          <a:xfrm>
            <a:off x="3511296" y="1984248"/>
            <a:ext cx="2633472" cy="2743200"/>
          </a:xfrm>
          <a:prstGeom prst="roundRect">
            <a:avLst>
              <a:gd name="adj" fmla="val 12000"/>
            </a:avLst>
          </a:prstGeom>
          <a:solidFill>
            <a:srgbClr val="FFFFFF"/>
          </a:solidFill>
          <a:ln w="10160">
            <a:solidFill>
              <a:srgbClr val="DCE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3721608" y="2185416"/>
            <a:ext cx="2194560" cy="886968"/>
          </a:xfrm>
          <a:prstGeom prst="rect">
            <a:avLst/>
          </a:prstGeom>
          <a:noFill/>
          <a:effectLst/>
        </p:spPr>
        <p:txBody>
          <a:bodyPr wrap="square" lIns="0" tIns="0" rIns="0" bIns="0" anchor="t">
            <a:spAutoFit/>
          </a:bodyPr>
          <a:lstStyle/>
          <a:p>
            <a:pPr algn="l">
              <a:lnSpc>
                <a:spcPct val="112000"/>
              </a:lnSpc>
              <a:spcBef>
                <a:spcPts val="0"/>
              </a:spcBef>
              <a:spcAft>
                <a:spcPts val="500"/>
              </a:spcAft>
              <a:defRPr sz="5300" b="0">
                <a:solidFill>
                  <a:srgbClr val="215C49"/>
                </a:solidFill>
                <a:latin typeface="Georgia"/>
              </a:defRPr>
            </a:pPr>
            <a:r>
              <a:t>19</a:t>
            </a:r>
          </a:p>
        </p:txBody>
      </p:sp>
      <p:sp>
        <p:nvSpPr>
          <p:cNvPr id="15" name="TextBox 14"/>
          <p:cNvSpPr txBox="1"/>
          <p:nvPr/>
        </p:nvSpPr>
        <p:spPr>
          <a:xfrm>
            <a:off x="3721608" y="3182112"/>
            <a:ext cx="2221992" cy="365760"/>
          </a:xfrm>
          <a:prstGeom prst="rect">
            <a:avLst/>
          </a:prstGeom>
          <a:noFill/>
          <a:effectLst/>
        </p:spPr>
        <p:txBody>
          <a:bodyPr wrap="square" lIns="0" tIns="0" rIns="0" bIns="0" anchor="t">
            <a:spAutoFit/>
          </a:bodyPr>
          <a:lstStyle/>
          <a:p>
            <a:pPr algn="l">
              <a:lnSpc>
                <a:spcPct val="112000"/>
              </a:lnSpc>
              <a:spcBef>
                <a:spcPts val="0"/>
              </a:spcBef>
              <a:spcAft>
                <a:spcPts val="500"/>
              </a:spcAft>
              <a:defRPr sz="2200" b="1">
                <a:solidFill>
                  <a:srgbClr val="233D33"/>
                </a:solidFill>
                <a:latin typeface="Arial"/>
              </a:defRPr>
            </a:pPr>
            <a:r>
              <a:t>Browser checks</a:t>
            </a:r>
          </a:p>
        </p:txBody>
      </p:sp>
      <p:sp>
        <p:nvSpPr>
          <p:cNvPr id="16" name="TextBox 15"/>
          <p:cNvSpPr txBox="1"/>
          <p:nvPr/>
        </p:nvSpPr>
        <p:spPr>
          <a:xfrm>
            <a:off x="3721608" y="3730752"/>
            <a:ext cx="2194560" cy="813816"/>
          </a:xfrm>
          <a:prstGeom prst="rect">
            <a:avLst/>
          </a:prstGeom>
          <a:noFill/>
          <a:effectLst/>
        </p:spPr>
        <p:txBody>
          <a:bodyPr wrap="square" lIns="0" tIns="0" rIns="0" bIns="0" anchor="t">
            <a:spAutoFit/>
          </a:bodyPr>
          <a:lstStyle/>
          <a:p>
            <a:pPr algn="l">
              <a:lnSpc>
                <a:spcPct val="112000"/>
              </a:lnSpc>
              <a:spcBef>
                <a:spcPts val="0"/>
              </a:spcBef>
              <a:spcAft>
                <a:spcPts val="500"/>
              </a:spcAft>
              <a:defRPr sz="1600" b="0">
                <a:solidFill>
                  <a:srgbClr val="5C6B62"/>
                </a:solidFill>
                <a:latin typeface="Arial"/>
              </a:defRPr>
            </a:pPr>
            <a:r>
              <a:t>Language, storage, reset, mobile, offline.</a:t>
            </a:r>
          </a:p>
        </p:txBody>
      </p:sp>
      <p:sp>
        <p:nvSpPr>
          <p:cNvPr id="17" name="Rounded Rectangle 16"/>
          <p:cNvSpPr/>
          <p:nvPr/>
        </p:nvSpPr>
        <p:spPr>
          <a:xfrm>
            <a:off x="6345936" y="1984248"/>
            <a:ext cx="2633472" cy="2743200"/>
          </a:xfrm>
          <a:prstGeom prst="roundRect">
            <a:avLst>
              <a:gd name="adj" fmla="val 12000"/>
            </a:avLst>
          </a:prstGeom>
          <a:solidFill>
            <a:srgbClr val="FFFFFF"/>
          </a:solidFill>
          <a:ln w="10160">
            <a:solidFill>
              <a:srgbClr val="DCE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556248" y="2185416"/>
            <a:ext cx="2194560" cy="886968"/>
          </a:xfrm>
          <a:prstGeom prst="rect">
            <a:avLst/>
          </a:prstGeom>
          <a:noFill/>
          <a:effectLst/>
        </p:spPr>
        <p:txBody>
          <a:bodyPr wrap="square" lIns="0" tIns="0" rIns="0" bIns="0" anchor="t">
            <a:spAutoFit/>
          </a:bodyPr>
          <a:lstStyle/>
          <a:p>
            <a:pPr algn="l">
              <a:lnSpc>
                <a:spcPct val="112000"/>
              </a:lnSpc>
              <a:spcBef>
                <a:spcPts val="0"/>
              </a:spcBef>
              <a:spcAft>
                <a:spcPts val="500"/>
              </a:spcAft>
              <a:defRPr sz="5300" b="0">
                <a:solidFill>
                  <a:srgbClr val="215C49"/>
                </a:solidFill>
                <a:latin typeface="Georgia"/>
              </a:defRPr>
            </a:pPr>
            <a:r>
              <a:t>15</a:t>
            </a:r>
          </a:p>
        </p:txBody>
      </p:sp>
      <p:sp>
        <p:nvSpPr>
          <p:cNvPr id="19" name="TextBox 18"/>
          <p:cNvSpPr txBox="1"/>
          <p:nvPr/>
        </p:nvSpPr>
        <p:spPr>
          <a:xfrm>
            <a:off x="6556248" y="3182112"/>
            <a:ext cx="2221992" cy="365760"/>
          </a:xfrm>
          <a:prstGeom prst="rect">
            <a:avLst/>
          </a:prstGeom>
          <a:noFill/>
          <a:effectLst/>
        </p:spPr>
        <p:txBody>
          <a:bodyPr wrap="square" lIns="0" tIns="0" rIns="0" bIns="0" anchor="t">
            <a:spAutoFit/>
          </a:bodyPr>
          <a:lstStyle/>
          <a:p>
            <a:pPr algn="l">
              <a:lnSpc>
                <a:spcPct val="112000"/>
              </a:lnSpc>
              <a:spcBef>
                <a:spcPts val="0"/>
              </a:spcBef>
              <a:spcAft>
                <a:spcPts val="500"/>
              </a:spcAft>
              <a:defRPr sz="2200" b="1">
                <a:solidFill>
                  <a:srgbClr val="233D33"/>
                </a:solidFill>
                <a:latin typeface="Arial"/>
              </a:defRPr>
            </a:pPr>
            <a:r>
              <a:t>Week programs</a:t>
            </a:r>
          </a:p>
        </p:txBody>
      </p:sp>
      <p:sp>
        <p:nvSpPr>
          <p:cNvPr id="20" name="TextBox 19"/>
          <p:cNvSpPr txBox="1"/>
          <p:nvPr/>
        </p:nvSpPr>
        <p:spPr>
          <a:xfrm>
            <a:off x="6556248" y="3730752"/>
            <a:ext cx="2194560" cy="813816"/>
          </a:xfrm>
          <a:prstGeom prst="rect">
            <a:avLst/>
          </a:prstGeom>
          <a:noFill/>
          <a:effectLst/>
        </p:spPr>
        <p:txBody>
          <a:bodyPr wrap="square" lIns="0" tIns="0" rIns="0" bIns="0" anchor="t">
            <a:spAutoFit/>
          </a:bodyPr>
          <a:lstStyle/>
          <a:p>
            <a:pPr algn="l">
              <a:lnSpc>
                <a:spcPct val="112000"/>
              </a:lnSpc>
              <a:spcBef>
                <a:spcPts val="0"/>
              </a:spcBef>
              <a:spcAft>
                <a:spcPts val="500"/>
              </a:spcAft>
              <a:defRPr sz="1600" b="0">
                <a:solidFill>
                  <a:srgbClr val="5C6B62"/>
                </a:solidFill>
                <a:latin typeface="Arial"/>
              </a:defRPr>
            </a:pPr>
            <a:r>
              <a:t>Two runs each; byte-identical stdout.</a:t>
            </a:r>
          </a:p>
        </p:txBody>
      </p:sp>
      <p:sp>
        <p:nvSpPr>
          <p:cNvPr id="21" name="Rounded Rectangle 20"/>
          <p:cNvSpPr/>
          <p:nvPr/>
        </p:nvSpPr>
        <p:spPr>
          <a:xfrm>
            <a:off x="9180576" y="1984248"/>
            <a:ext cx="2633472" cy="2743200"/>
          </a:xfrm>
          <a:prstGeom prst="roundRect">
            <a:avLst>
              <a:gd name="adj" fmla="val 12000"/>
            </a:avLst>
          </a:prstGeom>
          <a:solidFill>
            <a:srgbClr val="FFFFFF"/>
          </a:solidFill>
          <a:ln w="10160">
            <a:solidFill>
              <a:srgbClr val="DCE4D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9390888" y="2185416"/>
            <a:ext cx="2194560" cy="886968"/>
          </a:xfrm>
          <a:prstGeom prst="rect">
            <a:avLst/>
          </a:prstGeom>
          <a:noFill/>
          <a:effectLst/>
        </p:spPr>
        <p:txBody>
          <a:bodyPr wrap="square" lIns="0" tIns="0" rIns="0" bIns="0" anchor="t">
            <a:spAutoFit/>
          </a:bodyPr>
          <a:lstStyle/>
          <a:p>
            <a:pPr algn="l">
              <a:lnSpc>
                <a:spcPct val="112000"/>
              </a:lnSpc>
              <a:spcBef>
                <a:spcPts val="0"/>
              </a:spcBef>
              <a:spcAft>
                <a:spcPts val="500"/>
              </a:spcAft>
              <a:defRPr sz="5300" b="0">
                <a:solidFill>
                  <a:srgbClr val="215C49"/>
                </a:solidFill>
                <a:latin typeface="Georgia"/>
              </a:defRPr>
            </a:pPr>
            <a:r>
              <a:t>22</a:t>
            </a:r>
          </a:p>
        </p:txBody>
      </p:sp>
      <p:sp>
        <p:nvSpPr>
          <p:cNvPr id="23" name="TextBox 22"/>
          <p:cNvSpPr txBox="1"/>
          <p:nvPr/>
        </p:nvSpPr>
        <p:spPr>
          <a:xfrm>
            <a:off x="9390888" y="3182112"/>
            <a:ext cx="2221992" cy="365760"/>
          </a:xfrm>
          <a:prstGeom prst="rect">
            <a:avLst/>
          </a:prstGeom>
          <a:noFill/>
          <a:effectLst/>
        </p:spPr>
        <p:txBody>
          <a:bodyPr wrap="square" lIns="0" tIns="0" rIns="0" bIns="0" anchor="t">
            <a:spAutoFit/>
          </a:bodyPr>
          <a:lstStyle/>
          <a:p>
            <a:pPr algn="l">
              <a:lnSpc>
                <a:spcPct val="112000"/>
              </a:lnSpc>
              <a:spcBef>
                <a:spcPts val="0"/>
              </a:spcBef>
              <a:spcAft>
                <a:spcPts val="500"/>
              </a:spcAft>
              <a:defRPr sz="2200" b="1">
                <a:solidFill>
                  <a:srgbClr val="233D33"/>
                </a:solidFill>
                <a:latin typeface="Arial"/>
              </a:defRPr>
            </a:pPr>
            <a:r>
              <a:t>Artifact hashes</a:t>
            </a:r>
          </a:p>
        </p:txBody>
      </p:sp>
      <p:sp>
        <p:nvSpPr>
          <p:cNvPr id="24" name="TextBox 23"/>
          <p:cNvSpPr txBox="1"/>
          <p:nvPr/>
        </p:nvSpPr>
        <p:spPr>
          <a:xfrm>
            <a:off x="9390888" y="3730752"/>
            <a:ext cx="2194560" cy="813816"/>
          </a:xfrm>
          <a:prstGeom prst="rect">
            <a:avLst/>
          </a:prstGeom>
          <a:noFill/>
          <a:effectLst/>
        </p:spPr>
        <p:txBody>
          <a:bodyPr wrap="square" lIns="0" tIns="0" rIns="0" bIns="0" anchor="t">
            <a:spAutoFit/>
          </a:bodyPr>
          <a:lstStyle/>
          <a:p>
            <a:pPr algn="l">
              <a:lnSpc>
                <a:spcPct val="112000"/>
              </a:lnSpc>
              <a:spcBef>
                <a:spcPts val="0"/>
              </a:spcBef>
              <a:spcAft>
                <a:spcPts val="500"/>
              </a:spcAft>
              <a:defRPr sz="1600" b="0">
                <a:solidFill>
                  <a:srgbClr val="5C6B62"/>
                </a:solidFill>
                <a:latin typeface="Arial"/>
              </a:defRPr>
            </a:pPr>
            <a:r>
              <a:t>Checked before and after regeneration.</a:t>
            </a:r>
          </a:p>
        </p:txBody>
      </p:sp>
      <p:sp>
        <p:nvSpPr>
          <p:cNvPr id="25" name="Rounded Rectangle 24"/>
          <p:cNvSpPr/>
          <p:nvPr/>
        </p:nvSpPr>
        <p:spPr>
          <a:xfrm>
            <a:off x="704088" y="5111496"/>
            <a:ext cx="10826496" cy="713232"/>
          </a:xfrm>
          <a:prstGeom prst="roundRect">
            <a:avLst>
              <a:gd name="adj" fmla="val 12000"/>
            </a:avLst>
          </a:prstGeom>
          <a:solidFill>
            <a:srgbClr val="E8ED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905256" y="5312664"/>
            <a:ext cx="10378440" cy="365760"/>
          </a:xfrm>
          <a:prstGeom prst="rect">
            <a:avLst/>
          </a:prstGeom>
          <a:noFill/>
          <a:effectLst/>
        </p:spPr>
        <p:txBody>
          <a:bodyPr wrap="square" lIns="0" tIns="0" rIns="0" bIns="0" anchor="t">
            <a:spAutoFit/>
          </a:bodyPr>
          <a:lstStyle/>
          <a:p>
            <a:pPr algn="l">
              <a:lnSpc>
                <a:spcPct val="112000"/>
              </a:lnSpc>
              <a:spcBef>
                <a:spcPts val="0"/>
              </a:spcBef>
              <a:spcAft>
                <a:spcPts val="500"/>
              </a:spcAft>
              <a:defRPr sz="2100" b="1">
                <a:solidFill>
                  <a:srgbClr val="215C49"/>
                </a:solidFill>
                <a:latin typeface="Arial"/>
              </a:defRPr>
            </a:pPr>
            <a:r>
              <a:t>0 detected axe violations across 4 main views ≠ full accessibility certification.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9F5"/>
        </a:solidFill>
        <a:effectLst/>
      </p:bgPr>
    </p:bg>
    <p:spTree>
      <p:nvGrpSpPr>
        <p:cNvPr id="1" name=""/>
        <p:cNvGrpSpPr/>
        <p:nvPr/>
      </p:nvGrpSpPr>
      <p:grpSpPr>
        <a:xfrm>
          <a:off x="0" y="0"/>
          <a:ext cx="0" cy="0"/>
          <a:chOff x="0" y="0"/>
          <a:chExt cx="0" cy="0"/>
        </a:xfrm>
      </p:grpSpPr>
      <p:sp>
        <p:nvSpPr>
          <p:cNvPr id="2" name="TextBox 1"/>
          <p:cNvSpPr txBox="1"/>
          <p:nvPr/>
        </p:nvSpPr>
        <p:spPr>
          <a:xfrm>
            <a:off x="576072" y="310896"/>
            <a:ext cx="7315200" cy="237744"/>
          </a:xfrm>
          <a:prstGeom prst="rect">
            <a:avLst/>
          </a:prstGeom>
          <a:noFill/>
          <a:effectLst/>
        </p:spPr>
        <p:txBody>
          <a:bodyPr wrap="square" lIns="0" tIns="0" rIns="0" bIns="0" anchor="t">
            <a:spAutoFit/>
          </a:bodyPr>
          <a:lstStyle/>
          <a:p>
            <a:pPr algn="l">
              <a:lnSpc>
                <a:spcPct val="112000"/>
              </a:lnSpc>
              <a:spcBef>
                <a:spcPts val="0"/>
              </a:spcBef>
              <a:spcAft>
                <a:spcPts val="500"/>
              </a:spcAft>
              <a:defRPr sz="1000" b="1">
                <a:solidFill>
                  <a:srgbClr val="215C49"/>
                </a:solidFill>
                <a:latin typeface="Arial"/>
              </a:defRPr>
            </a:pPr>
            <a:r>
              <a:t>SAHAYA  /  DEMONSTRATION</a:t>
            </a:r>
          </a:p>
        </p:txBody>
      </p:sp>
      <p:sp>
        <p:nvSpPr>
          <p:cNvPr id="3" name="TextBox 2"/>
          <p:cNvSpPr txBox="1"/>
          <p:nvPr/>
        </p:nvSpPr>
        <p:spPr>
          <a:xfrm>
            <a:off x="576072" y="749808"/>
            <a:ext cx="11064240" cy="576072"/>
          </a:xfrm>
          <a:prstGeom prst="rect">
            <a:avLst/>
          </a:prstGeom>
          <a:noFill/>
          <a:effectLst/>
        </p:spPr>
        <p:txBody>
          <a:bodyPr wrap="square" lIns="0" tIns="0" rIns="0" bIns="0" anchor="t">
            <a:spAutoFit/>
          </a:bodyPr>
          <a:lstStyle/>
          <a:p>
            <a:pPr algn="l">
              <a:lnSpc>
                <a:spcPct val="112000"/>
              </a:lnSpc>
              <a:spcBef>
                <a:spcPts val="0"/>
              </a:spcBef>
              <a:spcAft>
                <a:spcPts val="500"/>
              </a:spcAft>
              <a:defRPr sz="3100" b="0">
                <a:solidFill>
                  <a:srgbClr val="233D33"/>
                </a:solidFill>
                <a:latin typeface="Georgia"/>
              </a:defRPr>
            </a:pPr>
            <a:r>
              <a:t>Classroom demonstration: three minutes</a:t>
            </a:r>
          </a:p>
        </p:txBody>
      </p:sp>
      <p:sp>
        <p:nvSpPr>
          <p:cNvPr id="4" name="TextBox 3"/>
          <p:cNvSpPr txBox="1"/>
          <p:nvPr/>
        </p:nvSpPr>
        <p:spPr>
          <a:xfrm>
            <a:off x="594360" y="1371600"/>
            <a:ext cx="10972800" cy="384048"/>
          </a:xfrm>
          <a:prstGeom prst="rect">
            <a:avLst/>
          </a:prstGeom>
          <a:noFill/>
          <a:effectLst/>
        </p:spPr>
        <p:txBody>
          <a:bodyPr wrap="square" lIns="0" tIns="0" rIns="0" bIns="0" anchor="t">
            <a:spAutoFit/>
          </a:bodyPr>
          <a:lstStyle/>
          <a:p>
            <a:pPr algn="l">
              <a:lnSpc>
                <a:spcPct val="112000"/>
              </a:lnSpc>
              <a:spcBef>
                <a:spcPts val="0"/>
              </a:spcBef>
              <a:spcAft>
                <a:spcPts val="500"/>
              </a:spcAft>
              <a:defRPr sz="1600" b="0">
                <a:solidFill>
                  <a:srgbClr val="5C6B62"/>
                </a:solidFill>
                <a:latin typeface="Arial"/>
              </a:defRPr>
            </a:pPr>
            <a:r>
              <a:t>Use the live app; slides 7–10 are the screenshot fallback.</a:t>
            </a:r>
          </a:p>
        </p:txBody>
      </p:sp>
      <p:cxnSp>
        <p:nvCxnSpPr>
          <p:cNvPr id="5" name="Connector 4"/>
          <p:cNvCxnSpPr/>
          <p:nvPr/>
        </p:nvCxnSpPr>
        <p:spPr>
          <a:xfrm>
            <a:off x="585216" y="6373368"/>
            <a:ext cx="11018520" cy="0"/>
          </a:xfrm>
          <a:prstGeom prst="line">
            <a:avLst/>
          </a:prstGeom>
          <a:ln w="12700">
            <a:solidFill>
              <a:srgbClr val="DCE4DA"/>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85216" y="6419088"/>
            <a:ext cx="10972800" cy="164592"/>
          </a:xfrm>
          <a:prstGeom prst="rect">
            <a:avLst/>
          </a:prstGeom>
          <a:noFill/>
          <a:effectLst/>
        </p:spPr>
        <p:txBody>
          <a:bodyPr wrap="square" lIns="0" tIns="0" rIns="0" bIns="0" anchor="t">
            <a:spAutoFit/>
          </a:bodyPr>
          <a:lstStyle/>
          <a:p>
            <a:pPr algn="l">
              <a:lnSpc>
                <a:spcPct val="112000"/>
              </a:lnSpc>
              <a:spcBef>
                <a:spcPts val="0"/>
              </a:spcBef>
              <a:spcAft>
                <a:spcPts val="500"/>
              </a:spcAft>
              <a:defRPr sz="800" b="0">
                <a:solidFill>
                  <a:srgbClr val="5C6B62"/>
                </a:solidFill>
                <a:latin typeface="Arial"/>
              </a:defRPr>
            </a:pPr>
            <a:r>
              <a:t>Delivered app; docs/DEPLOYMENT.md; demonstration uses no learner personal data</a:t>
            </a:r>
          </a:p>
        </p:txBody>
      </p:sp>
      <p:sp>
        <p:nvSpPr>
          <p:cNvPr id="7" name="TextBox 6"/>
          <p:cNvSpPr txBox="1"/>
          <p:nvPr/>
        </p:nvSpPr>
        <p:spPr>
          <a:xfrm>
            <a:off x="585216" y="6638544"/>
            <a:ext cx="10607040" cy="173736"/>
          </a:xfrm>
          <a:prstGeom prst="rect">
            <a:avLst/>
          </a:prstGeom>
          <a:noFill/>
          <a:effectLst/>
        </p:spPr>
        <p:txBody>
          <a:bodyPr wrap="square" lIns="0" tIns="0" rIns="0" bIns="0" anchor="t">
            <a:spAutoFit/>
          </a:bodyPr>
          <a:lstStyle/>
          <a:p>
            <a:pPr algn="l">
              <a:lnSpc>
                <a:spcPct val="112000"/>
              </a:lnSpc>
              <a:spcBef>
                <a:spcPts val="0"/>
              </a:spcBef>
              <a:spcAft>
                <a:spcPts val="500"/>
              </a:spcAft>
              <a:defRPr sz="900" b="1">
                <a:solidFill>
                  <a:srgbClr val="215C49"/>
                </a:solidFill>
                <a:latin typeface="Arial"/>
              </a:defRPr>
            </a:pPr>
            <a:r>
              <a:t>Dr. Lokesh M R  |  Professor, ISE  |  AJIET, Mangaluru</a:t>
            </a:r>
          </a:p>
        </p:txBody>
      </p:sp>
      <p:sp>
        <p:nvSpPr>
          <p:cNvPr id="8" name="TextBox 7"/>
          <p:cNvSpPr txBox="1"/>
          <p:nvPr/>
        </p:nvSpPr>
        <p:spPr>
          <a:xfrm>
            <a:off x="11201400" y="6620256"/>
            <a:ext cx="393192" cy="210312"/>
          </a:xfrm>
          <a:prstGeom prst="rect">
            <a:avLst/>
          </a:prstGeom>
          <a:noFill/>
          <a:effectLst/>
        </p:spPr>
        <p:txBody>
          <a:bodyPr wrap="square" lIns="0" tIns="0" rIns="0" bIns="0" anchor="t">
            <a:spAutoFit/>
          </a:bodyPr>
          <a:lstStyle/>
          <a:p>
            <a:pPr algn="r">
              <a:lnSpc>
                <a:spcPct val="112000"/>
              </a:lnSpc>
              <a:spcBef>
                <a:spcPts val="0"/>
              </a:spcBef>
              <a:spcAft>
                <a:spcPts val="500"/>
              </a:spcAft>
              <a:defRPr sz="1000" b="1">
                <a:solidFill>
                  <a:srgbClr val="215C49"/>
                </a:solidFill>
                <a:latin typeface="Arial"/>
              </a:defRPr>
            </a:pPr>
            <a:r>
              <a:t>17</a:t>
            </a:r>
          </a:p>
        </p:txBody>
      </p:sp>
      <p:sp>
        <p:nvSpPr>
          <p:cNvPr id="9" name="Oval 8"/>
          <p:cNvSpPr/>
          <p:nvPr/>
        </p:nvSpPr>
        <p:spPr>
          <a:xfrm>
            <a:off x="722376" y="1901952"/>
            <a:ext cx="457200" cy="457200"/>
          </a:xfrm>
          <a:prstGeom prst="ellipse">
            <a:avLst/>
          </a:prstGeom>
          <a:solidFill>
            <a:srgbClr val="215C4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722376" y="1984248"/>
            <a:ext cx="457200" cy="256032"/>
          </a:xfrm>
          <a:prstGeom prst="rect">
            <a:avLst/>
          </a:prstGeom>
          <a:noFill/>
          <a:effectLst/>
        </p:spPr>
        <p:txBody>
          <a:bodyPr wrap="square" lIns="0" tIns="0" rIns="0" bIns="0" anchor="t">
            <a:spAutoFit/>
          </a:bodyPr>
          <a:lstStyle/>
          <a:p>
            <a:pPr algn="ctr">
              <a:lnSpc>
                <a:spcPct val="112000"/>
              </a:lnSpc>
              <a:spcBef>
                <a:spcPts val="0"/>
              </a:spcBef>
              <a:spcAft>
                <a:spcPts val="500"/>
              </a:spcAft>
              <a:defRPr sz="1700" b="1">
                <a:solidFill>
                  <a:srgbClr val="FFFFFF"/>
                </a:solidFill>
                <a:latin typeface="Arial"/>
              </a:defRPr>
            </a:pPr>
            <a:r>
              <a:t>1</a:t>
            </a:r>
          </a:p>
        </p:txBody>
      </p:sp>
      <p:sp>
        <p:nvSpPr>
          <p:cNvPr id="11" name="TextBox 10"/>
          <p:cNvSpPr txBox="1"/>
          <p:nvPr/>
        </p:nvSpPr>
        <p:spPr>
          <a:xfrm>
            <a:off x="1417320" y="1901952"/>
            <a:ext cx="9875520" cy="365760"/>
          </a:xfrm>
          <a:prstGeom prst="rect">
            <a:avLst/>
          </a:prstGeom>
          <a:noFill/>
          <a:effectLst/>
        </p:spPr>
        <p:txBody>
          <a:bodyPr wrap="square" lIns="0" tIns="0" rIns="0" bIns="0" anchor="t">
            <a:spAutoFit/>
          </a:bodyPr>
          <a:lstStyle/>
          <a:p>
            <a:pPr algn="l">
              <a:lnSpc>
                <a:spcPct val="112000"/>
              </a:lnSpc>
              <a:spcBef>
                <a:spcPts val="0"/>
              </a:spcBef>
              <a:spcAft>
                <a:spcPts val="500"/>
              </a:spcAft>
              <a:defRPr sz="2300" b="1">
                <a:solidFill>
                  <a:srgbClr val="233D33"/>
                </a:solidFill>
                <a:latin typeface="Arial"/>
              </a:defRPr>
            </a:pPr>
            <a:r>
              <a:t>Open and orient</a:t>
            </a:r>
          </a:p>
        </p:txBody>
      </p:sp>
      <p:sp>
        <p:nvSpPr>
          <p:cNvPr id="12" name="TextBox 11"/>
          <p:cNvSpPr txBox="1"/>
          <p:nvPr/>
        </p:nvSpPr>
        <p:spPr>
          <a:xfrm>
            <a:off x="1426464" y="2350008"/>
            <a:ext cx="9848088" cy="356616"/>
          </a:xfrm>
          <a:prstGeom prst="rect">
            <a:avLst/>
          </a:prstGeom>
          <a:noFill/>
          <a:effectLst/>
        </p:spPr>
        <p:txBody>
          <a:bodyPr wrap="square" lIns="0" tIns="0" rIns="0" bIns="0" anchor="t">
            <a:spAutoFit/>
          </a:bodyPr>
          <a:lstStyle/>
          <a:p>
            <a:pPr algn="l">
              <a:lnSpc>
                <a:spcPct val="112000"/>
              </a:lnSpc>
              <a:spcBef>
                <a:spcPts val="0"/>
              </a:spcBef>
              <a:spcAft>
                <a:spcPts val="500"/>
              </a:spcAft>
              <a:defRPr sz="1900" b="0">
                <a:solidFill>
                  <a:srgbClr val="5C6B62"/>
                </a:solidFill>
                <a:latin typeface="Arial"/>
              </a:defRPr>
            </a:pPr>
            <a:r>
              <a:t>Home → Numbers. Point out the absence of a timer.</a:t>
            </a:r>
          </a:p>
        </p:txBody>
      </p:sp>
      <p:sp>
        <p:nvSpPr>
          <p:cNvPr id="13" name="Oval 12"/>
          <p:cNvSpPr/>
          <p:nvPr/>
        </p:nvSpPr>
        <p:spPr>
          <a:xfrm>
            <a:off x="722376" y="2843784"/>
            <a:ext cx="457200" cy="457200"/>
          </a:xfrm>
          <a:prstGeom prst="ellipse">
            <a:avLst/>
          </a:prstGeom>
          <a:solidFill>
            <a:srgbClr val="215C4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722376" y="2926080"/>
            <a:ext cx="457200" cy="256032"/>
          </a:xfrm>
          <a:prstGeom prst="rect">
            <a:avLst/>
          </a:prstGeom>
          <a:noFill/>
          <a:effectLst/>
        </p:spPr>
        <p:txBody>
          <a:bodyPr wrap="square" lIns="0" tIns="0" rIns="0" bIns="0" anchor="t">
            <a:spAutoFit/>
          </a:bodyPr>
          <a:lstStyle/>
          <a:p>
            <a:pPr algn="ctr">
              <a:lnSpc>
                <a:spcPct val="112000"/>
              </a:lnSpc>
              <a:spcBef>
                <a:spcPts val="0"/>
              </a:spcBef>
              <a:spcAft>
                <a:spcPts val="500"/>
              </a:spcAft>
              <a:defRPr sz="1700" b="1">
                <a:solidFill>
                  <a:srgbClr val="FFFFFF"/>
                </a:solidFill>
                <a:latin typeface="Arial"/>
              </a:defRPr>
            </a:pPr>
            <a:r>
              <a:t>2</a:t>
            </a:r>
          </a:p>
        </p:txBody>
      </p:sp>
      <p:sp>
        <p:nvSpPr>
          <p:cNvPr id="15" name="TextBox 14"/>
          <p:cNvSpPr txBox="1"/>
          <p:nvPr/>
        </p:nvSpPr>
        <p:spPr>
          <a:xfrm>
            <a:off x="1417320" y="2843784"/>
            <a:ext cx="9875520" cy="365760"/>
          </a:xfrm>
          <a:prstGeom prst="rect">
            <a:avLst/>
          </a:prstGeom>
          <a:noFill/>
          <a:effectLst/>
        </p:spPr>
        <p:txBody>
          <a:bodyPr wrap="square" lIns="0" tIns="0" rIns="0" bIns="0" anchor="t">
            <a:spAutoFit/>
          </a:bodyPr>
          <a:lstStyle/>
          <a:p>
            <a:pPr algn="l">
              <a:lnSpc>
                <a:spcPct val="112000"/>
              </a:lnSpc>
              <a:spcBef>
                <a:spcPts val="0"/>
              </a:spcBef>
              <a:spcAft>
                <a:spcPts val="500"/>
              </a:spcAft>
              <a:defRPr sz="2300" b="1">
                <a:solidFill>
                  <a:srgbClr val="233D33"/>
                </a:solidFill>
                <a:latin typeface="Arial"/>
              </a:defRPr>
            </a:pPr>
            <a:r>
              <a:t>Try, retry, continue</a:t>
            </a:r>
          </a:p>
        </p:txBody>
      </p:sp>
      <p:sp>
        <p:nvSpPr>
          <p:cNvPr id="16" name="TextBox 15"/>
          <p:cNvSpPr txBox="1"/>
          <p:nvPr/>
        </p:nvSpPr>
        <p:spPr>
          <a:xfrm>
            <a:off x="1426464" y="3291840"/>
            <a:ext cx="9848088" cy="356616"/>
          </a:xfrm>
          <a:prstGeom prst="rect">
            <a:avLst/>
          </a:prstGeom>
          <a:noFill/>
          <a:effectLst/>
        </p:spPr>
        <p:txBody>
          <a:bodyPr wrap="square" lIns="0" tIns="0" rIns="0" bIns="0" anchor="t">
            <a:spAutoFit/>
          </a:bodyPr>
          <a:lstStyle/>
          <a:p>
            <a:pPr algn="l">
              <a:lnSpc>
                <a:spcPct val="112000"/>
              </a:lnSpc>
              <a:spcBef>
                <a:spcPts val="0"/>
              </a:spcBef>
              <a:spcAft>
                <a:spcPts val="500"/>
              </a:spcAft>
              <a:defRPr sz="1900" b="0">
                <a:solidFill>
                  <a:srgbClr val="5C6B62"/>
                </a:solidFill>
                <a:latin typeface="Arial"/>
              </a:defRPr>
            </a:pPr>
            <a:r>
              <a:t>Choose one wrong answer, then the correct one.</a:t>
            </a:r>
          </a:p>
        </p:txBody>
      </p:sp>
      <p:sp>
        <p:nvSpPr>
          <p:cNvPr id="17" name="Oval 16"/>
          <p:cNvSpPr/>
          <p:nvPr/>
        </p:nvSpPr>
        <p:spPr>
          <a:xfrm>
            <a:off x="722376" y="3785616"/>
            <a:ext cx="457200" cy="457200"/>
          </a:xfrm>
          <a:prstGeom prst="ellipse">
            <a:avLst/>
          </a:prstGeom>
          <a:solidFill>
            <a:srgbClr val="215C4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722376" y="3867912"/>
            <a:ext cx="457200" cy="256032"/>
          </a:xfrm>
          <a:prstGeom prst="rect">
            <a:avLst/>
          </a:prstGeom>
          <a:noFill/>
          <a:effectLst/>
        </p:spPr>
        <p:txBody>
          <a:bodyPr wrap="square" lIns="0" tIns="0" rIns="0" bIns="0" anchor="t">
            <a:spAutoFit/>
          </a:bodyPr>
          <a:lstStyle/>
          <a:p>
            <a:pPr algn="ctr">
              <a:lnSpc>
                <a:spcPct val="112000"/>
              </a:lnSpc>
              <a:spcBef>
                <a:spcPts val="0"/>
              </a:spcBef>
              <a:spcAft>
                <a:spcPts val="500"/>
              </a:spcAft>
              <a:defRPr sz="1700" b="1">
                <a:solidFill>
                  <a:srgbClr val="FFFFFF"/>
                </a:solidFill>
                <a:latin typeface="Arial"/>
              </a:defRPr>
            </a:pPr>
            <a:r>
              <a:t>3</a:t>
            </a:r>
          </a:p>
        </p:txBody>
      </p:sp>
      <p:sp>
        <p:nvSpPr>
          <p:cNvPr id="19" name="TextBox 18"/>
          <p:cNvSpPr txBox="1"/>
          <p:nvPr/>
        </p:nvSpPr>
        <p:spPr>
          <a:xfrm>
            <a:off x="1417320" y="3785616"/>
            <a:ext cx="9875520" cy="365760"/>
          </a:xfrm>
          <a:prstGeom prst="rect">
            <a:avLst/>
          </a:prstGeom>
          <a:noFill/>
          <a:effectLst/>
        </p:spPr>
        <p:txBody>
          <a:bodyPr wrap="square" lIns="0" tIns="0" rIns="0" bIns="0" anchor="t">
            <a:spAutoFit/>
          </a:bodyPr>
          <a:lstStyle/>
          <a:p>
            <a:pPr algn="l">
              <a:lnSpc>
                <a:spcPct val="112000"/>
              </a:lnSpc>
              <a:spcBef>
                <a:spcPts val="0"/>
              </a:spcBef>
              <a:spcAft>
                <a:spcPts val="500"/>
              </a:spcAft>
              <a:defRPr sz="2300" b="1">
                <a:solidFill>
                  <a:srgbClr val="233D33"/>
                </a:solidFill>
                <a:latin typeface="Arial"/>
              </a:defRPr>
            </a:pPr>
            <a:r>
              <a:t>Switch and adjust</a:t>
            </a:r>
          </a:p>
        </p:txBody>
      </p:sp>
      <p:sp>
        <p:nvSpPr>
          <p:cNvPr id="20" name="TextBox 19"/>
          <p:cNvSpPr txBox="1"/>
          <p:nvPr/>
        </p:nvSpPr>
        <p:spPr>
          <a:xfrm>
            <a:off x="1426464" y="4233672"/>
            <a:ext cx="9848088" cy="356616"/>
          </a:xfrm>
          <a:prstGeom prst="rect">
            <a:avLst/>
          </a:prstGeom>
          <a:noFill/>
          <a:effectLst/>
        </p:spPr>
        <p:txBody>
          <a:bodyPr wrap="square" lIns="0" tIns="0" rIns="0" bIns="0" anchor="t">
            <a:spAutoFit/>
          </a:bodyPr>
          <a:lstStyle/>
          <a:p>
            <a:pPr algn="l">
              <a:lnSpc>
                <a:spcPct val="112000"/>
              </a:lnSpc>
              <a:spcBef>
                <a:spcPts val="0"/>
              </a:spcBef>
              <a:spcAft>
                <a:spcPts val="500"/>
              </a:spcAft>
              <a:defRPr sz="1900" b="0">
                <a:solidFill>
                  <a:srgbClr val="5C6B62"/>
                </a:solidFill>
                <a:latin typeface="Arial"/>
              </a:defRPr>
            </a:pPr>
            <a:r>
              <a:t>Toggle Kannada; show larger text and contrast.</a:t>
            </a:r>
          </a:p>
        </p:txBody>
      </p:sp>
      <p:sp>
        <p:nvSpPr>
          <p:cNvPr id="21" name="Oval 20"/>
          <p:cNvSpPr/>
          <p:nvPr/>
        </p:nvSpPr>
        <p:spPr>
          <a:xfrm>
            <a:off x="722376" y="4727448"/>
            <a:ext cx="457200" cy="457200"/>
          </a:xfrm>
          <a:prstGeom prst="ellipse">
            <a:avLst/>
          </a:prstGeom>
          <a:solidFill>
            <a:srgbClr val="215C4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722376" y="4809744"/>
            <a:ext cx="457200" cy="256032"/>
          </a:xfrm>
          <a:prstGeom prst="rect">
            <a:avLst/>
          </a:prstGeom>
          <a:noFill/>
          <a:effectLst/>
        </p:spPr>
        <p:txBody>
          <a:bodyPr wrap="square" lIns="0" tIns="0" rIns="0" bIns="0" anchor="t">
            <a:spAutoFit/>
          </a:bodyPr>
          <a:lstStyle/>
          <a:p>
            <a:pPr algn="ctr">
              <a:lnSpc>
                <a:spcPct val="112000"/>
              </a:lnSpc>
              <a:spcBef>
                <a:spcPts val="0"/>
              </a:spcBef>
              <a:spcAft>
                <a:spcPts val="500"/>
              </a:spcAft>
              <a:defRPr sz="1700" b="1">
                <a:solidFill>
                  <a:srgbClr val="FFFFFF"/>
                </a:solidFill>
                <a:latin typeface="Arial"/>
              </a:defRPr>
            </a:pPr>
            <a:r>
              <a:t>4</a:t>
            </a:r>
          </a:p>
        </p:txBody>
      </p:sp>
      <p:sp>
        <p:nvSpPr>
          <p:cNvPr id="23" name="TextBox 22"/>
          <p:cNvSpPr txBox="1"/>
          <p:nvPr/>
        </p:nvSpPr>
        <p:spPr>
          <a:xfrm>
            <a:off x="1417320" y="4727448"/>
            <a:ext cx="9875520" cy="365760"/>
          </a:xfrm>
          <a:prstGeom prst="rect">
            <a:avLst/>
          </a:prstGeom>
          <a:noFill/>
          <a:effectLst/>
        </p:spPr>
        <p:txBody>
          <a:bodyPr wrap="square" lIns="0" tIns="0" rIns="0" bIns="0" anchor="t">
            <a:spAutoFit/>
          </a:bodyPr>
          <a:lstStyle/>
          <a:p>
            <a:pPr algn="l">
              <a:lnSpc>
                <a:spcPct val="112000"/>
              </a:lnSpc>
              <a:spcBef>
                <a:spcPts val="0"/>
              </a:spcBef>
              <a:spcAft>
                <a:spcPts val="500"/>
              </a:spcAft>
              <a:defRPr sz="2300" b="1">
                <a:solidFill>
                  <a:srgbClr val="233D33"/>
                </a:solidFill>
                <a:latin typeface="Arial"/>
              </a:defRPr>
            </a:pPr>
            <a:r>
              <a:t>Inspect the evidence</a:t>
            </a:r>
          </a:p>
        </p:txBody>
      </p:sp>
      <p:sp>
        <p:nvSpPr>
          <p:cNvPr id="24" name="TextBox 23"/>
          <p:cNvSpPr txBox="1"/>
          <p:nvPr/>
        </p:nvSpPr>
        <p:spPr>
          <a:xfrm>
            <a:off x="1426464" y="5175504"/>
            <a:ext cx="9848088" cy="356616"/>
          </a:xfrm>
          <a:prstGeom prst="rect">
            <a:avLst/>
          </a:prstGeom>
          <a:noFill/>
          <a:effectLst/>
        </p:spPr>
        <p:txBody>
          <a:bodyPr wrap="square" lIns="0" tIns="0" rIns="0" bIns="0" anchor="t">
            <a:spAutoFit/>
          </a:bodyPr>
          <a:lstStyle/>
          <a:p>
            <a:pPr algn="l">
              <a:lnSpc>
                <a:spcPct val="112000"/>
              </a:lnSpc>
              <a:spcBef>
                <a:spcPts val="0"/>
              </a:spcBef>
              <a:spcAft>
                <a:spcPts val="500"/>
              </a:spcAft>
              <a:defRPr sz="1900" b="0">
                <a:solidFill>
                  <a:srgbClr val="5C6B62"/>
                </a:solidFill>
                <a:latin typeface="Arial"/>
              </a:defRPr>
            </a:pPr>
            <a:r>
              <a:t>Progress → CSV/reset. Educators → model. Our district → map.</a:t>
            </a:r>
          </a:p>
        </p:txBody>
      </p:sp>
      <p:sp>
        <p:nvSpPr>
          <p:cNvPr id="25" name="Rounded Rectangle 24"/>
          <p:cNvSpPr/>
          <p:nvPr/>
        </p:nvSpPr>
        <p:spPr>
          <a:xfrm>
            <a:off x="704088" y="5824728"/>
            <a:ext cx="10817352" cy="320040"/>
          </a:xfrm>
          <a:prstGeom prst="roundRect">
            <a:avLst>
              <a:gd name="adj" fmla="val 12000"/>
            </a:avLst>
          </a:prstGeom>
          <a:solidFill>
            <a:srgbClr val="F3EB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859536" y="5893308"/>
            <a:ext cx="10451592" cy="182880"/>
          </a:xfrm>
          <a:prstGeom prst="rect">
            <a:avLst/>
          </a:prstGeom>
          <a:noFill/>
          <a:effectLst/>
        </p:spPr>
        <p:txBody>
          <a:bodyPr wrap="square" lIns="0" tIns="0" rIns="0" bIns="0" anchor="t">
            <a:spAutoFit/>
          </a:bodyPr>
          <a:lstStyle/>
          <a:p>
            <a:pPr algn="l">
              <a:lnSpc>
                <a:spcPct val="112000"/>
              </a:lnSpc>
              <a:spcBef>
                <a:spcPts val="0"/>
              </a:spcBef>
              <a:spcAft>
                <a:spcPts val="500"/>
              </a:spcAft>
              <a:defRPr sz="1300" b="1">
                <a:solidFill>
                  <a:srgbClr val="A25436"/>
                </a:solidFill>
                <a:latin typeface="Arial"/>
              </a:defRPr>
            </a:pPr>
            <a:r>
              <a:t>Before class: open the app once while online, verify assets, and keep a local copy available.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9F5"/>
        </a:solidFill>
        <a:effectLst/>
      </p:bgPr>
    </p:bg>
    <p:spTree>
      <p:nvGrpSpPr>
        <p:cNvPr id="1" name=""/>
        <p:cNvGrpSpPr/>
        <p:nvPr/>
      </p:nvGrpSpPr>
      <p:grpSpPr>
        <a:xfrm>
          <a:off x="0" y="0"/>
          <a:ext cx="0" cy="0"/>
          <a:chOff x="0" y="0"/>
          <a:chExt cx="0" cy="0"/>
        </a:xfrm>
      </p:grpSpPr>
      <p:sp>
        <p:nvSpPr>
          <p:cNvPr id="2" name="TextBox 1"/>
          <p:cNvSpPr txBox="1"/>
          <p:nvPr/>
        </p:nvSpPr>
        <p:spPr>
          <a:xfrm>
            <a:off x="576072" y="310896"/>
            <a:ext cx="7315200" cy="237744"/>
          </a:xfrm>
          <a:prstGeom prst="rect">
            <a:avLst/>
          </a:prstGeom>
          <a:noFill/>
          <a:effectLst/>
        </p:spPr>
        <p:txBody>
          <a:bodyPr wrap="square" lIns="0" tIns="0" rIns="0" bIns="0" anchor="t">
            <a:spAutoFit/>
          </a:bodyPr>
          <a:lstStyle/>
          <a:p>
            <a:pPr algn="l">
              <a:lnSpc>
                <a:spcPct val="112000"/>
              </a:lnSpc>
              <a:spcBef>
                <a:spcPts val="0"/>
              </a:spcBef>
              <a:spcAft>
                <a:spcPts val="500"/>
              </a:spcAft>
              <a:defRPr sz="1000" b="1">
                <a:solidFill>
                  <a:srgbClr val="215C49"/>
                </a:solidFill>
                <a:latin typeface="Arial"/>
              </a:defRPr>
            </a:pPr>
            <a:r>
              <a:t>SAHAYA  /  HANDOVER</a:t>
            </a:r>
          </a:p>
        </p:txBody>
      </p:sp>
      <p:sp>
        <p:nvSpPr>
          <p:cNvPr id="3" name="TextBox 2"/>
          <p:cNvSpPr txBox="1"/>
          <p:nvPr/>
        </p:nvSpPr>
        <p:spPr>
          <a:xfrm>
            <a:off x="576072" y="749808"/>
            <a:ext cx="11064240" cy="576072"/>
          </a:xfrm>
          <a:prstGeom prst="rect">
            <a:avLst/>
          </a:prstGeom>
          <a:noFill/>
          <a:effectLst/>
        </p:spPr>
        <p:txBody>
          <a:bodyPr wrap="square" lIns="0" tIns="0" rIns="0" bIns="0" anchor="t">
            <a:spAutoFit/>
          </a:bodyPr>
          <a:lstStyle/>
          <a:p>
            <a:pPr algn="l">
              <a:lnSpc>
                <a:spcPct val="112000"/>
              </a:lnSpc>
              <a:spcBef>
                <a:spcPts val="0"/>
              </a:spcBef>
              <a:spcAft>
                <a:spcPts val="500"/>
              </a:spcAft>
              <a:defRPr sz="3100" b="0">
                <a:solidFill>
                  <a:srgbClr val="233D33"/>
                </a:solidFill>
                <a:latin typeface="Georgia"/>
              </a:defRPr>
            </a:pPr>
            <a:r>
              <a:t>Git → Render: prepared, not published.</a:t>
            </a:r>
          </a:p>
        </p:txBody>
      </p:sp>
      <p:sp>
        <p:nvSpPr>
          <p:cNvPr id="4" name="TextBox 3"/>
          <p:cNvSpPr txBox="1"/>
          <p:nvPr/>
        </p:nvSpPr>
        <p:spPr>
          <a:xfrm>
            <a:off x="594360" y="1371600"/>
            <a:ext cx="10972800" cy="384048"/>
          </a:xfrm>
          <a:prstGeom prst="rect">
            <a:avLst/>
          </a:prstGeom>
          <a:noFill/>
          <a:effectLst/>
        </p:spPr>
        <p:txBody>
          <a:bodyPr wrap="square" lIns="0" tIns="0" rIns="0" bIns="0" anchor="t">
            <a:spAutoFit/>
          </a:bodyPr>
          <a:lstStyle/>
          <a:p>
            <a:pPr algn="l">
              <a:lnSpc>
                <a:spcPct val="112000"/>
              </a:lnSpc>
              <a:spcBef>
                <a:spcPts val="0"/>
              </a:spcBef>
              <a:spcAft>
                <a:spcPts val="500"/>
              </a:spcAft>
              <a:defRPr sz="1600" b="0">
                <a:solidFill>
                  <a:srgbClr val="5C6B62"/>
                </a:solidFill>
                <a:latin typeface="Arial"/>
              </a:defRPr>
            </a:pPr>
            <a:r>
              <a:t>The package includes local history, a static-site Blueprint, and deployment instructions.</a:t>
            </a:r>
          </a:p>
        </p:txBody>
      </p:sp>
      <p:cxnSp>
        <p:nvCxnSpPr>
          <p:cNvPr id="5" name="Connector 4"/>
          <p:cNvCxnSpPr/>
          <p:nvPr/>
        </p:nvCxnSpPr>
        <p:spPr>
          <a:xfrm>
            <a:off x="585216" y="6373368"/>
            <a:ext cx="11018520" cy="0"/>
          </a:xfrm>
          <a:prstGeom prst="line">
            <a:avLst/>
          </a:prstGeom>
          <a:ln w="12700">
            <a:solidFill>
              <a:srgbClr val="DCE4DA"/>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85216" y="6419088"/>
            <a:ext cx="10972800" cy="164592"/>
          </a:xfrm>
          <a:prstGeom prst="rect">
            <a:avLst/>
          </a:prstGeom>
          <a:noFill/>
          <a:effectLst/>
        </p:spPr>
        <p:txBody>
          <a:bodyPr wrap="square" lIns="0" tIns="0" rIns="0" bIns="0" anchor="t">
            <a:spAutoFit/>
          </a:bodyPr>
          <a:lstStyle/>
          <a:p>
            <a:pPr algn="l">
              <a:lnSpc>
                <a:spcPct val="112000"/>
              </a:lnSpc>
              <a:spcBef>
                <a:spcPts val="0"/>
              </a:spcBef>
              <a:spcAft>
                <a:spcPts val="500"/>
              </a:spcAft>
              <a:defRPr sz="800" b="0">
                <a:solidFill>
                  <a:srgbClr val="5C6B62"/>
                </a:solidFill>
                <a:latin typeface="Arial"/>
              </a:defRPr>
            </a:pPr>
            <a:r>
              <a:t>Report Ch. 15 &amp; Appendix D; docs/DEPLOYMENT.md; render.yaml; supplied Git bundle</a:t>
            </a:r>
          </a:p>
        </p:txBody>
      </p:sp>
      <p:sp>
        <p:nvSpPr>
          <p:cNvPr id="7" name="TextBox 6"/>
          <p:cNvSpPr txBox="1"/>
          <p:nvPr/>
        </p:nvSpPr>
        <p:spPr>
          <a:xfrm>
            <a:off x="585216" y="6638544"/>
            <a:ext cx="10607040" cy="173736"/>
          </a:xfrm>
          <a:prstGeom prst="rect">
            <a:avLst/>
          </a:prstGeom>
          <a:noFill/>
          <a:effectLst/>
        </p:spPr>
        <p:txBody>
          <a:bodyPr wrap="square" lIns="0" tIns="0" rIns="0" bIns="0" anchor="t">
            <a:spAutoFit/>
          </a:bodyPr>
          <a:lstStyle/>
          <a:p>
            <a:pPr algn="l">
              <a:lnSpc>
                <a:spcPct val="112000"/>
              </a:lnSpc>
              <a:spcBef>
                <a:spcPts val="0"/>
              </a:spcBef>
              <a:spcAft>
                <a:spcPts val="500"/>
              </a:spcAft>
              <a:defRPr sz="900" b="1">
                <a:solidFill>
                  <a:srgbClr val="215C49"/>
                </a:solidFill>
                <a:latin typeface="Arial"/>
              </a:defRPr>
            </a:pPr>
            <a:r>
              <a:t>Dr. Lokesh M R  |  Professor, ISE  |  AJIET, Mangaluru</a:t>
            </a:r>
          </a:p>
        </p:txBody>
      </p:sp>
      <p:sp>
        <p:nvSpPr>
          <p:cNvPr id="8" name="TextBox 7"/>
          <p:cNvSpPr txBox="1"/>
          <p:nvPr/>
        </p:nvSpPr>
        <p:spPr>
          <a:xfrm>
            <a:off x="11201400" y="6620256"/>
            <a:ext cx="393192" cy="210312"/>
          </a:xfrm>
          <a:prstGeom prst="rect">
            <a:avLst/>
          </a:prstGeom>
          <a:noFill/>
          <a:effectLst/>
        </p:spPr>
        <p:txBody>
          <a:bodyPr wrap="square" lIns="0" tIns="0" rIns="0" bIns="0" anchor="t">
            <a:spAutoFit/>
          </a:bodyPr>
          <a:lstStyle/>
          <a:p>
            <a:pPr algn="r">
              <a:lnSpc>
                <a:spcPct val="112000"/>
              </a:lnSpc>
              <a:spcBef>
                <a:spcPts val="0"/>
              </a:spcBef>
              <a:spcAft>
                <a:spcPts val="500"/>
              </a:spcAft>
              <a:defRPr sz="1000" b="1">
                <a:solidFill>
                  <a:srgbClr val="215C49"/>
                </a:solidFill>
                <a:latin typeface="Arial"/>
              </a:defRPr>
            </a:pPr>
            <a:r>
              <a:t>18</a:t>
            </a:r>
          </a:p>
        </p:txBody>
      </p:sp>
      <p:sp>
        <p:nvSpPr>
          <p:cNvPr id="9" name="Oval 8"/>
          <p:cNvSpPr/>
          <p:nvPr/>
        </p:nvSpPr>
        <p:spPr>
          <a:xfrm>
            <a:off x="704088" y="2084831"/>
            <a:ext cx="429768" cy="429768"/>
          </a:xfrm>
          <a:prstGeom prst="ellipse">
            <a:avLst/>
          </a:prstGeom>
          <a:solidFill>
            <a:srgbClr val="215C4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704088" y="2157984"/>
            <a:ext cx="429768" cy="256032"/>
          </a:xfrm>
          <a:prstGeom prst="rect">
            <a:avLst/>
          </a:prstGeom>
          <a:noFill/>
          <a:effectLst/>
        </p:spPr>
        <p:txBody>
          <a:bodyPr wrap="square" lIns="0" tIns="0" rIns="0" bIns="0" anchor="t">
            <a:spAutoFit/>
          </a:bodyPr>
          <a:lstStyle/>
          <a:p>
            <a:pPr algn="ctr">
              <a:lnSpc>
                <a:spcPct val="112000"/>
              </a:lnSpc>
              <a:spcBef>
                <a:spcPts val="0"/>
              </a:spcBef>
              <a:spcAft>
                <a:spcPts val="500"/>
              </a:spcAft>
              <a:defRPr sz="1600" b="1">
                <a:solidFill>
                  <a:srgbClr val="FFFFFF"/>
                </a:solidFill>
                <a:latin typeface="Arial"/>
              </a:defRPr>
            </a:pPr>
            <a:r>
              <a:t>1</a:t>
            </a:r>
          </a:p>
        </p:txBody>
      </p:sp>
      <p:sp>
        <p:nvSpPr>
          <p:cNvPr id="11" name="TextBox 10"/>
          <p:cNvSpPr txBox="1"/>
          <p:nvPr/>
        </p:nvSpPr>
        <p:spPr>
          <a:xfrm>
            <a:off x="704088" y="2743200"/>
            <a:ext cx="2606040" cy="731520"/>
          </a:xfrm>
          <a:prstGeom prst="rect">
            <a:avLst/>
          </a:prstGeom>
          <a:noFill/>
          <a:effectLst/>
        </p:spPr>
        <p:txBody>
          <a:bodyPr wrap="square" lIns="0" tIns="0" rIns="0" bIns="0" anchor="t">
            <a:spAutoFit/>
          </a:bodyPr>
          <a:lstStyle/>
          <a:p>
            <a:pPr algn="l">
              <a:lnSpc>
                <a:spcPct val="112000"/>
              </a:lnSpc>
              <a:spcBef>
                <a:spcPts val="0"/>
              </a:spcBef>
              <a:spcAft>
                <a:spcPts val="500"/>
              </a:spcAft>
              <a:defRPr sz="2300" b="1">
                <a:solidFill>
                  <a:srgbClr val="233D33"/>
                </a:solidFill>
                <a:latin typeface="Arial"/>
              </a:defRPr>
            </a:pPr>
            <a:r>
              <a:t>Review locally</a:t>
            </a:r>
          </a:p>
        </p:txBody>
      </p:sp>
      <p:sp>
        <p:nvSpPr>
          <p:cNvPr id="12" name="TextBox 11"/>
          <p:cNvSpPr txBox="1"/>
          <p:nvPr/>
        </p:nvSpPr>
        <p:spPr>
          <a:xfrm>
            <a:off x="704088" y="3703320"/>
            <a:ext cx="2542032" cy="914400"/>
          </a:xfrm>
          <a:prstGeom prst="rect">
            <a:avLst/>
          </a:prstGeom>
          <a:noFill/>
          <a:effectLst/>
        </p:spPr>
        <p:txBody>
          <a:bodyPr wrap="square" lIns="0" tIns="0" rIns="0" bIns="0" anchor="t">
            <a:spAutoFit/>
          </a:bodyPr>
          <a:lstStyle/>
          <a:p>
            <a:pPr algn="l">
              <a:lnSpc>
                <a:spcPct val="112000"/>
              </a:lnSpc>
              <a:spcBef>
                <a:spcPts val="0"/>
              </a:spcBef>
              <a:spcAft>
                <a:spcPts val="500"/>
              </a:spcAft>
              <a:defRPr sz="1900" b="0">
                <a:solidFill>
                  <a:srgbClr val="5C6B62"/>
                </a:solidFill>
                <a:latin typeface="Arial"/>
              </a:defRPr>
            </a:pPr>
            <a:r>
              <a:t>Run and test the</a:t>
            </a:r>
          </a:p>
          <a:p>
            <a:pPr algn="l">
              <a:lnSpc>
                <a:spcPct val="112000"/>
              </a:lnSpc>
              <a:spcBef>
                <a:spcPts val="0"/>
              </a:spcBef>
              <a:spcAft>
                <a:spcPts val="500"/>
              </a:spcAft>
              <a:defRPr sz="1900" b="0">
                <a:solidFill>
                  <a:srgbClr val="5C6B62"/>
                </a:solidFill>
                <a:latin typeface="Arial"/>
              </a:defRPr>
            </a:pPr>
            <a:r>
              <a:t>delivered source.</a:t>
            </a:r>
          </a:p>
        </p:txBody>
      </p:sp>
      <p:sp>
        <p:nvSpPr>
          <p:cNvPr id="13" name="Oval 12"/>
          <p:cNvSpPr/>
          <p:nvPr/>
        </p:nvSpPr>
        <p:spPr>
          <a:xfrm>
            <a:off x="3557016" y="2084831"/>
            <a:ext cx="429768" cy="429768"/>
          </a:xfrm>
          <a:prstGeom prst="ellipse">
            <a:avLst/>
          </a:prstGeom>
          <a:solidFill>
            <a:srgbClr val="215C4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3557016" y="2157984"/>
            <a:ext cx="429768" cy="256032"/>
          </a:xfrm>
          <a:prstGeom prst="rect">
            <a:avLst/>
          </a:prstGeom>
          <a:noFill/>
          <a:effectLst/>
        </p:spPr>
        <p:txBody>
          <a:bodyPr wrap="square" lIns="0" tIns="0" rIns="0" bIns="0" anchor="t">
            <a:spAutoFit/>
          </a:bodyPr>
          <a:lstStyle/>
          <a:p>
            <a:pPr algn="ctr">
              <a:lnSpc>
                <a:spcPct val="112000"/>
              </a:lnSpc>
              <a:spcBef>
                <a:spcPts val="0"/>
              </a:spcBef>
              <a:spcAft>
                <a:spcPts val="500"/>
              </a:spcAft>
              <a:defRPr sz="1600" b="1">
                <a:solidFill>
                  <a:srgbClr val="FFFFFF"/>
                </a:solidFill>
                <a:latin typeface="Arial"/>
              </a:defRPr>
            </a:pPr>
            <a:r>
              <a:t>2</a:t>
            </a:r>
          </a:p>
        </p:txBody>
      </p:sp>
      <p:sp>
        <p:nvSpPr>
          <p:cNvPr id="15" name="TextBox 14"/>
          <p:cNvSpPr txBox="1"/>
          <p:nvPr/>
        </p:nvSpPr>
        <p:spPr>
          <a:xfrm>
            <a:off x="3557016" y="2743200"/>
            <a:ext cx="2606040" cy="731520"/>
          </a:xfrm>
          <a:prstGeom prst="rect">
            <a:avLst/>
          </a:prstGeom>
          <a:noFill/>
          <a:effectLst/>
        </p:spPr>
        <p:txBody>
          <a:bodyPr wrap="square" lIns="0" tIns="0" rIns="0" bIns="0" anchor="t">
            <a:spAutoFit/>
          </a:bodyPr>
          <a:lstStyle/>
          <a:p>
            <a:pPr algn="l">
              <a:lnSpc>
                <a:spcPct val="112000"/>
              </a:lnSpc>
              <a:spcBef>
                <a:spcPts val="0"/>
              </a:spcBef>
              <a:spcAft>
                <a:spcPts val="500"/>
              </a:spcAft>
              <a:defRPr sz="2300" b="1">
                <a:solidFill>
                  <a:srgbClr val="233D33"/>
                </a:solidFill>
                <a:latin typeface="Arial"/>
              </a:defRPr>
            </a:pPr>
            <a:r>
              <a:t>Push your Git repo</a:t>
            </a:r>
          </a:p>
        </p:txBody>
      </p:sp>
      <p:sp>
        <p:nvSpPr>
          <p:cNvPr id="16" name="TextBox 15"/>
          <p:cNvSpPr txBox="1"/>
          <p:nvPr/>
        </p:nvSpPr>
        <p:spPr>
          <a:xfrm>
            <a:off x="3557016" y="3703320"/>
            <a:ext cx="2542032" cy="914400"/>
          </a:xfrm>
          <a:prstGeom prst="rect">
            <a:avLst/>
          </a:prstGeom>
          <a:noFill/>
          <a:effectLst/>
        </p:spPr>
        <p:txBody>
          <a:bodyPr wrap="square" lIns="0" tIns="0" rIns="0" bIns="0" anchor="t">
            <a:spAutoFit/>
          </a:bodyPr>
          <a:lstStyle/>
          <a:p>
            <a:pPr algn="l">
              <a:lnSpc>
                <a:spcPct val="112000"/>
              </a:lnSpc>
              <a:spcBef>
                <a:spcPts val="0"/>
              </a:spcBef>
              <a:spcAft>
                <a:spcPts val="500"/>
              </a:spcAft>
              <a:defRPr sz="1900" b="0">
                <a:solidFill>
                  <a:srgbClr val="5C6B62"/>
                </a:solidFill>
                <a:latin typeface="Arial"/>
              </a:defRPr>
            </a:pPr>
            <a:r>
              <a:t>Use your own account;</a:t>
            </a:r>
          </a:p>
          <a:p>
            <a:pPr algn="l">
              <a:lnSpc>
                <a:spcPct val="112000"/>
              </a:lnSpc>
              <a:spcBef>
                <a:spcPts val="0"/>
              </a:spcBef>
              <a:spcAft>
                <a:spcPts val="500"/>
              </a:spcAft>
              <a:defRPr sz="1900" b="0">
                <a:solidFill>
                  <a:srgbClr val="5C6B62"/>
                </a:solidFill>
                <a:latin typeface="Arial"/>
              </a:defRPr>
            </a:pPr>
            <a:r>
              <a:t>keep secrets out.</a:t>
            </a:r>
          </a:p>
        </p:txBody>
      </p:sp>
      <p:sp>
        <p:nvSpPr>
          <p:cNvPr id="17" name="Oval 16"/>
          <p:cNvSpPr/>
          <p:nvPr/>
        </p:nvSpPr>
        <p:spPr>
          <a:xfrm>
            <a:off x="6409944" y="2084831"/>
            <a:ext cx="429768" cy="429768"/>
          </a:xfrm>
          <a:prstGeom prst="ellipse">
            <a:avLst/>
          </a:prstGeom>
          <a:solidFill>
            <a:srgbClr val="215C4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6409944" y="2157984"/>
            <a:ext cx="429768" cy="256032"/>
          </a:xfrm>
          <a:prstGeom prst="rect">
            <a:avLst/>
          </a:prstGeom>
          <a:noFill/>
          <a:effectLst/>
        </p:spPr>
        <p:txBody>
          <a:bodyPr wrap="square" lIns="0" tIns="0" rIns="0" bIns="0" anchor="t">
            <a:spAutoFit/>
          </a:bodyPr>
          <a:lstStyle/>
          <a:p>
            <a:pPr algn="ctr">
              <a:lnSpc>
                <a:spcPct val="112000"/>
              </a:lnSpc>
              <a:spcBef>
                <a:spcPts val="0"/>
              </a:spcBef>
              <a:spcAft>
                <a:spcPts val="500"/>
              </a:spcAft>
              <a:defRPr sz="1600" b="1">
                <a:solidFill>
                  <a:srgbClr val="FFFFFF"/>
                </a:solidFill>
                <a:latin typeface="Arial"/>
              </a:defRPr>
            </a:pPr>
            <a:r>
              <a:t>3</a:t>
            </a:r>
          </a:p>
        </p:txBody>
      </p:sp>
      <p:sp>
        <p:nvSpPr>
          <p:cNvPr id="19" name="TextBox 18"/>
          <p:cNvSpPr txBox="1"/>
          <p:nvPr/>
        </p:nvSpPr>
        <p:spPr>
          <a:xfrm>
            <a:off x="6409944" y="2743200"/>
            <a:ext cx="2606040" cy="731520"/>
          </a:xfrm>
          <a:prstGeom prst="rect">
            <a:avLst/>
          </a:prstGeom>
          <a:noFill/>
          <a:effectLst/>
        </p:spPr>
        <p:txBody>
          <a:bodyPr wrap="square" lIns="0" tIns="0" rIns="0" bIns="0" anchor="t">
            <a:spAutoFit/>
          </a:bodyPr>
          <a:lstStyle/>
          <a:p>
            <a:pPr algn="l">
              <a:lnSpc>
                <a:spcPct val="112000"/>
              </a:lnSpc>
              <a:spcBef>
                <a:spcPts val="0"/>
              </a:spcBef>
              <a:spcAft>
                <a:spcPts val="500"/>
              </a:spcAft>
              <a:defRPr sz="2300" b="1">
                <a:solidFill>
                  <a:srgbClr val="233D33"/>
                </a:solidFill>
                <a:latin typeface="Arial"/>
              </a:defRPr>
            </a:pPr>
            <a:r>
              <a:t>Connect Render</a:t>
            </a:r>
          </a:p>
        </p:txBody>
      </p:sp>
      <p:sp>
        <p:nvSpPr>
          <p:cNvPr id="20" name="TextBox 19"/>
          <p:cNvSpPr txBox="1"/>
          <p:nvPr/>
        </p:nvSpPr>
        <p:spPr>
          <a:xfrm>
            <a:off x="6409944" y="3703320"/>
            <a:ext cx="2542032" cy="914400"/>
          </a:xfrm>
          <a:prstGeom prst="rect">
            <a:avLst/>
          </a:prstGeom>
          <a:noFill/>
          <a:effectLst/>
        </p:spPr>
        <p:txBody>
          <a:bodyPr wrap="square" lIns="0" tIns="0" rIns="0" bIns="0" anchor="t">
            <a:spAutoFit/>
          </a:bodyPr>
          <a:lstStyle/>
          <a:p>
            <a:pPr algn="l">
              <a:lnSpc>
                <a:spcPct val="112000"/>
              </a:lnSpc>
              <a:spcBef>
                <a:spcPts val="0"/>
              </a:spcBef>
              <a:spcAft>
                <a:spcPts val="500"/>
              </a:spcAft>
              <a:defRPr sz="1900" b="0">
                <a:solidFill>
                  <a:srgbClr val="5C6B62"/>
                </a:solidFill>
                <a:latin typeface="Arial"/>
              </a:defRPr>
            </a:pPr>
            <a:r>
              <a:t>New → Blueprint;</a:t>
            </a:r>
          </a:p>
          <a:p>
            <a:pPr algn="l">
              <a:lnSpc>
                <a:spcPct val="112000"/>
              </a:lnSpc>
              <a:spcBef>
                <a:spcPts val="0"/>
              </a:spcBef>
              <a:spcAft>
                <a:spcPts val="500"/>
              </a:spcAft>
              <a:defRPr sz="1900" b="0">
                <a:solidFill>
                  <a:srgbClr val="5C6B62"/>
                </a:solidFill>
                <a:latin typeface="Arial"/>
              </a:defRPr>
            </a:pPr>
            <a:r>
              <a:t>review render.yaml.</a:t>
            </a:r>
          </a:p>
        </p:txBody>
      </p:sp>
      <p:sp>
        <p:nvSpPr>
          <p:cNvPr id="21" name="Oval 20"/>
          <p:cNvSpPr/>
          <p:nvPr/>
        </p:nvSpPr>
        <p:spPr>
          <a:xfrm>
            <a:off x="9262872" y="2084831"/>
            <a:ext cx="429768" cy="429768"/>
          </a:xfrm>
          <a:prstGeom prst="ellipse">
            <a:avLst/>
          </a:prstGeom>
          <a:solidFill>
            <a:srgbClr val="215C4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2" name="TextBox 21"/>
          <p:cNvSpPr txBox="1"/>
          <p:nvPr/>
        </p:nvSpPr>
        <p:spPr>
          <a:xfrm>
            <a:off x="9262872" y="2157984"/>
            <a:ext cx="429768" cy="256032"/>
          </a:xfrm>
          <a:prstGeom prst="rect">
            <a:avLst/>
          </a:prstGeom>
          <a:noFill/>
          <a:effectLst/>
        </p:spPr>
        <p:txBody>
          <a:bodyPr wrap="square" lIns="0" tIns="0" rIns="0" bIns="0" anchor="t">
            <a:spAutoFit/>
          </a:bodyPr>
          <a:lstStyle/>
          <a:p>
            <a:pPr algn="ctr">
              <a:lnSpc>
                <a:spcPct val="112000"/>
              </a:lnSpc>
              <a:spcBef>
                <a:spcPts val="0"/>
              </a:spcBef>
              <a:spcAft>
                <a:spcPts val="500"/>
              </a:spcAft>
              <a:defRPr sz="1600" b="1">
                <a:solidFill>
                  <a:srgbClr val="FFFFFF"/>
                </a:solidFill>
                <a:latin typeface="Arial"/>
              </a:defRPr>
            </a:pPr>
            <a:r>
              <a:t>4</a:t>
            </a:r>
          </a:p>
        </p:txBody>
      </p:sp>
      <p:sp>
        <p:nvSpPr>
          <p:cNvPr id="23" name="TextBox 22"/>
          <p:cNvSpPr txBox="1"/>
          <p:nvPr/>
        </p:nvSpPr>
        <p:spPr>
          <a:xfrm>
            <a:off x="9262872" y="2743200"/>
            <a:ext cx="2606040" cy="731520"/>
          </a:xfrm>
          <a:prstGeom prst="rect">
            <a:avLst/>
          </a:prstGeom>
          <a:noFill/>
          <a:effectLst/>
        </p:spPr>
        <p:txBody>
          <a:bodyPr wrap="square" lIns="0" tIns="0" rIns="0" bIns="0" anchor="t">
            <a:spAutoFit/>
          </a:bodyPr>
          <a:lstStyle/>
          <a:p>
            <a:pPr algn="l">
              <a:lnSpc>
                <a:spcPct val="112000"/>
              </a:lnSpc>
              <a:spcBef>
                <a:spcPts val="0"/>
              </a:spcBef>
              <a:spcAft>
                <a:spcPts val="500"/>
              </a:spcAft>
              <a:defRPr sz="2300" b="1">
                <a:solidFill>
                  <a:srgbClr val="233D33"/>
                </a:solidFill>
                <a:latin typeface="Arial"/>
              </a:defRPr>
            </a:pPr>
            <a:r>
              <a:t>Verify HTTPS</a:t>
            </a:r>
          </a:p>
        </p:txBody>
      </p:sp>
      <p:sp>
        <p:nvSpPr>
          <p:cNvPr id="24" name="TextBox 23"/>
          <p:cNvSpPr txBox="1"/>
          <p:nvPr/>
        </p:nvSpPr>
        <p:spPr>
          <a:xfrm>
            <a:off x="9262872" y="3703320"/>
            <a:ext cx="2542032" cy="914400"/>
          </a:xfrm>
          <a:prstGeom prst="rect">
            <a:avLst/>
          </a:prstGeom>
          <a:noFill/>
          <a:effectLst/>
        </p:spPr>
        <p:txBody>
          <a:bodyPr wrap="square" lIns="0" tIns="0" rIns="0" bIns="0" anchor="t">
            <a:spAutoFit/>
          </a:bodyPr>
          <a:lstStyle/>
          <a:p>
            <a:pPr algn="l">
              <a:lnSpc>
                <a:spcPct val="112000"/>
              </a:lnSpc>
              <a:spcBef>
                <a:spcPts val="0"/>
              </a:spcBef>
              <a:spcAft>
                <a:spcPts val="500"/>
              </a:spcAft>
              <a:defRPr sz="1900" b="0">
                <a:solidFill>
                  <a:srgbClr val="5C6B62"/>
                </a:solidFill>
                <a:latin typeface="Arial"/>
              </a:defRPr>
            </a:pPr>
            <a:r>
              <a:t>Test Kannada, CSV,</a:t>
            </a:r>
          </a:p>
          <a:p>
            <a:pPr algn="l">
              <a:lnSpc>
                <a:spcPct val="112000"/>
              </a:lnSpc>
              <a:spcBef>
                <a:spcPts val="0"/>
              </a:spcBef>
              <a:spcAft>
                <a:spcPts val="500"/>
              </a:spcAft>
              <a:defRPr sz="1900" b="0">
                <a:solidFill>
                  <a:srgbClr val="5C6B62"/>
                </a:solidFill>
                <a:latin typeface="Arial"/>
              </a:defRPr>
            </a:pPr>
            <a:r>
              <a:t>model, map and offline.</a:t>
            </a:r>
          </a:p>
        </p:txBody>
      </p:sp>
      <p:sp>
        <p:nvSpPr>
          <p:cNvPr id="25" name="Rounded Rectangle 24"/>
          <p:cNvSpPr/>
          <p:nvPr/>
        </p:nvSpPr>
        <p:spPr>
          <a:xfrm>
            <a:off x="722376" y="5084064"/>
            <a:ext cx="10771632" cy="731520"/>
          </a:xfrm>
          <a:prstGeom prst="roundRect">
            <a:avLst>
              <a:gd name="adj" fmla="val 12000"/>
            </a:avLst>
          </a:prstGeom>
          <a:solidFill>
            <a:srgbClr val="215C4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6" name="TextBox 25"/>
          <p:cNvSpPr txBox="1"/>
          <p:nvPr/>
        </p:nvSpPr>
        <p:spPr>
          <a:xfrm>
            <a:off x="932688" y="5303520"/>
            <a:ext cx="10305288" cy="347472"/>
          </a:xfrm>
          <a:prstGeom prst="rect">
            <a:avLst/>
          </a:prstGeom>
          <a:noFill/>
          <a:effectLst/>
        </p:spPr>
        <p:txBody>
          <a:bodyPr wrap="square" lIns="0" tIns="0" rIns="0" bIns="0" anchor="t">
            <a:spAutoFit/>
          </a:bodyPr>
          <a:lstStyle/>
          <a:p>
            <a:pPr algn="l">
              <a:lnSpc>
                <a:spcPct val="112000"/>
              </a:lnSpc>
              <a:spcBef>
                <a:spcPts val="0"/>
              </a:spcBef>
              <a:spcAft>
                <a:spcPts val="500"/>
              </a:spcAft>
              <a:defRPr sz="2000" b="1">
                <a:solidFill>
                  <a:srgbClr val="FFFFFF"/>
                </a:solidFill>
                <a:latin typeface="Arial"/>
              </a:defRPr>
            </a:pPr>
            <a:r>
              <a:t>Build: node scripts/build.mjs     |     Publish: public     |     Secrets: none</a:t>
            </a:r>
          </a:p>
        </p:txBody>
      </p:sp>
      <p:sp>
        <p:nvSpPr>
          <p:cNvPr id="27" name="TextBox 26"/>
          <p:cNvSpPr txBox="1"/>
          <p:nvPr/>
        </p:nvSpPr>
        <p:spPr>
          <a:xfrm>
            <a:off x="758952" y="5961888"/>
            <a:ext cx="10789920" cy="201168"/>
          </a:xfrm>
          <a:prstGeom prst="rect">
            <a:avLst/>
          </a:prstGeom>
          <a:noFill/>
          <a:effectLst/>
        </p:spPr>
        <p:txBody>
          <a:bodyPr wrap="square" lIns="0" tIns="0" rIns="0" bIns="0" anchor="t">
            <a:spAutoFit/>
          </a:bodyPr>
          <a:lstStyle/>
          <a:p>
            <a:pPr algn="l">
              <a:lnSpc>
                <a:spcPct val="112000"/>
              </a:lnSpc>
              <a:spcBef>
                <a:spcPts val="0"/>
              </a:spcBef>
              <a:spcAft>
                <a:spcPts val="500"/>
              </a:spcAft>
              <a:defRPr sz="1500" b="1">
                <a:solidFill>
                  <a:srgbClr val="A25436"/>
                </a:solidFill>
                <a:latin typeface="Arial"/>
              </a:defRPr>
            </a:pPr>
            <a:r>
              <a:t>Remote Git push and Render account deployment have not been performed.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9F5"/>
        </a:solidFill>
        <a:effectLst/>
      </p:bgPr>
    </p:bg>
    <p:spTree>
      <p:nvGrpSpPr>
        <p:cNvPr id="1" name=""/>
        <p:cNvGrpSpPr/>
        <p:nvPr/>
      </p:nvGrpSpPr>
      <p:grpSpPr>
        <a:xfrm>
          <a:off x="0" y="0"/>
          <a:ext cx="0" cy="0"/>
          <a:chOff x="0" y="0"/>
          <a:chExt cx="0" cy="0"/>
        </a:xfrm>
      </p:grpSpPr>
      <p:sp>
        <p:nvSpPr>
          <p:cNvPr id="2" name="TextBox 1"/>
          <p:cNvSpPr txBox="1"/>
          <p:nvPr/>
        </p:nvSpPr>
        <p:spPr>
          <a:xfrm>
            <a:off x="576072" y="310896"/>
            <a:ext cx="7315200" cy="237744"/>
          </a:xfrm>
          <a:prstGeom prst="rect">
            <a:avLst/>
          </a:prstGeom>
          <a:noFill/>
          <a:effectLst/>
        </p:spPr>
        <p:txBody>
          <a:bodyPr wrap="square" lIns="0" tIns="0" rIns="0" bIns="0" anchor="t">
            <a:spAutoFit/>
          </a:bodyPr>
          <a:lstStyle/>
          <a:p>
            <a:pPr algn="l">
              <a:lnSpc>
                <a:spcPct val="112000"/>
              </a:lnSpc>
              <a:spcBef>
                <a:spcPts val="0"/>
              </a:spcBef>
              <a:spcAft>
                <a:spcPts val="500"/>
              </a:spcAft>
              <a:defRPr sz="1000" b="1">
                <a:solidFill>
                  <a:srgbClr val="215C49"/>
                </a:solidFill>
                <a:latin typeface="Arial"/>
              </a:defRPr>
            </a:pPr>
            <a:r>
              <a:t>SAHAYA  /  HANDOVER</a:t>
            </a:r>
          </a:p>
        </p:txBody>
      </p:sp>
      <p:sp>
        <p:nvSpPr>
          <p:cNvPr id="3" name="TextBox 2"/>
          <p:cNvSpPr txBox="1"/>
          <p:nvPr/>
        </p:nvSpPr>
        <p:spPr>
          <a:xfrm>
            <a:off x="576072" y="749808"/>
            <a:ext cx="11064240" cy="576072"/>
          </a:xfrm>
          <a:prstGeom prst="rect">
            <a:avLst/>
          </a:prstGeom>
          <a:noFill/>
          <a:effectLst/>
        </p:spPr>
        <p:txBody>
          <a:bodyPr wrap="square" lIns="0" tIns="0" rIns="0" bIns="0" anchor="t">
            <a:spAutoFit/>
          </a:bodyPr>
          <a:lstStyle/>
          <a:p>
            <a:pPr algn="l">
              <a:lnSpc>
                <a:spcPct val="112000"/>
              </a:lnSpc>
              <a:spcBef>
                <a:spcPts val="0"/>
              </a:spcBef>
              <a:spcAft>
                <a:spcPts val="500"/>
              </a:spcAft>
              <a:defRPr sz="3100" b="0">
                <a:solidFill>
                  <a:srgbClr val="233D33"/>
                </a:solidFill>
                <a:latin typeface="Georgia"/>
              </a:defRPr>
            </a:pPr>
            <a:r>
              <a:t>The 15-week course journey</a:t>
            </a:r>
          </a:p>
        </p:txBody>
      </p:sp>
      <p:sp>
        <p:nvSpPr>
          <p:cNvPr id="4" name="TextBox 3"/>
          <p:cNvSpPr txBox="1"/>
          <p:nvPr/>
        </p:nvSpPr>
        <p:spPr>
          <a:xfrm>
            <a:off x="594360" y="1371600"/>
            <a:ext cx="10972800" cy="384048"/>
          </a:xfrm>
          <a:prstGeom prst="rect">
            <a:avLst/>
          </a:prstGeom>
          <a:noFill/>
          <a:effectLst/>
        </p:spPr>
        <p:txBody>
          <a:bodyPr wrap="square" lIns="0" tIns="0" rIns="0" bIns="0" anchor="t">
            <a:spAutoFit/>
          </a:bodyPr>
          <a:lstStyle/>
          <a:p>
            <a:pPr algn="l">
              <a:lnSpc>
                <a:spcPct val="112000"/>
              </a:lnSpc>
              <a:spcBef>
                <a:spcPts val="0"/>
              </a:spcBef>
              <a:spcAft>
                <a:spcPts val="500"/>
              </a:spcAft>
              <a:defRPr sz="1600" b="0">
                <a:solidFill>
                  <a:srgbClr val="5C6B62"/>
                </a:solidFill>
                <a:latin typeface="Arial"/>
              </a:defRPr>
            </a:pPr>
            <a:r>
              <a:t>A proposed schedule—not an attendance or fieldwork record.</a:t>
            </a:r>
          </a:p>
        </p:txBody>
      </p:sp>
      <p:cxnSp>
        <p:nvCxnSpPr>
          <p:cNvPr id="5" name="Connector 4"/>
          <p:cNvCxnSpPr/>
          <p:nvPr/>
        </p:nvCxnSpPr>
        <p:spPr>
          <a:xfrm>
            <a:off x="585216" y="6373368"/>
            <a:ext cx="11018520" cy="0"/>
          </a:xfrm>
          <a:prstGeom prst="line">
            <a:avLst/>
          </a:prstGeom>
          <a:ln w="12700">
            <a:solidFill>
              <a:srgbClr val="DCE4DA"/>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85216" y="6419088"/>
            <a:ext cx="10972800" cy="164592"/>
          </a:xfrm>
          <a:prstGeom prst="rect">
            <a:avLst/>
          </a:prstGeom>
          <a:noFill/>
          <a:effectLst/>
        </p:spPr>
        <p:txBody>
          <a:bodyPr wrap="square" lIns="0" tIns="0" rIns="0" bIns="0" anchor="t">
            <a:spAutoFit/>
          </a:bodyPr>
          <a:lstStyle/>
          <a:p>
            <a:pPr algn="l">
              <a:lnSpc>
                <a:spcPct val="112000"/>
              </a:lnSpc>
              <a:spcBef>
                <a:spcPts val="0"/>
              </a:spcBef>
              <a:spcAft>
                <a:spcPts val="500"/>
              </a:spcAft>
              <a:defRPr sz="800" b="0">
                <a:solidFill>
                  <a:srgbClr val="5C6B62"/>
                </a:solidFill>
                <a:latin typeface="Arial"/>
              </a:defRPr>
            </a:pPr>
            <a:r>
              <a:t>Report TLP table &amp; Ch. 6; docs/plan.json; docs/PLAN.md</a:t>
            </a:r>
          </a:p>
        </p:txBody>
      </p:sp>
      <p:sp>
        <p:nvSpPr>
          <p:cNvPr id="7" name="TextBox 6"/>
          <p:cNvSpPr txBox="1"/>
          <p:nvPr/>
        </p:nvSpPr>
        <p:spPr>
          <a:xfrm>
            <a:off x="585216" y="6638544"/>
            <a:ext cx="10607040" cy="173736"/>
          </a:xfrm>
          <a:prstGeom prst="rect">
            <a:avLst/>
          </a:prstGeom>
          <a:noFill/>
          <a:effectLst/>
        </p:spPr>
        <p:txBody>
          <a:bodyPr wrap="square" lIns="0" tIns="0" rIns="0" bIns="0" anchor="t">
            <a:spAutoFit/>
          </a:bodyPr>
          <a:lstStyle/>
          <a:p>
            <a:pPr algn="l">
              <a:lnSpc>
                <a:spcPct val="112000"/>
              </a:lnSpc>
              <a:spcBef>
                <a:spcPts val="0"/>
              </a:spcBef>
              <a:spcAft>
                <a:spcPts val="500"/>
              </a:spcAft>
              <a:defRPr sz="900" b="1">
                <a:solidFill>
                  <a:srgbClr val="215C49"/>
                </a:solidFill>
                <a:latin typeface="Arial"/>
              </a:defRPr>
            </a:pPr>
            <a:r>
              <a:t>Dr. Lokesh M R  |  Professor, ISE  |  AJIET, Mangaluru</a:t>
            </a:r>
          </a:p>
        </p:txBody>
      </p:sp>
      <p:sp>
        <p:nvSpPr>
          <p:cNvPr id="8" name="TextBox 7"/>
          <p:cNvSpPr txBox="1"/>
          <p:nvPr/>
        </p:nvSpPr>
        <p:spPr>
          <a:xfrm>
            <a:off x="11201400" y="6620256"/>
            <a:ext cx="393192" cy="210312"/>
          </a:xfrm>
          <a:prstGeom prst="rect">
            <a:avLst/>
          </a:prstGeom>
          <a:noFill/>
          <a:effectLst/>
        </p:spPr>
        <p:txBody>
          <a:bodyPr wrap="square" lIns="0" tIns="0" rIns="0" bIns="0" anchor="t">
            <a:spAutoFit/>
          </a:bodyPr>
          <a:lstStyle/>
          <a:p>
            <a:pPr algn="r">
              <a:lnSpc>
                <a:spcPct val="112000"/>
              </a:lnSpc>
              <a:spcBef>
                <a:spcPts val="0"/>
              </a:spcBef>
              <a:spcAft>
                <a:spcPts val="500"/>
              </a:spcAft>
              <a:defRPr sz="1000" b="1">
                <a:solidFill>
                  <a:srgbClr val="215C49"/>
                </a:solidFill>
                <a:latin typeface="Arial"/>
              </a:defRPr>
            </a:pPr>
            <a:r>
              <a:t>19</a:t>
            </a:r>
          </a:p>
        </p:txBody>
      </p:sp>
      <p:sp>
        <p:nvSpPr>
          <p:cNvPr id="9" name="Rounded Rectangle 8"/>
          <p:cNvSpPr/>
          <p:nvPr/>
        </p:nvSpPr>
        <p:spPr>
          <a:xfrm>
            <a:off x="685800" y="1975104"/>
            <a:ext cx="3575304" cy="3127248"/>
          </a:xfrm>
          <a:prstGeom prst="roundRect">
            <a:avLst>
              <a:gd name="adj" fmla="val 12000"/>
            </a:avLst>
          </a:prstGeom>
          <a:solidFill>
            <a:srgbClr val="E8ED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896112" y="2231136"/>
            <a:ext cx="3127248" cy="246888"/>
          </a:xfrm>
          <a:prstGeom prst="rect">
            <a:avLst/>
          </a:prstGeom>
          <a:noFill/>
          <a:effectLst/>
        </p:spPr>
        <p:txBody>
          <a:bodyPr wrap="square" lIns="0" tIns="0" rIns="0" bIns="0" anchor="t">
            <a:spAutoFit/>
          </a:bodyPr>
          <a:lstStyle/>
          <a:p>
            <a:pPr algn="l">
              <a:lnSpc>
                <a:spcPct val="112000"/>
              </a:lnSpc>
              <a:spcBef>
                <a:spcPts val="0"/>
              </a:spcBef>
              <a:spcAft>
                <a:spcPts val="500"/>
              </a:spcAft>
              <a:defRPr sz="1300" b="1">
                <a:solidFill>
                  <a:srgbClr val="215C49"/>
                </a:solidFill>
                <a:latin typeface="Arial"/>
              </a:defRPr>
            </a:pPr>
            <a:r>
              <a:t>WEEKS 1–5</a:t>
            </a:r>
          </a:p>
        </p:txBody>
      </p:sp>
      <p:sp>
        <p:nvSpPr>
          <p:cNvPr id="11" name="TextBox 10"/>
          <p:cNvSpPr txBox="1"/>
          <p:nvPr/>
        </p:nvSpPr>
        <p:spPr>
          <a:xfrm>
            <a:off x="896112" y="2761488"/>
            <a:ext cx="3136392" cy="795528"/>
          </a:xfrm>
          <a:prstGeom prst="rect">
            <a:avLst/>
          </a:prstGeom>
          <a:noFill/>
          <a:effectLst/>
        </p:spPr>
        <p:txBody>
          <a:bodyPr wrap="square" lIns="0" tIns="0" rIns="0" bIns="0" anchor="t">
            <a:spAutoFit/>
          </a:bodyPr>
          <a:lstStyle/>
          <a:p>
            <a:pPr algn="l">
              <a:lnSpc>
                <a:spcPct val="112000"/>
              </a:lnSpc>
              <a:spcBef>
                <a:spcPts val="0"/>
              </a:spcBef>
              <a:spcAft>
                <a:spcPts val="500"/>
              </a:spcAft>
              <a:defRPr sz="2800" b="0">
                <a:solidFill>
                  <a:srgbClr val="233D33"/>
                </a:solidFill>
                <a:latin typeface="Georgia"/>
              </a:defRPr>
            </a:pPr>
            <a:r>
              <a:t>Frame the problem</a:t>
            </a:r>
          </a:p>
        </p:txBody>
      </p:sp>
      <p:sp>
        <p:nvSpPr>
          <p:cNvPr id="12" name="TextBox 11"/>
          <p:cNvSpPr txBox="1"/>
          <p:nvPr/>
        </p:nvSpPr>
        <p:spPr>
          <a:xfrm>
            <a:off x="896112" y="3877056"/>
            <a:ext cx="3136392" cy="1152144"/>
          </a:xfrm>
          <a:prstGeom prst="rect">
            <a:avLst/>
          </a:prstGeom>
          <a:noFill/>
          <a:effectLst/>
        </p:spPr>
        <p:txBody>
          <a:bodyPr wrap="square" lIns="0" tIns="0" rIns="0" bIns="0" anchor="t">
            <a:spAutoFit/>
          </a:bodyPr>
          <a:lstStyle/>
          <a:p>
            <a:pPr algn="l">
              <a:lnSpc>
                <a:spcPct val="112000"/>
              </a:lnSpc>
              <a:spcBef>
                <a:spcPts val="0"/>
              </a:spcBef>
              <a:spcAft>
                <a:spcPts val="500"/>
              </a:spcAft>
              <a:defRPr sz="1900" b="0">
                <a:solidFill>
                  <a:srgbClr val="5C6B62"/>
                </a:solidFill>
                <a:latin typeface="Arial"/>
              </a:defRPr>
            </a:pPr>
            <a:r>
              <a:t>Ethics and scope</a:t>
            </a:r>
          </a:p>
          <a:p>
            <a:pPr algn="l">
              <a:lnSpc>
                <a:spcPct val="112000"/>
              </a:lnSpc>
              <a:spcBef>
                <a:spcPts val="0"/>
              </a:spcBef>
              <a:spcAft>
                <a:spcPts val="500"/>
              </a:spcAft>
              <a:defRPr sz="1900" b="0">
                <a:solidFill>
                  <a:srgbClr val="5C6B62"/>
                </a:solidFill>
                <a:latin typeface="Arial"/>
              </a:defRPr>
            </a:pPr>
            <a:r>
              <a:t>Community questions</a:t>
            </a:r>
          </a:p>
          <a:p>
            <a:pPr algn="l">
              <a:lnSpc>
                <a:spcPct val="112000"/>
              </a:lnSpc>
              <a:spcBef>
                <a:spcPts val="0"/>
              </a:spcBef>
              <a:spcAft>
                <a:spcPts val="500"/>
              </a:spcAft>
              <a:defRPr sz="1900" b="0">
                <a:solidFill>
                  <a:srgbClr val="5C6B62"/>
                </a:solidFill>
                <a:latin typeface="Arial"/>
              </a:defRPr>
            </a:pPr>
            <a:r>
              <a:t>Requirements and sources</a:t>
            </a:r>
          </a:p>
        </p:txBody>
      </p:sp>
      <p:sp>
        <p:nvSpPr>
          <p:cNvPr id="13" name="Rounded Rectangle 12"/>
          <p:cNvSpPr/>
          <p:nvPr/>
        </p:nvSpPr>
        <p:spPr>
          <a:xfrm>
            <a:off x="4489704" y="1975104"/>
            <a:ext cx="3575304" cy="3127248"/>
          </a:xfrm>
          <a:prstGeom prst="roundRect">
            <a:avLst>
              <a:gd name="adj" fmla="val 12000"/>
            </a:avLst>
          </a:prstGeom>
          <a:solidFill>
            <a:srgbClr val="F3EB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4" name="TextBox 13"/>
          <p:cNvSpPr txBox="1"/>
          <p:nvPr/>
        </p:nvSpPr>
        <p:spPr>
          <a:xfrm>
            <a:off x="4700016" y="2231136"/>
            <a:ext cx="3127248" cy="246888"/>
          </a:xfrm>
          <a:prstGeom prst="rect">
            <a:avLst/>
          </a:prstGeom>
          <a:noFill/>
          <a:effectLst/>
        </p:spPr>
        <p:txBody>
          <a:bodyPr wrap="square" lIns="0" tIns="0" rIns="0" bIns="0" anchor="t">
            <a:spAutoFit/>
          </a:bodyPr>
          <a:lstStyle/>
          <a:p>
            <a:pPr algn="l">
              <a:lnSpc>
                <a:spcPct val="112000"/>
              </a:lnSpc>
              <a:spcBef>
                <a:spcPts val="0"/>
              </a:spcBef>
              <a:spcAft>
                <a:spcPts val="500"/>
              </a:spcAft>
              <a:defRPr sz="1300" b="1">
                <a:solidFill>
                  <a:srgbClr val="215C49"/>
                </a:solidFill>
                <a:latin typeface="Arial"/>
              </a:defRPr>
            </a:pPr>
            <a:r>
              <a:t>WEEKS 6–10</a:t>
            </a:r>
          </a:p>
        </p:txBody>
      </p:sp>
      <p:sp>
        <p:nvSpPr>
          <p:cNvPr id="15" name="TextBox 14"/>
          <p:cNvSpPr txBox="1"/>
          <p:nvPr/>
        </p:nvSpPr>
        <p:spPr>
          <a:xfrm>
            <a:off x="4700016" y="2761488"/>
            <a:ext cx="3136392" cy="795528"/>
          </a:xfrm>
          <a:prstGeom prst="rect">
            <a:avLst/>
          </a:prstGeom>
          <a:noFill/>
          <a:effectLst/>
        </p:spPr>
        <p:txBody>
          <a:bodyPr wrap="square" lIns="0" tIns="0" rIns="0" bIns="0" anchor="t">
            <a:spAutoFit/>
          </a:bodyPr>
          <a:lstStyle/>
          <a:p>
            <a:pPr algn="l">
              <a:lnSpc>
                <a:spcPct val="112000"/>
              </a:lnSpc>
              <a:spcBef>
                <a:spcPts val="0"/>
              </a:spcBef>
              <a:spcAft>
                <a:spcPts val="500"/>
              </a:spcAft>
              <a:defRPr sz="2800" b="0">
                <a:solidFill>
                  <a:srgbClr val="233D33"/>
                </a:solidFill>
                <a:latin typeface="Georgia"/>
              </a:defRPr>
            </a:pPr>
            <a:r>
              <a:t>Design and build</a:t>
            </a:r>
          </a:p>
        </p:txBody>
      </p:sp>
      <p:sp>
        <p:nvSpPr>
          <p:cNvPr id="16" name="TextBox 15"/>
          <p:cNvSpPr txBox="1"/>
          <p:nvPr/>
        </p:nvSpPr>
        <p:spPr>
          <a:xfrm>
            <a:off x="4700016" y="3877056"/>
            <a:ext cx="3136392" cy="1152144"/>
          </a:xfrm>
          <a:prstGeom prst="rect">
            <a:avLst/>
          </a:prstGeom>
          <a:noFill/>
          <a:effectLst/>
        </p:spPr>
        <p:txBody>
          <a:bodyPr wrap="square" lIns="0" tIns="0" rIns="0" bIns="0" anchor="t">
            <a:spAutoFit/>
          </a:bodyPr>
          <a:lstStyle/>
          <a:p>
            <a:pPr algn="l">
              <a:lnSpc>
                <a:spcPct val="112000"/>
              </a:lnSpc>
              <a:spcBef>
                <a:spcPts val="0"/>
              </a:spcBef>
              <a:spcAft>
                <a:spcPts val="500"/>
              </a:spcAft>
              <a:defRPr sz="1900" b="0">
                <a:solidFill>
                  <a:srgbClr val="5C6B62"/>
                </a:solidFill>
                <a:latin typeface="Arial"/>
              </a:defRPr>
            </a:pPr>
            <a:r>
              <a:t>Plan and feasibility</a:t>
            </a:r>
          </a:p>
          <a:p>
            <a:pPr algn="l">
              <a:lnSpc>
                <a:spcPct val="112000"/>
              </a:lnSpc>
              <a:spcBef>
                <a:spcPts val="0"/>
              </a:spcBef>
              <a:spcAft>
                <a:spcPts val="500"/>
              </a:spcAft>
              <a:defRPr sz="1900" b="0">
                <a:solidFill>
                  <a:srgbClr val="5C6B62"/>
                </a:solidFill>
                <a:latin typeface="Arial"/>
              </a:defRPr>
            </a:pPr>
            <a:r>
              <a:t>Data, model and map</a:t>
            </a:r>
          </a:p>
          <a:p>
            <a:pPr algn="l">
              <a:lnSpc>
                <a:spcPct val="112000"/>
              </a:lnSpc>
              <a:spcBef>
                <a:spcPts val="0"/>
              </a:spcBef>
              <a:spcAft>
                <a:spcPts val="500"/>
              </a:spcAft>
              <a:defRPr sz="1900" b="0">
                <a:solidFill>
                  <a:srgbClr val="5C6B62"/>
                </a:solidFill>
                <a:latin typeface="Arial"/>
              </a:defRPr>
            </a:pPr>
            <a:r>
              <a:t>Browser prototype</a:t>
            </a:r>
          </a:p>
        </p:txBody>
      </p:sp>
      <p:sp>
        <p:nvSpPr>
          <p:cNvPr id="17" name="Rounded Rectangle 16"/>
          <p:cNvSpPr/>
          <p:nvPr/>
        </p:nvSpPr>
        <p:spPr>
          <a:xfrm>
            <a:off x="8293608" y="1975104"/>
            <a:ext cx="3575304" cy="3127248"/>
          </a:xfrm>
          <a:prstGeom prst="roundRect">
            <a:avLst>
              <a:gd name="adj" fmla="val 12000"/>
            </a:avLst>
          </a:prstGeom>
          <a:solidFill>
            <a:srgbClr val="E5EEF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8" name="TextBox 17"/>
          <p:cNvSpPr txBox="1"/>
          <p:nvPr/>
        </p:nvSpPr>
        <p:spPr>
          <a:xfrm>
            <a:off x="8503920" y="2231136"/>
            <a:ext cx="3127248" cy="246888"/>
          </a:xfrm>
          <a:prstGeom prst="rect">
            <a:avLst/>
          </a:prstGeom>
          <a:noFill/>
          <a:effectLst/>
        </p:spPr>
        <p:txBody>
          <a:bodyPr wrap="square" lIns="0" tIns="0" rIns="0" bIns="0" anchor="t">
            <a:spAutoFit/>
          </a:bodyPr>
          <a:lstStyle/>
          <a:p>
            <a:pPr algn="l">
              <a:lnSpc>
                <a:spcPct val="112000"/>
              </a:lnSpc>
              <a:spcBef>
                <a:spcPts val="0"/>
              </a:spcBef>
              <a:spcAft>
                <a:spcPts val="500"/>
              </a:spcAft>
              <a:defRPr sz="1300" b="1">
                <a:solidFill>
                  <a:srgbClr val="215C49"/>
                </a:solidFill>
                <a:latin typeface="Arial"/>
              </a:defRPr>
            </a:pPr>
            <a:r>
              <a:t>WEEKS 11–15</a:t>
            </a:r>
          </a:p>
        </p:txBody>
      </p:sp>
      <p:sp>
        <p:nvSpPr>
          <p:cNvPr id="19" name="TextBox 18"/>
          <p:cNvSpPr txBox="1"/>
          <p:nvPr/>
        </p:nvSpPr>
        <p:spPr>
          <a:xfrm>
            <a:off x="8503920" y="2761488"/>
            <a:ext cx="3136392" cy="795528"/>
          </a:xfrm>
          <a:prstGeom prst="rect">
            <a:avLst/>
          </a:prstGeom>
          <a:noFill/>
          <a:effectLst/>
        </p:spPr>
        <p:txBody>
          <a:bodyPr wrap="square" lIns="0" tIns="0" rIns="0" bIns="0" anchor="t">
            <a:spAutoFit/>
          </a:bodyPr>
          <a:lstStyle/>
          <a:p>
            <a:pPr algn="l">
              <a:lnSpc>
                <a:spcPct val="112000"/>
              </a:lnSpc>
              <a:spcBef>
                <a:spcPts val="0"/>
              </a:spcBef>
              <a:spcAft>
                <a:spcPts val="500"/>
              </a:spcAft>
              <a:defRPr sz="2800" b="0">
                <a:solidFill>
                  <a:srgbClr val="233D33"/>
                </a:solidFill>
                <a:latin typeface="Georgia"/>
              </a:defRPr>
            </a:pPr>
            <a:r>
              <a:t>Validate and hand over</a:t>
            </a:r>
          </a:p>
        </p:txBody>
      </p:sp>
      <p:sp>
        <p:nvSpPr>
          <p:cNvPr id="20" name="TextBox 19"/>
          <p:cNvSpPr txBox="1"/>
          <p:nvPr/>
        </p:nvSpPr>
        <p:spPr>
          <a:xfrm>
            <a:off x="8503920" y="3877056"/>
            <a:ext cx="3136392" cy="1152144"/>
          </a:xfrm>
          <a:prstGeom prst="rect">
            <a:avLst/>
          </a:prstGeom>
          <a:noFill/>
          <a:effectLst/>
        </p:spPr>
        <p:txBody>
          <a:bodyPr wrap="square" lIns="0" tIns="0" rIns="0" bIns="0" anchor="t">
            <a:spAutoFit/>
          </a:bodyPr>
          <a:lstStyle/>
          <a:p>
            <a:pPr algn="l">
              <a:lnSpc>
                <a:spcPct val="112000"/>
              </a:lnSpc>
              <a:spcBef>
                <a:spcPts val="0"/>
              </a:spcBef>
              <a:spcAft>
                <a:spcPts val="500"/>
              </a:spcAft>
              <a:defRPr sz="1900" b="0">
                <a:solidFill>
                  <a:srgbClr val="5C6B62"/>
                </a:solidFill>
                <a:latin typeface="Arial"/>
              </a:defRPr>
            </a:pPr>
            <a:r>
              <a:t>Technical tests</a:t>
            </a:r>
          </a:p>
          <a:p>
            <a:pPr algn="l">
              <a:lnSpc>
                <a:spcPct val="112000"/>
              </a:lnSpc>
              <a:spcBef>
                <a:spcPts val="0"/>
              </a:spcBef>
              <a:spcAft>
                <a:spcPts val="500"/>
              </a:spcAft>
              <a:defRPr sz="1900" b="0">
                <a:solidFill>
                  <a:srgbClr val="5C6B62"/>
                </a:solidFill>
                <a:latin typeface="Arial"/>
              </a:defRPr>
            </a:pPr>
            <a:r>
              <a:t>Approved fieldwork, if ready</a:t>
            </a:r>
          </a:p>
          <a:p>
            <a:pPr algn="l">
              <a:lnSpc>
                <a:spcPct val="112000"/>
              </a:lnSpc>
              <a:spcBef>
                <a:spcPts val="0"/>
              </a:spcBef>
              <a:spcAft>
                <a:spcPts val="500"/>
              </a:spcAft>
              <a:defRPr sz="1900" b="0">
                <a:solidFill>
                  <a:srgbClr val="5C6B62"/>
                </a:solidFill>
                <a:latin typeface="Arial"/>
              </a:defRPr>
            </a:pPr>
            <a:r>
              <a:t>Report, viva and deployment</a:t>
            </a:r>
          </a:p>
        </p:txBody>
      </p:sp>
      <p:sp>
        <p:nvSpPr>
          <p:cNvPr id="21" name="TextBox 20"/>
          <p:cNvSpPr txBox="1"/>
          <p:nvPr/>
        </p:nvSpPr>
        <p:spPr>
          <a:xfrm>
            <a:off x="804672" y="5495544"/>
            <a:ext cx="10652760" cy="466344"/>
          </a:xfrm>
          <a:prstGeom prst="rect">
            <a:avLst/>
          </a:prstGeom>
          <a:noFill/>
          <a:effectLst/>
        </p:spPr>
        <p:txBody>
          <a:bodyPr wrap="square" lIns="0" tIns="0" rIns="0" bIns="0" anchor="t">
            <a:spAutoFit/>
          </a:bodyPr>
          <a:lstStyle/>
          <a:p>
            <a:pPr algn="l">
              <a:lnSpc>
                <a:spcPct val="112000"/>
              </a:lnSpc>
              <a:spcBef>
                <a:spcPts val="0"/>
              </a:spcBef>
              <a:spcAft>
                <a:spcPts val="500"/>
              </a:spcAft>
              <a:defRPr sz="2400" b="1">
                <a:solidFill>
                  <a:srgbClr val="215C49"/>
                </a:solidFill>
                <a:latin typeface="Arial"/>
              </a:defRPr>
            </a:pPr>
            <a:r>
              <a:t>Planned effort: 30 hours term work + 30 hours self-learning = 60 hours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8F9F5"/>
        </a:solidFill>
        <a:effectLst/>
      </p:bgPr>
    </p:bg>
    <p:spTree>
      <p:nvGrpSpPr>
        <p:cNvPr id="1" name=""/>
        <p:cNvGrpSpPr/>
        <p:nvPr/>
      </p:nvGrpSpPr>
      <p:grpSpPr>
        <a:xfrm>
          <a:off x="0" y="0"/>
          <a:ext cx="0" cy="0"/>
          <a:chOff x="0" y="0"/>
          <a:chExt cx="0" cy="0"/>
        </a:xfrm>
      </p:grpSpPr>
      <p:sp>
        <p:nvSpPr>
          <p:cNvPr id="2" name="TextBox 1"/>
          <p:cNvSpPr txBox="1"/>
          <p:nvPr/>
        </p:nvSpPr>
        <p:spPr>
          <a:xfrm>
            <a:off x="576072" y="310896"/>
            <a:ext cx="7315200" cy="237744"/>
          </a:xfrm>
          <a:prstGeom prst="rect">
            <a:avLst/>
          </a:prstGeom>
          <a:noFill/>
          <a:effectLst/>
        </p:spPr>
        <p:txBody>
          <a:bodyPr wrap="square" lIns="0" tIns="0" rIns="0" bIns="0" anchor="t">
            <a:spAutoFit/>
          </a:bodyPr>
          <a:lstStyle/>
          <a:p>
            <a:pPr algn="l">
              <a:lnSpc>
                <a:spcPct val="112000"/>
              </a:lnSpc>
              <a:spcBef>
                <a:spcPts val="0"/>
              </a:spcBef>
              <a:spcAft>
                <a:spcPts val="500"/>
              </a:spcAft>
              <a:defRPr sz="1000" b="1">
                <a:solidFill>
                  <a:srgbClr val="215C49"/>
                </a:solidFill>
                <a:latin typeface="Arial"/>
              </a:defRPr>
            </a:pPr>
            <a:r>
              <a:t>SAHAYA  /  HANDOVER</a:t>
            </a:r>
          </a:p>
        </p:txBody>
      </p:sp>
      <p:sp>
        <p:nvSpPr>
          <p:cNvPr id="3" name="TextBox 2"/>
          <p:cNvSpPr txBox="1"/>
          <p:nvPr/>
        </p:nvSpPr>
        <p:spPr>
          <a:xfrm>
            <a:off x="576072" y="749808"/>
            <a:ext cx="11064240" cy="576072"/>
          </a:xfrm>
          <a:prstGeom prst="rect">
            <a:avLst/>
          </a:prstGeom>
          <a:noFill/>
          <a:effectLst/>
        </p:spPr>
        <p:txBody>
          <a:bodyPr wrap="square" lIns="0" tIns="0" rIns="0" bIns="0" anchor="t">
            <a:spAutoFit/>
          </a:bodyPr>
          <a:lstStyle/>
          <a:p>
            <a:pPr algn="l">
              <a:lnSpc>
                <a:spcPct val="112000"/>
              </a:lnSpc>
              <a:spcBef>
                <a:spcPts val="0"/>
              </a:spcBef>
              <a:spcAft>
                <a:spcPts val="500"/>
              </a:spcAft>
              <a:defRPr sz="3100" b="0">
                <a:solidFill>
                  <a:srgbClr val="233D33"/>
                </a:solidFill>
                <a:latin typeface="Georgia"/>
              </a:defRPr>
            </a:pPr>
            <a:r>
              <a:t>A delivered output is not a measured outcome.</a:t>
            </a:r>
          </a:p>
        </p:txBody>
      </p:sp>
      <p:cxnSp>
        <p:nvCxnSpPr>
          <p:cNvPr id="4" name="Connector 3"/>
          <p:cNvCxnSpPr/>
          <p:nvPr/>
        </p:nvCxnSpPr>
        <p:spPr>
          <a:xfrm>
            <a:off x="585216" y="6373368"/>
            <a:ext cx="11018520" cy="0"/>
          </a:xfrm>
          <a:prstGeom prst="line">
            <a:avLst/>
          </a:prstGeom>
          <a:ln w="12700">
            <a:solidFill>
              <a:srgbClr val="DCE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6419088"/>
            <a:ext cx="10972800" cy="164592"/>
          </a:xfrm>
          <a:prstGeom prst="rect">
            <a:avLst/>
          </a:prstGeom>
          <a:noFill/>
          <a:effectLst/>
        </p:spPr>
        <p:txBody>
          <a:bodyPr wrap="square" lIns="0" tIns="0" rIns="0" bIns="0" anchor="t">
            <a:spAutoFit/>
          </a:bodyPr>
          <a:lstStyle/>
          <a:p>
            <a:pPr algn="l">
              <a:lnSpc>
                <a:spcPct val="112000"/>
              </a:lnSpc>
              <a:spcBef>
                <a:spcPts val="0"/>
              </a:spcBef>
              <a:spcAft>
                <a:spcPts val="500"/>
              </a:spcAft>
              <a:defRPr sz="800" b="0">
                <a:solidFill>
                  <a:srgbClr val="5C6B62"/>
                </a:solidFill>
                <a:latin typeface="Arial"/>
              </a:defRPr>
            </a:pPr>
            <a:r>
              <a:t>Report Chs. 12–13; docs/FIELD_PROTOCOL.md; docs/REQUIREMENTS.md, R10</a:t>
            </a:r>
          </a:p>
        </p:txBody>
      </p:sp>
      <p:sp>
        <p:nvSpPr>
          <p:cNvPr id="6" name="TextBox 5"/>
          <p:cNvSpPr txBox="1"/>
          <p:nvPr/>
        </p:nvSpPr>
        <p:spPr>
          <a:xfrm>
            <a:off x="585216" y="6638544"/>
            <a:ext cx="10607040" cy="173736"/>
          </a:xfrm>
          <a:prstGeom prst="rect">
            <a:avLst/>
          </a:prstGeom>
          <a:noFill/>
          <a:effectLst/>
        </p:spPr>
        <p:txBody>
          <a:bodyPr wrap="square" lIns="0" tIns="0" rIns="0" bIns="0" anchor="t">
            <a:spAutoFit/>
          </a:bodyPr>
          <a:lstStyle/>
          <a:p>
            <a:pPr algn="l">
              <a:lnSpc>
                <a:spcPct val="112000"/>
              </a:lnSpc>
              <a:spcBef>
                <a:spcPts val="0"/>
              </a:spcBef>
              <a:spcAft>
                <a:spcPts val="500"/>
              </a:spcAft>
              <a:defRPr sz="900" b="1">
                <a:solidFill>
                  <a:srgbClr val="215C49"/>
                </a:solidFill>
                <a:latin typeface="Arial"/>
              </a:defRPr>
            </a:pPr>
            <a:r>
              <a:t>Dr. Lokesh M R  |  Professor, ISE  |  AJIET, Mangaluru</a:t>
            </a:r>
          </a:p>
        </p:txBody>
      </p:sp>
      <p:sp>
        <p:nvSpPr>
          <p:cNvPr id="7" name="TextBox 6"/>
          <p:cNvSpPr txBox="1"/>
          <p:nvPr/>
        </p:nvSpPr>
        <p:spPr>
          <a:xfrm>
            <a:off x="11201400" y="6620256"/>
            <a:ext cx="393192" cy="210312"/>
          </a:xfrm>
          <a:prstGeom prst="rect">
            <a:avLst/>
          </a:prstGeom>
          <a:noFill/>
          <a:effectLst/>
        </p:spPr>
        <p:txBody>
          <a:bodyPr wrap="square" lIns="0" tIns="0" rIns="0" bIns="0" anchor="t">
            <a:spAutoFit/>
          </a:bodyPr>
          <a:lstStyle/>
          <a:p>
            <a:pPr algn="r">
              <a:lnSpc>
                <a:spcPct val="112000"/>
              </a:lnSpc>
              <a:spcBef>
                <a:spcPts val="0"/>
              </a:spcBef>
              <a:spcAft>
                <a:spcPts val="500"/>
              </a:spcAft>
              <a:defRPr sz="1000" b="1">
                <a:solidFill>
                  <a:srgbClr val="215C49"/>
                </a:solidFill>
                <a:latin typeface="Arial"/>
              </a:defRPr>
            </a:pPr>
            <a:r>
              <a:t>20</a:t>
            </a:r>
          </a:p>
        </p:txBody>
      </p:sp>
      <p:sp>
        <p:nvSpPr>
          <p:cNvPr id="8" name="Rounded Rectangle 7"/>
          <p:cNvSpPr/>
          <p:nvPr/>
        </p:nvSpPr>
        <p:spPr>
          <a:xfrm>
            <a:off x="676656" y="1819656"/>
            <a:ext cx="5248656" cy="3602736"/>
          </a:xfrm>
          <a:prstGeom prst="roundRect">
            <a:avLst>
              <a:gd name="adj" fmla="val 12000"/>
            </a:avLst>
          </a:prstGeom>
          <a:solidFill>
            <a:srgbClr val="E8ED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9" name="Rounded Rectangle 8"/>
          <p:cNvSpPr/>
          <p:nvPr/>
        </p:nvSpPr>
        <p:spPr>
          <a:xfrm>
            <a:off x="6217920" y="1819656"/>
            <a:ext cx="5266944" cy="3602736"/>
          </a:xfrm>
          <a:prstGeom prst="roundRect">
            <a:avLst>
              <a:gd name="adj" fmla="val 12000"/>
            </a:avLst>
          </a:prstGeom>
          <a:solidFill>
            <a:srgbClr val="F3EB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941832" y="2084831"/>
            <a:ext cx="4709160" cy="320040"/>
          </a:xfrm>
          <a:prstGeom prst="rect">
            <a:avLst/>
          </a:prstGeom>
          <a:noFill/>
          <a:effectLst/>
        </p:spPr>
        <p:txBody>
          <a:bodyPr wrap="square" lIns="0" tIns="0" rIns="0" bIns="0" anchor="t">
            <a:spAutoFit/>
          </a:bodyPr>
          <a:lstStyle/>
          <a:p>
            <a:pPr algn="l">
              <a:lnSpc>
                <a:spcPct val="112000"/>
              </a:lnSpc>
              <a:spcBef>
                <a:spcPts val="0"/>
              </a:spcBef>
              <a:spcAft>
                <a:spcPts val="500"/>
              </a:spcAft>
              <a:defRPr sz="1300" b="1">
                <a:solidFill>
                  <a:srgbClr val="215C49"/>
                </a:solidFill>
                <a:latin typeface="Arial"/>
              </a:defRPr>
            </a:pPr>
            <a:r>
              <a:t>DELIVERED ENGINEERING</a:t>
            </a:r>
          </a:p>
        </p:txBody>
      </p:sp>
      <p:sp>
        <p:nvSpPr>
          <p:cNvPr id="11" name="TextBox 10"/>
          <p:cNvSpPr txBox="1"/>
          <p:nvPr/>
        </p:nvSpPr>
        <p:spPr>
          <a:xfrm>
            <a:off x="941832" y="2715768"/>
            <a:ext cx="4690872" cy="2331720"/>
          </a:xfrm>
          <a:prstGeom prst="rect">
            <a:avLst/>
          </a:prstGeom>
          <a:noFill/>
          <a:effectLst/>
        </p:spPr>
        <p:txBody>
          <a:bodyPr wrap="square" lIns="0" tIns="0" rIns="0" bIns="0" anchor="t">
            <a:spAutoFit/>
          </a:bodyPr>
          <a:lstStyle/>
          <a:p>
            <a:pPr algn="l">
              <a:lnSpc>
                <a:spcPct val="112000"/>
              </a:lnSpc>
              <a:spcBef>
                <a:spcPts val="0"/>
              </a:spcBef>
              <a:spcAft>
                <a:spcPts val="500"/>
              </a:spcAft>
              <a:defRPr sz="2400" b="0">
                <a:solidFill>
                  <a:srgbClr val="233D33"/>
                </a:solidFill>
                <a:latin typeface="Arial"/>
              </a:defRPr>
            </a:pPr>
            <a:r>
              <a:t>Working bilingual app</a:t>
            </a:r>
          </a:p>
          <a:p>
            <a:pPr algn="l">
              <a:lnSpc>
                <a:spcPct val="112000"/>
              </a:lnSpc>
              <a:spcBef>
                <a:spcPts val="0"/>
              </a:spcBef>
              <a:spcAft>
                <a:spcPts val="500"/>
              </a:spcAft>
              <a:defRPr sz="2400" b="0">
                <a:solidFill>
                  <a:srgbClr val="233D33"/>
                </a:solidFill>
                <a:latin typeface="Arial"/>
              </a:defRPr>
            </a:pPr>
            <a:r>
              <a:t>Sourced map and datasets</a:t>
            </a:r>
          </a:p>
          <a:p>
            <a:pPr algn="l">
              <a:lnSpc>
                <a:spcPct val="112000"/>
              </a:lnSpc>
              <a:spcBef>
                <a:spcPts val="0"/>
              </a:spcBef>
              <a:spcAft>
                <a:spcPts val="500"/>
              </a:spcAft>
              <a:defRPr sz="2400" b="0">
                <a:solidFill>
                  <a:srgbClr val="233D33"/>
                </a:solidFill>
                <a:latin typeface="Arial"/>
              </a:defRPr>
            </a:pPr>
            <a:r>
              <a:t>Model and technical evidence</a:t>
            </a:r>
          </a:p>
          <a:p>
            <a:pPr algn="l">
              <a:lnSpc>
                <a:spcPct val="112000"/>
              </a:lnSpc>
              <a:spcBef>
                <a:spcPts val="0"/>
              </a:spcBef>
              <a:spcAft>
                <a:spcPts val="500"/>
              </a:spcAft>
              <a:defRPr sz="2400" b="0">
                <a:solidFill>
                  <a:srgbClr val="233D33"/>
                </a:solidFill>
                <a:latin typeface="Arial"/>
              </a:defRPr>
            </a:pPr>
            <a:r>
              <a:t>Git / Render handover files</a:t>
            </a:r>
          </a:p>
        </p:txBody>
      </p:sp>
      <p:sp>
        <p:nvSpPr>
          <p:cNvPr id="12" name="TextBox 11"/>
          <p:cNvSpPr txBox="1"/>
          <p:nvPr/>
        </p:nvSpPr>
        <p:spPr>
          <a:xfrm>
            <a:off x="6492240" y="2084831"/>
            <a:ext cx="4663440" cy="320040"/>
          </a:xfrm>
          <a:prstGeom prst="rect">
            <a:avLst/>
          </a:prstGeom>
          <a:noFill/>
          <a:effectLst/>
        </p:spPr>
        <p:txBody>
          <a:bodyPr wrap="square" lIns="0" tIns="0" rIns="0" bIns="0" anchor="t">
            <a:spAutoFit/>
          </a:bodyPr>
          <a:lstStyle/>
          <a:p>
            <a:pPr algn="l">
              <a:lnSpc>
                <a:spcPct val="112000"/>
              </a:lnSpc>
              <a:spcBef>
                <a:spcPts val="0"/>
              </a:spcBef>
              <a:spcAft>
                <a:spcPts val="500"/>
              </a:spcAft>
              <a:defRPr sz="1300" b="1">
                <a:solidFill>
                  <a:srgbClr val="A25436"/>
                </a:solidFill>
                <a:latin typeface="Arial"/>
              </a:defRPr>
            </a:pPr>
            <a:r>
              <a:t>BEFORE CLASSROOM ADOPTION</a:t>
            </a:r>
          </a:p>
        </p:txBody>
      </p:sp>
      <p:sp>
        <p:nvSpPr>
          <p:cNvPr id="13" name="TextBox 12"/>
          <p:cNvSpPr txBox="1"/>
          <p:nvPr/>
        </p:nvSpPr>
        <p:spPr>
          <a:xfrm>
            <a:off x="6492240" y="2715768"/>
            <a:ext cx="4663440" cy="2331720"/>
          </a:xfrm>
          <a:prstGeom prst="rect">
            <a:avLst/>
          </a:prstGeom>
          <a:noFill/>
          <a:effectLst/>
        </p:spPr>
        <p:txBody>
          <a:bodyPr wrap="square" lIns="0" tIns="0" rIns="0" bIns="0" anchor="t">
            <a:spAutoFit/>
          </a:bodyPr>
          <a:lstStyle/>
          <a:p>
            <a:pPr algn="l">
              <a:lnSpc>
                <a:spcPct val="112000"/>
              </a:lnSpc>
              <a:spcBef>
                <a:spcPts val="0"/>
              </a:spcBef>
              <a:spcAft>
                <a:spcPts val="500"/>
              </a:spcAft>
              <a:defRPr sz="2300" b="0">
                <a:solidFill>
                  <a:srgbClr val="233D33"/>
                </a:solidFill>
                <a:latin typeface="Arial"/>
              </a:defRPr>
            </a:pPr>
            <a:r>
              <a:t>School-approved requirements</a:t>
            </a:r>
          </a:p>
          <a:p>
            <a:pPr algn="l">
              <a:lnSpc>
                <a:spcPct val="112000"/>
              </a:lnSpc>
              <a:spcBef>
                <a:spcPts val="0"/>
              </a:spcBef>
              <a:spcAft>
                <a:spcPts val="500"/>
              </a:spcAft>
              <a:defRPr sz="2300" b="0">
                <a:solidFill>
                  <a:srgbClr val="233D33"/>
                </a:solidFill>
                <a:latin typeface="Arial"/>
              </a:defRPr>
            </a:pPr>
            <a:r>
              <a:t>Kannada and access review</a:t>
            </a:r>
          </a:p>
          <a:p>
            <a:pPr algn="l">
              <a:lnSpc>
                <a:spcPct val="112000"/>
              </a:lnSpc>
              <a:spcBef>
                <a:spcPts val="0"/>
              </a:spcBef>
              <a:spcAft>
                <a:spcPts val="500"/>
              </a:spcAft>
              <a:defRPr sz="2300" b="0">
                <a:solidFill>
                  <a:srgbClr val="233D33"/>
                </a:solidFill>
                <a:latin typeface="Arial"/>
              </a:defRPr>
            </a:pPr>
            <a:r>
              <a:t>Permission, consent and assent</a:t>
            </a:r>
          </a:p>
          <a:p>
            <a:pPr algn="l">
              <a:lnSpc>
                <a:spcPct val="112000"/>
              </a:lnSpc>
              <a:spcBef>
                <a:spcPts val="0"/>
              </a:spcBef>
              <a:spcAft>
                <a:spcPts val="500"/>
              </a:spcAft>
              <a:defRPr sz="2300" b="0">
                <a:solidFill>
                  <a:srgbClr val="233D33"/>
                </a:solidFill>
                <a:latin typeface="Arial"/>
              </a:defRPr>
            </a:pPr>
            <a:r>
              <a:t>Supervised trial and feedback</a:t>
            </a:r>
          </a:p>
        </p:txBody>
      </p:sp>
      <p:sp>
        <p:nvSpPr>
          <p:cNvPr id="14" name="TextBox 13"/>
          <p:cNvSpPr txBox="1"/>
          <p:nvPr/>
        </p:nvSpPr>
        <p:spPr>
          <a:xfrm>
            <a:off x="822960" y="5733288"/>
            <a:ext cx="10597896" cy="356616"/>
          </a:xfrm>
          <a:prstGeom prst="rect">
            <a:avLst/>
          </a:prstGeom>
          <a:noFill/>
          <a:effectLst/>
        </p:spPr>
        <p:txBody>
          <a:bodyPr wrap="square" lIns="0" tIns="0" rIns="0" bIns="0" anchor="t">
            <a:spAutoFit/>
          </a:bodyPr>
          <a:lstStyle/>
          <a:p>
            <a:pPr algn="l">
              <a:lnSpc>
                <a:spcPct val="112000"/>
              </a:lnSpc>
              <a:spcBef>
                <a:spcPts val="0"/>
              </a:spcBef>
              <a:spcAft>
                <a:spcPts val="500"/>
              </a:spcAft>
              <a:defRPr sz="2000" b="1">
                <a:solidFill>
                  <a:srgbClr val="215C49"/>
                </a:solidFill>
                <a:latin typeface="Arial"/>
              </a:defRPr>
            </a:pPr>
            <a:r>
              <a:t>Learner improvement: not measured. School surveys and learner trials: none claimed.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8F9F5"/>
        </a:solidFill>
        <a:effectLst/>
      </p:bgPr>
    </p:bg>
    <p:spTree>
      <p:nvGrpSpPr>
        <p:cNvPr id="1" name=""/>
        <p:cNvGrpSpPr/>
        <p:nvPr/>
      </p:nvGrpSpPr>
      <p:grpSpPr>
        <a:xfrm>
          <a:off x="0" y="0"/>
          <a:ext cx="0" cy="0"/>
          <a:chOff x="0" y="0"/>
          <a:chExt cx="0" cy="0"/>
        </a:xfrm>
      </p:grpSpPr>
      <p:sp>
        <p:nvSpPr>
          <p:cNvPr id="2" name="TextBox 1"/>
          <p:cNvSpPr txBox="1"/>
          <p:nvPr/>
        </p:nvSpPr>
        <p:spPr>
          <a:xfrm>
            <a:off x="576072" y="310896"/>
            <a:ext cx="7315200" cy="237744"/>
          </a:xfrm>
          <a:prstGeom prst="rect">
            <a:avLst/>
          </a:prstGeom>
          <a:noFill/>
          <a:effectLst/>
        </p:spPr>
        <p:txBody>
          <a:bodyPr wrap="square" lIns="0" tIns="0" rIns="0" bIns="0" anchor="t">
            <a:spAutoFit/>
          </a:bodyPr>
          <a:lstStyle/>
          <a:p>
            <a:pPr algn="l">
              <a:lnSpc>
                <a:spcPct val="112000"/>
              </a:lnSpc>
              <a:spcBef>
                <a:spcPts val="0"/>
              </a:spcBef>
              <a:spcAft>
                <a:spcPts val="500"/>
              </a:spcAft>
              <a:defRPr sz="1000" b="1">
                <a:solidFill>
                  <a:srgbClr val="215C49"/>
                </a:solidFill>
                <a:latin typeface="Arial"/>
              </a:defRPr>
            </a:pPr>
            <a:r>
              <a:t>SAHAYA  /  AUTHOR PROFILE</a:t>
            </a:r>
          </a:p>
        </p:txBody>
      </p:sp>
      <p:sp>
        <p:nvSpPr>
          <p:cNvPr id="3" name="TextBox 2"/>
          <p:cNvSpPr txBox="1"/>
          <p:nvPr/>
        </p:nvSpPr>
        <p:spPr>
          <a:xfrm>
            <a:off x="576072" y="749808"/>
            <a:ext cx="11064240" cy="576072"/>
          </a:xfrm>
          <a:prstGeom prst="rect">
            <a:avLst/>
          </a:prstGeom>
          <a:noFill/>
          <a:effectLst/>
        </p:spPr>
        <p:txBody>
          <a:bodyPr wrap="square" lIns="0" tIns="0" rIns="0" bIns="0" anchor="t">
            <a:spAutoFit/>
          </a:bodyPr>
          <a:lstStyle/>
          <a:p>
            <a:pPr algn="l">
              <a:lnSpc>
                <a:spcPct val="112000"/>
              </a:lnSpc>
              <a:spcBef>
                <a:spcPts val="0"/>
              </a:spcBef>
              <a:spcAft>
                <a:spcPts val="500"/>
              </a:spcAft>
              <a:defRPr sz="3100" b="0">
                <a:solidFill>
                  <a:srgbClr val="233D33"/>
                </a:solidFill>
                <a:latin typeface="Georgia"/>
              </a:defRPr>
            </a:pPr>
            <a:r>
              <a:t>Research, teaching &amp; academic service</a:t>
            </a:r>
          </a:p>
        </p:txBody>
      </p:sp>
      <p:sp>
        <p:nvSpPr>
          <p:cNvPr id="4" name="TextBox 3"/>
          <p:cNvSpPr txBox="1"/>
          <p:nvPr/>
        </p:nvSpPr>
        <p:spPr>
          <a:xfrm>
            <a:off x="594360" y="1371600"/>
            <a:ext cx="10972800" cy="384048"/>
          </a:xfrm>
          <a:prstGeom prst="rect">
            <a:avLst/>
          </a:prstGeom>
          <a:noFill/>
          <a:effectLst/>
        </p:spPr>
        <p:txBody>
          <a:bodyPr wrap="square" lIns="0" tIns="0" rIns="0" bIns="0" anchor="t">
            <a:spAutoFit/>
          </a:bodyPr>
          <a:lstStyle/>
          <a:p>
            <a:pPr algn="l">
              <a:lnSpc>
                <a:spcPct val="112000"/>
              </a:lnSpc>
              <a:spcBef>
                <a:spcPts val="0"/>
              </a:spcBef>
              <a:spcAft>
                <a:spcPts val="500"/>
              </a:spcAft>
              <a:defRPr sz="1600" b="0">
                <a:solidFill>
                  <a:srgbClr val="5C6B62"/>
                </a:solidFill>
                <a:latin typeface="Arial"/>
              </a:defRPr>
            </a:pPr>
            <a:r>
              <a:t>Over 22 years in teaching, research and administration across premier institutions in Karnataka.</a:t>
            </a:r>
          </a:p>
        </p:txBody>
      </p:sp>
      <p:cxnSp>
        <p:nvCxnSpPr>
          <p:cNvPr id="5" name="Connector 4"/>
          <p:cNvCxnSpPr/>
          <p:nvPr/>
        </p:nvCxnSpPr>
        <p:spPr>
          <a:xfrm>
            <a:off x="585216" y="6373368"/>
            <a:ext cx="11018520" cy="0"/>
          </a:xfrm>
          <a:prstGeom prst="line">
            <a:avLst/>
          </a:prstGeom>
          <a:ln w="12700">
            <a:solidFill>
              <a:srgbClr val="DCE4DA"/>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85216" y="6419088"/>
            <a:ext cx="10972800" cy="164592"/>
          </a:xfrm>
          <a:prstGeom prst="rect">
            <a:avLst/>
          </a:prstGeom>
          <a:noFill/>
          <a:effectLst/>
        </p:spPr>
        <p:txBody>
          <a:bodyPr wrap="square" lIns="0" tIns="0" rIns="0" bIns="0" anchor="t">
            <a:spAutoFit/>
          </a:bodyPr>
          <a:lstStyle/>
          <a:p>
            <a:pPr algn="l">
              <a:lnSpc>
                <a:spcPct val="112000"/>
              </a:lnSpc>
              <a:spcBef>
                <a:spcPts val="0"/>
              </a:spcBef>
              <a:spcAft>
                <a:spcPts val="500"/>
              </a:spcAft>
              <a:defRPr sz="800" b="0">
                <a:solidFill>
                  <a:srgbClr val="5C6B62"/>
                </a:solidFill>
                <a:latin typeface="Arial"/>
              </a:defRPr>
            </a:pPr>
            <a:r>
              <a:t>Professional biography supplied for this presentation; no additional publication or patent counts inferred.</a:t>
            </a:r>
          </a:p>
        </p:txBody>
      </p:sp>
      <p:sp>
        <p:nvSpPr>
          <p:cNvPr id="7" name="TextBox 6"/>
          <p:cNvSpPr txBox="1"/>
          <p:nvPr/>
        </p:nvSpPr>
        <p:spPr>
          <a:xfrm>
            <a:off x="585216" y="6638544"/>
            <a:ext cx="10607040" cy="173736"/>
          </a:xfrm>
          <a:prstGeom prst="rect">
            <a:avLst/>
          </a:prstGeom>
          <a:noFill/>
          <a:effectLst/>
        </p:spPr>
        <p:txBody>
          <a:bodyPr wrap="square" lIns="0" tIns="0" rIns="0" bIns="0" anchor="t">
            <a:spAutoFit/>
          </a:bodyPr>
          <a:lstStyle/>
          <a:p>
            <a:pPr algn="l">
              <a:lnSpc>
                <a:spcPct val="112000"/>
              </a:lnSpc>
              <a:spcBef>
                <a:spcPts val="0"/>
              </a:spcBef>
              <a:spcAft>
                <a:spcPts val="500"/>
              </a:spcAft>
              <a:defRPr sz="900" b="1">
                <a:solidFill>
                  <a:srgbClr val="215C49"/>
                </a:solidFill>
                <a:latin typeface="Arial"/>
              </a:defRPr>
            </a:pPr>
            <a:r>
              <a:t>Dr. Lokesh M R  |  Professor, ISE  |  AJIET, Mangaluru</a:t>
            </a:r>
          </a:p>
        </p:txBody>
      </p:sp>
      <p:sp>
        <p:nvSpPr>
          <p:cNvPr id="8" name="TextBox 7"/>
          <p:cNvSpPr txBox="1"/>
          <p:nvPr/>
        </p:nvSpPr>
        <p:spPr>
          <a:xfrm>
            <a:off x="11201400" y="6620256"/>
            <a:ext cx="393192" cy="210312"/>
          </a:xfrm>
          <a:prstGeom prst="rect">
            <a:avLst/>
          </a:prstGeom>
          <a:noFill/>
          <a:effectLst/>
        </p:spPr>
        <p:txBody>
          <a:bodyPr wrap="square" lIns="0" tIns="0" rIns="0" bIns="0" anchor="t">
            <a:spAutoFit/>
          </a:bodyPr>
          <a:lstStyle/>
          <a:p>
            <a:pPr algn="r">
              <a:lnSpc>
                <a:spcPct val="112000"/>
              </a:lnSpc>
              <a:spcBef>
                <a:spcPts val="0"/>
              </a:spcBef>
              <a:spcAft>
                <a:spcPts val="500"/>
              </a:spcAft>
              <a:defRPr sz="1000" b="1">
                <a:solidFill>
                  <a:srgbClr val="215C49"/>
                </a:solidFill>
                <a:latin typeface="Arial"/>
              </a:defRPr>
            </a:pPr>
            <a:r>
              <a:t>21</a:t>
            </a:r>
          </a:p>
        </p:txBody>
      </p:sp>
      <p:sp>
        <p:nvSpPr>
          <p:cNvPr id="9" name="TextBox 8"/>
          <p:cNvSpPr txBox="1"/>
          <p:nvPr/>
        </p:nvSpPr>
        <p:spPr>
          <a:xfrm>
            <a:off x="722376" y="1783080"/>
            <a:ext cx="5577840" cy="265176"/>
          </a:xfrm>
          <a:prstGeom prst="rect">
            <a:avLst/>
          </a:prstGeom>
          <a:noFill/>
          <a:effectLst/>
        </p:spPr>
        <p:txBody>
          <a:bodyPr wrap="square" lIns="0" tIns="0" rIns="0" bIns="0" anchor="t">
            <a:spAutoFit/>
          </a:bodyPr>
          <a:lstStyle/>
          <a:p>
            <a:pPr algn="l">
              <a:lnSpc>
                <a:spcPct val="112000"/>
              </a:lnSpc>
              <a:spcBef>
                <a:spcPts val="0"/>
              </a:spcBef>
              <a:spcAft>
                <a:spcPts val="500"/>
              </a:spcAft>
              <a:defRPr sz="1200" b="1">
                <a:solidFill>
                  <a:srgbClr val="215C49"/>
                </a:solidFill>
                <a:latin typeface="Arial"/>
              </a:defRPr>
            </a:pPr>
            <a:r>
              <a:t>RESEARCH SPECIALISATIONS</a:t>
            </a:r>
          </a:p>
        </p:txBody>
      </p:sp>
      <p:sp>
        <p:nvSpPr>
          <p:cNvPr id="10" name="Rounded Rectangle 9"/>
          <p:cNvSpPr/>
          <p:nvPr/>
        </p:nvSpPr>
        <p:spPr>
          <a:xfrm>
            <a:off x="713232" y="2221992"/>
            <a:ext cx="2724912" cy="1097280"/>
          </a:xfrm>
          <a:prstGeom prst="roundRect">
            <a:avLst>
              <a:gd name="adj" fmla="val 12000"/>
            </a:avLst>
          </a:prstGeom>
          <a:solidFill>
            <a:srgbClr val="E8ED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1" name="TextBox 10"/>
          <p:cNvSpPr txBox="1"/>
          <p:nvPr/>
        </p:nvSpPr>
        <p:spPr>
          <a:xfrm>
            <a:off x="905256" y="2441448"/>
            <a:ext cx="2340864" cy="694944"/>
          </a:xfrm>
          <a:prstGeom prst="rect">
            <a:avLst/>
          </a:prstGeom>
          <a:noFill/>
          <a:effectLst/>
        </p:spPr>
        <p:txBody>
          <a:bodyPr wrap="square" lIns="0" tIns="0" rIns="0" bIns="0" anchor="t">
            <a:spAutoFit/>
          </a:bodyPr>
          <a:lstStyle/>
          <a:p>
            <a:pPr algn="l">
              <a:lnSpc>
                <a:spcPct val="112000"/>
              </a:lnSpc>
              <a:spcBef>
                <a:spcPts val="0"/>
              </a:spcBef>
              <a:spcAft>
                <a:spcPts val="500"/>
              </a:spcAft>
              <a:defRPr sz="1800" b="0">
                <a:solidFill>
                  <a:srgbClr val="233D33"/>
                </a:solidFill>
                <a:latin typeface="Georgia"/>
              </a:defRPr>
            </a:pPr>
            <a:r>
              <a:t>Cyber-Physical</a:t>
            </a:r>
          </a:p>
          <a:p>
            <a:pPr algn="l">
              <a:lnSpc>
                <a:spcPct val="112000"/>
              </a:lnSpc>
              <a:spcBef>
                <a:spcPts val="0"/>
              </a:spcBef>
              <a:spcAft>
                <a:spcPts val="500"/>
              </a:spcAft>
              <a:defRPr sz="1800" b="0">
                <a:solidFill>
                  <a:srgbClr val="233D33"/>
                </a:solidFill>
                <a:latin typeface="Georgia"/>
              </a:defRPr>
            </a:pPr>
            <a:r>
              <a:t>Systems</a:t>
            </a:r>
          </a:p>
        </p:txBody>
      </p:sp>
      <p:sp>
        <p:nvSpPr>
          <p:cNvPr id="12" name="Rounded Rectangle 11"/>
          <p:cNvSpPr/>
          <p:nvPr/>
        </p:nvSpPr>
        <p:spPr>
          <a:xfrm>
            <a:off x="3657600" y="2221992"/>
            <a:ext cx="2724912" cy="1097280"/>
          </a:xfrm>
          <a:prstGeom prst="roundRect">
            <a:avLst>
              <a:gd name="adj" fmla="val 12000"/>
            </a:avLst>
          </a:prstGeom>
          <a:solidFill>
            <a:srgbClr val="F3EBD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3" name="TextBox 12"/>
          <p:cNvSpPr txBox="1"/>
          <p:nvPr/>
        </p:nvSpPr>
        <p:spPr>
          <a:xfrm>
            <a:off x="3849624" y="2441448"/>
            <a:ext cx="2340864" cy="694944"/>
          </a:xfrm>
          <a:prstGeom prst="rect">
            <a:avLst/>
          </a:prstGeom>
          <a:noFill/>
          <a:effectLst/>
        </p:spPr>
        <p:txBody>
          <a:bodyPr wrap="square" lIns="0" tIns="0" rIns="0" bIns="0" anchor="t">
            <a:spAutoFit/>
          </a:bodyPr>
          <a:lstStyle/>
          <a:p>
            <a:pPr algn="l">
              <a:lnSpc>
                <a:spcPct val="112000"/>
              </a:lnSpc>
              <a:spcBef>
                <a:spcPts val="0"/>
              </a:spcBef>
              <a:spcAft>
                <a:spcPts val="500"/>
              </a:spcAft>
              <a:defRPr sz="1800" b="0">
                <a:solidFill>
                  <a:srgbClr val="233D33"/>
                </a:solidFill>
                <a:latin typeface="Georgia"/>
              </a:defRPr>
            </a:pPr>
            <a:r>
              <a:t>Artificial Immune</a:t>
            </a:r>
          </a:p>
          <a:p>
            <a:pPr algn="l">
              <a:lnSpc>
                <a:spcPct val="112000"/>
              </a:lnSpc>
              <a:spcBef>
                <a:spcPts val="0"/>
              </a:spcBef>
              <a:spcAft>
                <a:spcPts val="500"/>
              </a:spcAft>
              <a:defRPr sz="1800" b="0">
                <a:solidFill>
                  <a:srgbClr val="233D33"/>
                </a:solidFill>
                <a:latin typeface="Georgia"/>
              </a:defRPr>
            </a:pPr>
            <a:r>
              <a:t>Systems</a:t>
            </a:r>
          </a:p>
        </p:txBody>
      </p:sp>
      <p:sp>
        <p:nvSpPr>
          <p:cNvPr id="14" name="Rounded Rectangle 13"/>
          <p:cNvSpPr/>
          <p:nvPr/>
        </p:nvSpPr>
        <p:spPr>
          <a:xfrm>
            <a:off x="713232" y="3538728"/>
            <a:ext cx="2724912" cy="1097280"/>
          </a:xfrm>
          <a:prstGeom prst="roundRect">
            <a:avLst>
              <a:gd name="adj" fmla="val 12000"/>
            </a:avLst>
          </a:prstGeom>
          <a:solidFill>
            <a:srgbClr val="E5EEF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5" name="TextBox 14"/>
          <p:cNvSpPr txBox="1"/>
          <p:nvPr/>
        </p:nvSpPr>
        <p:spPr>
          <a:xfrm>
            <a:off x="905256" y="3758184"/>
            <a:ext cx="2340864" cy="694944"/>
          </a:xfrm>
          <a:prstGeom prst="rect">
            <a:avLst/>
          </a:prstGeom>
          <a:noFill/>
          <a:effectLst/>
        </p:spPr>
        <p:txBody>
          <a:bodyPr wrap="square" lIns="0" tIns="0" rIns="0" bIns="0" anchor="t">
            <a:spAutoFit/>
          </a:bodyPr>
          <a:lstStyle/>
          <a:p>
            <a:pPr algn="l">
              <a:lnSpc>
                <a:spcPct val="112000"/>
              </a:lnSpc>
              <a:spcBef>
                <a:spcPts val="0"/>
              </a:spcBef>
              <a:spcAft>
                <a:spcPts val="500"/>
              </a:spcAft>
              <a:defRPr sz="1800" b="0">
                <a:solidFill>
                  <a:srgbClr val="233D33"/>
                </a:solidFill>
                <a:latin typeface="Georgia"/>
              </a:defRPr>
            </a:pPr>
            <a:r>
              <a:t>Fault-Tolerant</a:t>
            </a:r>
          </a:p>
          <a:p>
            <a:pPr algn="l">
              <a:lnSpc>
                <a:spcPct val="112000"/>
              </a:lnSpc>
              <a:spcBef>
                <a:spcPts val="0"/>
              </a:spcBef>
              <a:spcAft>
                <a:spcPts val="500"/>
              </a:spcAft>
              <a:defRPr sz="1800" b="0">
                <a:solidFill>
                  <a:srgbClr val="233D33"/>
                </a:solidFill>
                <a:latin typeface="Georgia"/>
              </a:defRPr>
            </a:pPr>
            <a:r>
              <a:t>Computing</a:t>
            </a:r>
          </a:p>
        </p:txBody>
      </p:sp>
      <p:sp>
        <p:nvSpPr>
          <p:cNvPr id="16" name="Rounded Rectangle 15"/>
          <p:cNvSpPr/>
          <p:nvPr/>
        </p:nvSpPr>
        <p:spPr>
          <a:xfrm>
            <a:off x="3657600" y="3538728"/>
            <a:ext cx="2724912" cy="1097280"/>
          </a:xfrm>
          <a:prstGeom prst="roundRect">
            <a:avLst>
              <a:gd name="adj" fmla="val 12000"/>
            </a:avLst>
          </a:prstGeom>
          <a:solidFill>
            <a:srgbClr val="EBE7F2"/>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7" name="TextBox 16"/>
          <p:cNvSpPr txBox="1"/>
          <p:nvPr/>
        </p:nvSpPr>
        <p:spPr>
          <a:xfrm>
            <a:off x="3849624" y="3758184"/>
            <a:ext cx="2340864" cy="694944"/>
          </a:xfrm>
          <a:prstGeom prst="rect">
            <a:avLst/>
          </a:prstGeom>
          <a:noFill/>
          <a:effectLst/>
        </p:spPr>
        <p:txBody>
          <a:bodyPr wrap="square" lIns="0" tIns="0" rIns="0" bIns="0" anchor="t">
            <a:spAutoFit/>
          </a:bodyPr>
          <a:lstStyle/>
          <a:p>
            <a:pPr algn="l">
              <a:lnSpc>
                <a:spcPct val="112000"/>
              </a:lnSpc>
              <a:spcBef>
                <a:spcPts val="0"/>
              </a:spcBef>
              <a:spcAft>
                <a:spcPts val="500"/>
              </a:spcAft>
              <a:defRPr sz="1800" b="0">
                <a:solidFill>
                  <a:srgbClr val="233D33"/>
                </a:solidFill>
                <a:latin typeface="Georgia"/>
              </a:defRPr>
            </a:pPr>
            <a:r>
              <a:t>Multi-Agent</a:t>
            </a:r>
          </a:p>
          <a:p>
            <a:pPr algn="l">
              <a:lnSpc>
                <a:spcPct val="112000"/>
              </a:lnSpc>
              <a:spcBef>
                <a:spcPts val="0"/>
              </a:spcBef>
              <a:spcAft>
                <a:spcPts val="500"/>
              </a:spcAft>
              <a:defRPr sz="1800" b="0">
                <a:solidFill>
                  <a:srgbClr val="233D33"/>
                </a:solidFill>
                <a:latin typeface="Georgia"/>
              </a:defRPr>
            </a:pPr>
            <a:r>
              <a:t>Systems</a:t>
            </a:r>
          </a:p>
        </p:txBody>
      </p:sp>
      <p:sp>
        <p:nvSpPr>
          <p:cNvPr id="18" name="Rounded Rectangle 17"/>
          <p:cNvSpPr/>
          <p:nvPr/>
        </p:nvSpPr>
        <p:spPr>
          <a:xfrm>
            <a:off x="722376" y="5029200"/>
            <a:ext cx="5669280" cy="832104"/>
          </a:xfrm>
          <a:prstGeom prst="roundRect">
            <a:avLst>
              <a:gd name="adj" fmla="val 12000"/>
            </a:avLst>
          </a:prstGeom>
          <a:solidFill>
            <a:srgbClr val="215C4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9" name="TextBox 18"/>
          <p:cNvSpPr txBox="1"/>
          <p:nvPr/>
        </p:nvSpPr>
        <p:spPr>
          <a:xfrm>
            <a:off x="941832" y="5175504"/>
            <a:ext cx="1993392" cy="228600"/>
          </a:xfrm>
          <a:prstGeom prst="rect">
            <a:avLst/>
          </a:prstGeom>
          <a:noFill/>
          <a:effectLst/>
        </p:spPr>
        <p:txBody>
          <a:bodyPr wrap="square" lIns="0" tIns="0" rIns="0" bIns="0" anchor="t">
            <a:spAutoFit/>
          </a:bodyPr>
          <a:lstStyle/>
          <a:p>
            <a:pPr algn="l">
              <a:lnSpc>
                <a:spcPct val="112000"/>
              </a:lnSpc>
              <a:spcBef>
                <a:spcPts val="0"/>
              </a:spcBef>
              <a:spcAft>
                <a:spcPts val="500"/>
              </a:spcAft>
              <a:defRPr sz="1200" b="1">
                <a:solidFill>
                  <a:srgbClr val="CEDDC9"/>
                </a:solidFill>
                <a:latin typeface="Arial"/>
              </a:defRPr>
            </a:pPr>
            <a:r>
              <a:t>LIFE MEMBER</a:t>
            </a:r>
          </a:p>
        </p:txBody>
      </p:sp>
      <p:sp>
        <p:nvSpPr>
          <p:cNvPr id="20" name="TextBox 19"/>
          <p:cNvSpPr txBox="1"/>
          <p:nvPr/>
        </p:nvSpPr>
        <p:spPr>
          <a:xfrm>
            <a:off x="2980944" y="5193792"/>
            <a:ext cx="2980944" cy="420624"/>
          </a:xfrm>
          <a:prstGeom prst="rect">
            <a:avLst/>
          </a:prstGeom>
          <a:noFill/>
          <a:effectLst/>
        </p:spPr>
        <p:txBody>
          <a:bodyPr wrap="square" lIns="0" tIns="0" rIns="0" bIns="0" anchor="t">
            <a:spAutoFit/>
          </a:bodyPr>
          <a:lstStyle/>
          <a:p>
            <a:pPr algn="l">
              <a:lnSpc>
                <a:spcPct val="112000"/>
              </a:lnSpc>
              <a:spcBef>
                <a:spcPts val="0"/>
              </a:spcBef>
              <a:spcAft>
                <a:spcPts val="500"/>
              </a:spcAft>
              <a:defRPr sz="2500" b="1">
                <a:solidFill>
                  <a:srgbClr val="FFFFFF"/>
                </a:solidFill>
                <a:latin typeface="Arial"/>
              </a:defRPr>
            </a:pPr>
            <a:r>
              <a:t>CSI and ISTE</a:t>
            </a:r>
          </a:p>
        </p:txBody>
      </p:sp>
      <p:sp>
        <p:nvSpPr>
          <p:cNvPr id="21" name="TextBox 20"/>
          <p:cNvSpPr txBox="1"/>
          <p:nvPr/>
        </p:nvSpPr>
        <p:spPr>
          <a:xfrm>
            <a:off x="6922008" y="1856231"/>
            <a:ext cx="4517136" cy="338328"/>
          </a:xfrm>
          <a:prstGeom prst="rect">
            <a:avLst/>
          </a:prstGeom>
          <a:noFill/>
          <a:effectLst/>
        </p:spPr>
        <p:txBody>
          <a:bodyPr wrap="square" lIns="0" tIns="0" rIns="0" bIns="0" anchor="t">
            <a:spAutoFit/>
          </a:bodyPr>
          <a:lstStyle/>
          <a:p>
            <a:pPr algn="l">
              <a:lnSpc>
                <a:spcPct val="112000"/>
              </a:lnSpc>
              <a:spcBef>
                <a:spcPts val="0"/>
              </a:spcBef>
              <a:spcAft>
                <a:spcPts val="500"/>
              </a:spcAft>
              <a:defRPr sz="2200" b="1">
                <a:solidFill>
                  <a:srgbClr val="215C49"/>
                </a:solidFill>
                <a:latin typeface="Arial"/>
              </a:defRPr>
            </a:pPr>
            <a:r>
              <a:t>Publications &amp; patent</a:t>
            </a:r>
          </a:p>
        </p:txBody>
      </p:sp>
      <p:sp>
        <p:nvSpPr>
          <p:cNvPr id="22" name="TextBox 21"/>
          <p:cNvSpPr txBox="1"/>
          <p:nvPr/>
        </p:nvSpPr>
        <p:spPr>
          <a:xfrm>
            <a:off x="6931152" y="2377440"/>
            <a:ext cx="4507992" cy="868680"/>
          </a:xfrm>
          <a:prstGeom prst="rect">
            <a:avLst/>
          </a:prstGeom>
          <a:noFill/>
          <a:effectLst/>
        </p:spPr>
        <p:txBody>
          <a:bodyPr wrap="square" lIns="0" tIns="0" rIns="0" bIns="0" anchor="t">
            <a:spAutoFit/>
          </a:bodyPr>
          <a:lstStyle/>
          <a:p>
            <a:pPr algn="l">
              <a:lnSpc>
                <a:spcPct val="112000"/>
              </a:lnSpc>
              <a:spcBef>
                <a:spcPts val="0"/>
              </a:spcBef>
              <a:spcAft>
                <a:spcPts val="500"/>
              </a:spcAft>
              <a:defRPr sz="1800" b="0">
                <a:solidFill>
                  <a:srgbClr val="233D33"/>
                </a:solidFill>
                <a:latin typeface="Arial"/>
              </a:defRPr>
            </a:pPr>
            <a:r>
              <a:t>Published extensively in Scopus-indexed and UGC-approved journals; holds a granted patent.</a:t>
            </a:r>
          </a:p>
        </p:txBody>
      </p:sp>
      <p:sp>
        <p:nvSpPr>
          <p:cNvPr id="23" name="TextBox 22"/>
          <p:cNvSpPr txBox="1"/>
          <p:nvPr/>
        </p:nvSpPr>
        <p:spPr>
          <a:xfrm>
            <a:off x="6922008" y="3493008"/>
            <a:ext cx="4517136" cy="347472"/>
          </a:xfrm>
          <a:prstGeom prst="rect">
            <a:avLst/>
          </a:prstGeom>
          <a:noFill/>
          <a:effectLst/>
        </p:spPr>
        <p:txBody>
          <a:bodyPr wrap="square" lIns="0" tIns="0" rIns="0" bIns="0" anchor="t">
            <a:spAutoFit/>
          </a:bodyPr>
          <a:lstStyle/>
          <a:p>
            <a:pPr algn="l">
              <a:lnSpc>
                <a:spcPct val="112000"/>
              </a:lnSpc>
              <a:spcBef>
                <a:spcPts val="0"/>
              </a:spcBef>
              <a:spcAft>
                <a:spcPts val="500"/>
              </a:spcAft>
              <a:defRPr sz="2100" b="1">
                <a:solidFill>
                  <a:srgbClr val="215C49"/>
                </a:solidFill>
                <a:latin typeface="Arial"/>
              </a:defRPr>
            </a:pPr>
            <a:r>
              <a:t>Supervision &amp; funded research</a:t>
            </a:r>
          </a:p>
        </p:txBody>
      </p:sp>
      <p:sp>
        <p:nvSpPr>
          <p:cNvPr id="24" name="TextBox 23"/>
          <p:cNvSpPr txBox="1"/>
          <p:nvPr/>
        </p:nvSpPr>
        <p:spPr>
          <a:xfrm>
            <a:off x="6931152" y="3995928"/>
            <a:ext cx="4507992" cy="932688"/>
          </a:xfrm>
          <a:prstGeom prst="rect">
            <a:avLst/>
          </a:prstGeom>
          <a:noFill/>
          <a:effectLst/>
        </p:spPr>
        <p:txBody>
          <a:bodyPr wrap="square" lIns="0" tIns="0" rIns="0" bIns="0" anchor="t">
            <a:spAutoFit/>
          </a:bodyPr>
          <a:lstStyle/>
          <a:p>
            <a:pPr algn="l">
              <a:lnSpc>
                <a:spcPct val="112000"/>
              </a:lnSpc>
              <a:spcBef>
                <a:spcPts val="0"/>
              </a:spcBef>
              <a:spcAft>
                <a:spcPts val="500"/>
              </a:spcAft>
              <a:defRPr sz="1800" b="0">
                <a:solidFill>
                  <a:srgbClr val="233D33"/>
                </a:solidFill>
                <a:latin typeface="Arial"/>
              </a:defRPr>
            </a:pPr>
            <a:r>
              <a:t>Supervises Ph.D. scholars under VTU; contributed to KSCST- and AICTE-funded research projects.</a:t>
            </a:r>
          </a:p>
        </p:txBody>
      </p:sp>
      <p:sp>
        <p:nvSpPr>
          <p:cNvPr id="25" name="TextBox 24"/>
          <p:cNvSpPr txBox="1"/>
          <p:nvPr/>
        </p:nvSpPr>
        <p:spPr>
          <a:xfrm>
            <a:off x="6922008" y="5138928"/>
            <a:ext cx="4517136" cy="347472"/>
          </a:xfrm>
          <a:prstGeom prst="rect">
            <a:avLst/>
          </a:prstGeom>
          <a:noFill/>
          <a:effectLst/>
        </p:spPr>
        <p:txBody>
          <a:bodyPr wrap="square" lIns="0" tIns="0" rIns="0" bIns="0" anchor="t">
            <a:spAutoFit/>
          </a:bodyPr>
          <a:lstStyle/>
          <a:p>
            <a:pPr algn="l">
              <a:lnSpc>
                <a:spcPct val="112000"/>
              </a:lnSpc>
              <a:spcBef>
                <a:spcPts val="0"/>
              </a:spcBef>
              <a:spcAft>
                <a:spcPts val="500"/>
              </a:spcAft>
              <a:defRPr sz="2100" b="1">
                <a:solidFill>
                  <a:srgbClr val="215C49"/>
                </a:solidFill>
                <a:latin typeface="Arial"/>
              </a:defRPr>
            </a:pPr>
            <a:r>
              <a:t>Invited talks</a:t>
            </a:r>
          </a:p>
        </p:txBody>
      </p:sp>
      <p:sp>
        <p:nvSpPr>
          <p:cNvPr id="26" name="TextBox 25"/>
          <p:cNvSpPr txBox="1"/>
          <p:nvPr/>
        </p:nvSpPr>
        <p:spPr>
          <a:xfrm>
            <a:off x="6931152" y="5623560"/>
            <a:ext cx="4507992" cy="429768"/>
          </a:xfrm>
          <a:prstGeom prst="rect">
            <a:avLst/>
          </a:prstGeom>
          <a:noFill/>
          <a:effectLst/>
        </p:spPr>
        <p:txBody>
          <a:bodyPr wrap="square" lIns="0" tIns="0" rIns="0" bIns="0" anchor="t">
            <a:spAutoFit/>
          </a:bodyPr>
          <a:lstStyle/>
          <a:p>
            <a:pPr algn="l">
              <a:lnSpc>
                <a:spcPct val="112000"/>
              </a:lnSpc>
              <a:spcBef>
                <a:spcPts val="0"/>
              </a:spcBef>
              <a:spcAft>
                <a:spcPts val="500"/>
              </a:spcAft>
              <a:defRPr sz="1800" b="0">
                <a:solidFill>
                  <a:srgbClr val="233D33"/>
                </a:solidFill>
                <a:latin typeface="Arial"/>
              </a:defRPr>
            </a:pPr>
            <a:r>
              <a:t>FDPs, workshops and conferences.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8F9F5"/>
        </a:solidFill>
        <a:effectLst/>
      </p:bgPr>
    </p:bg>
    <p:spTree>
      <p:nvGrpSpPr>
        <p:cNvPr id="1" name=""/>
        <p:cNvGrpSpPr/>
        <p:nvPr/>
      </p:nvGrpSpPr>
      <p:grpSpPr>
        <a:xfrm>
          <a:off x="0" y="0"/>
          <a:ext cx="0" cy="0"/>
          <a:chOff x="0" y="0"/>
          <a:chExt cx="0" cy="0"/>
        </a:xfrm>
      </p:grpSpPr>
      <p:sp>
        <p:nvSpPr>
          <p:cNvPr id="2" name="TextBox 1"/>
          <p:cNvSpPr txBox="1"/>
          <p:nvPr/>
        </p:nvSpPr>
        <p:spPr>
          <a:xfrm>
            <a:off x="576072" y="310896"/>
            <a:ext cx="7315200" cy="237744"/>
          </a:xfrm>
          <a:prstGeom prst="rect">
            <a:avLst/>
          </a:prstGeom>
          <a:noFill/>
          <a:effectLst/>
        </p:spPr>
        <p:txBody>
          <a:bodyPr wrap="square" lIns="0" tIns="0" rIns="0" bIns="0" anchor="t">
            <a:spAutoFit/>
          </a:bodyPr>
          <a:lstStyle/>
          <a:p>
            <a:pPr algn="l">
              <a:lnSpc>
                <a:spcPct val="112000"/>
              </a:lnSpc>
              <a:spcBef>
                <a:spcPts val="0"/>
              </a:spcBef>
              <a:spcAft>
                <a:spcPts val="500"/>
              </a:spcAft>
              <a:defRPr sz="1000" b="1">
                <a:solidFill>
                  <a:srgbClr val="215C49"/>
                </a:solidFill>
                <a:latin typeface="Arial"/>
              </a:defRPr>
            </a:pPr>
            <a:r>
              <a:t>SAHAYA  /  AUTHOR PROFILE</a:t>
            </a:r>
          </a:p>
        </p:txBody>
      </p:sp>
      <p:sp>
        <p:nvSpPr>
          <p:cNvPr id="3" name="TextBox 2"/>
          <p:cNvSpPr txBox="1"/>
          <p:nvPr/>
        </p:nvSpPr>
        <p:spPr>
          <a:xfrm>
            <a:off x="576072" y="749808"/>
            <a:ext cx="11064240" cy="576072"/>
          </a:xfrm>
          <a:prstGeom prst="rect">
            <a:avLst/>
          </a:prstGeom>
          <a:noFill/>
          <a:effectLst/>
        </p:spPr>
        <p:txBody>
          <a:bodyPr wrap="square" lIns="0" tIns="0" rIns="0" bIns="0" anchor="t">
            <a:spAutoFit/>
          </a:bodyPr>
          <a:lstStyle/>
          <a:p>
            <a:pPr algn="l">
              <a:lnSpc>
                <a:spcPct val="112000"/>
              </a:lnSpc>
              <a:spcBef>
                <a:spcPts val="0"/>
              </a:spcBef>
              <a:spcAft>
                <a:spcPts val="500"/>
              </a:spcAft>
              <a:defRPr sz="3100" b="0">
                <a:solidFill>
                  <a:srgbClr val="233D33"/>
                </a:solidFill>
                <a:latin typeface="Georgia"/>
              </a:defRPr>
            </a:pPr>
            <a:r>
              <a:t>Contact &amp; scholarly profiles</a:t>
            </a:r>
          </a:p>
        </p:txBody>
      </p:sp>
      <p:sp>
        <p:nvSpPr>
          <p:cNvPr id="4" name="TextBox 3"/>
          <p:cNvSpPr txBox="1"/>
          <p:nvPr/>
        </p:nvSpPr>
        <p:spPr>
          <a:xfrm>
            <a:off x="594360" y="1371600"/>
            <a:ext cx="10972800" cy="384048"/>
          </a:xfrm>
          <a:prstGeom prst="rect">
            <a:avLst/>
          </a:prstGeom>
          <a:noFill/>
          <a:effectLst/>
        </p:spPr>
        <p:txBody>
          <a:bodyPr wrap="square" lIns="0" tIns="0" rIns="0" bIns="0" anchor="t">
            <a:spAutoFit/>
          </a:bodyPr>
          <a:lstStyle/>
          <a:p>
            <a:pPr algn="l">
              <a:lnSpc>
                <a:spcPct val="112000"/>
              </a:lnSpc>
              <a:spcBef>
                <a:spcPts val="0"/>
              </a:spcBef>
              <a:spcAft>
                <a:spcPts val="500"/>
              </a:spcAft>
              <a:defRPr sz="1600" b="0">
                <a:solidFill>
                  <a:srgbClr val="5C6B62"/>
                </a:solidFill>
                <a:latin typeface="Arial"/>
              </a:defRPr>
            </a:pPr>
            <a:r>
              <a:t>Dr. Lokesh M R • select a link to open the corresponding profile.</a:t>
            </a:r>
          </a:p>
        </p:txBody>
      </p:sp>
      <p:cxnSp>
        <p:nvCxnSpPr>
          <p:cNvPr id="5" name="Connector 4"/>
          <p:cNvCxnSpPr/>
          <p:nvPr/>
        </p:nvCxnSpPr>
        <p:spPr>
          <a:xfrm>
            <a:off x="585216" y="6373368"/>
            <a:ext cx="11018520" cy="0"/>
          </a:xfrm>
          <a:prstGeom prst="line">
            <a:avLst/>
          </a:prstGeom>
          <a:ln w="12700">
            <a:solidFill>
              <a:srgbClr val="DCE4DA"/>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85216" y="6419088"/>
            <a:ext cx="10972800" cy="164592"/>
          </a:xfrm>
          <a:prstGeom prst="rect">
            <a:avLst/>
          </a:prstGeom>
          <a:noFill/>
          <a:effectLst/>
        </p:spPr>
        <p:txBody>
          <a:bodyPr wrap="square" lIns="0" tIns="0" rIns="0" bIns="0" anchor="t">
            <a:spAutoFit/>
          </a:bodyPr>
          <a:lstStyle/>
          <a:p>
            <a:pPr algn="l">
              <a:lnSpc>
                <a:spcPct val="112000"/>
              </a:lnSpc>
              <a:spcBef>
                <a:spcPts val="0"/>
              </a:spcBef>
              <a:spcAft>
                <a:spcPts val="500"/>
              </a:spcAft>
              <a:defRPr sz="800" b="0">
                <a:solidFill>
                  <a:srgbClr val="5C6B62"/>
                </a:solidFill>
                <a:latin typeface="Arial"/>
              </a:defRPr>
            </a:pPr>
            <a:r>
              <a:t>Contact details and identifiers supplied for publication in these slides.</a:t>
            </a:r>
          </a:p>
        </p:txBody>
      </p:sp>
      <p:sp>
        <p:nvSpPr>
          <p:cNvPr id="7" name="TextBox 6"/>
          <p:cNvSpPr txBox="1"/>
          <p:nvPr/>
        </p:nvSpPr>
        <p:spPr>
          <a:xfrm>
            <a:off x="585216" y="6638544"/>
            <a:ext cx="10607040" cy="173736"/>
          </a:xfrm>
          <a:prstGeom prst="rect">
            <a:avLst/>
          </a:prstGeom>
          <a:noFill/>
          <a:effectLst/>
        </p:spPr>
        <p:txBody>
          <a:bodyPr wrap="square" lIns="0" tIns="0" rIns="0" bIns="0" anchor="t">
            <a:spAutoFit/>
          </a:bodyPr>
          <a:lstStyle/>
          <a:p>
            <a:pPr algn="l">
              <a:lnSpc>
                <a:spcPct val="112000"/>
              </a:lnSpc>
              <a:spcBef>
                <a:spcPts val="0"/>
              </a:spcBef>
              <a:spcAft>
                <a:spcPts val="500"/>
              </a:spcAft>
              <a:defRPr sz="900" b="1">
                <a:solidFill>
                  <a:srgbClr val="215C49"/>
                </a:solidFill>
                <a:latin typeface="Arial"/>
              </a:defRPr>
            </a:pPr>
            <a:r>
              <a:t>Dr. Lokesh M R  |  Professor, ISE  |  AJIET, Mangaluru</a:t>
            </a:r>
          </a:p>
        </p:txBody>
      </p:sp>
      <p:sp>
        <p:nvSpPr>
          <p:cNvPr id="8" name="TextBox 7"/>
          <p:cNvSpPr txBox="1"/>
          <p:nvPr/>
        </p:nvSpPr>
        <p:spPr>
          <a:xfrm>
            <a:off x="11201400" y="6620256"/>
            <a:ext cx="393192" cy="210312"/>
          </a:xfrm>
          <a:prstGeom prst="rect">
            <a:avLst/>
          </a:prstGeom>
          <a:noFill/>
          <a:effectLst/>
        </p:spPr>
        <p:txBody>
          <a:bodyPr wrap="square" lIns="0" tIns="0" rIns="0" bIns="0" anchor="t">
            <a:spAutoFit/>
          </a:bodyPr>
          <a:lstStyle/>
          <a:p>
            <a:pPr algn="r">
              <a:lnSpc>
                <a:spcPct val="112000"/>
              </a:lnSpc>
              <a:spcBef>
                <a:spcPts val="0"/>
              </a:spcBef>
              <a:spcAft>
                <a:spcPts val="500"/>
              </a:spcAft>
              <a:defRPr sz="1000" b="1">
                <a:solidFill>
                  <a:srgbClr val="215C49"/>
                </a:solidFill>
                <a:latin typeface="Arial"/>
              </a:defRPr>
            </a:pPr>
            <a:r>
              <a:t>22</a:t>
            </a:r>
          </a:p>
        </p:txBody>
      </p:sp>
      <p:sp>
        <p:nvSpPr>
          <p:cNvPr id="9" name="Rounded Rectangle 8"/>
          <p:cNvSpPr/>
          <p:nvPr/>
        </p:nvSpPr>
        <p:spPr>
          <a:xfrm>
            <a:off x="694944" y="1920240"/>
            <a:ext cx="5276088" cy="4151376"/>
          </a:xfrm>
          <a:prstGeom prst="roundRect">
            <a:avLst>
              <a:gd name="adj" fmla="val 12000"/>
            </a:avLst>
          </a:prstGeom>
          <a:solidFill>
            <a:srgbClr val="E8ED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941832" y="2185416"/>
            <a:ext cx="4782312" cy="228600"/>
          </a:xfrm>
          <a:prstGeom prst="rect">
            <a:avLst/>
          </a:prstGeom>
          <a:noFill/>
          <a:effectLst/>
        </p:spPr>
        <p:txBody>
          <a:bodyPr wrap="square" lIns="0" tIns="0" rIns="0" bIns="0" anchor="t">
            <a:spAutoFit/>
          </a:bodyPr>
          <a:lstStyle/>
          <a:p>
            <a:pPr algn="l">
              <a:lnSpc>
                <a:spcPct val="112000"/>
              </a:lnSpc>
              <a:spcBef>
                <a:spcPts val="0"/>
              </a:spcBef>
              <a:spcAft>
                <a:spcPts val="500"/>
              </a:spcAft>
              <a:defRPr sz="1200" b="1">
                <a:solidFill>
                  <a:srgbClr val="215C49"/>
                </a:solidFill>
                <a:latin typeface="Arial"/>
              </a:defRPr>
            </a:pPr>
            <a:r>
              <a:t>EMAIL</a:t>
            </a:r>
          </a:p>
        </p:txBody>
      </p:sp>
      <p:sp>
        <p:nvSpPr>
          <p:cNvPr id="11" name="TextBox 10"/>
          <p:cNvSpPr txBox="1"/>
          <p:nvPr/>
        </p:nvSpPr>
        <p:spPr>
          <a:xfrm>
            <a:off x="941832" y="2596896"/>
            <a:ext cx="4782312" cy="347472"/>
          </a:xfrm>
          <a:prstGeom prst="rect">
            <a:avLst/>
          </a:prstGeom>
          <a:noFill/>
          <a:effectLst/>
        </p:spPr>
        <p:txBody>
          <a:bodyPr wrap="square" lIns="0" tIns="0" rIns="0" bIns="0" anchor="t">
            <a:spAutoFit/>
          </a:bodyPr>
          <a:lstStyle/>
          <a:p>
            <a:pPr algn="l">
              <a:lnSpc>
                <a:spcPct val="112000"/>
              </a:lnSpc>
              <a:spcBef>
                <a:spcPts val="0"/>
              </a:spcBef>
              <a:spcAft>
                <a:spcPts val="500"/>
              </a:spcAft>
              <a:defRPr sz="2200" b="1">
                <a:solidFill>
                  <a:srgbClr val="233D33"/>
                </a:solidFill>
                <a:latin typeface="Arial"/>
              </a:defRPr>
            </a:pPr>
            <a:r>
              <a:rPr>
                <a:hlinkClick r:id="rId3"/>
              </a:rPr>
              <a:t>lokeshmrmysore@gmail.com</a:t>
            </a:r>
          </a:p>
        </p:txBody>
      </p:sp>
      <p:sp>
        <p:nvSpPr>
          <p:cNvPr id="12" name="TextBox 11"/>
          <p:cNvSpPr txBox="1"/>
          <p:nvPr/>
        </p:nvSpPr>
        <p:spPr>
          <a:xfrm>
            <a:off x="941832" y="3191256"/>
            <a:ext cx="4782312" cy="228600"/>
          </a:xfrm>
          <a:prstGeom prst="rect">
            <a:avLst/>
          </a:prstGeom>
          <a:noFill/>
          <a:effectLst/>
        </p:spPr>
        <p:txBody>
          <a:bodyPr wrap="square" lIns="0" tIns="0" rIns="0" bIns="0" anchor="t">
            <a:spAutoFit/>
          </a:bodyPr>
          <a:lstStyle/>
          <a:p>
            <a:pPr algn="l">
              <a:lnSpc>
                <a:spcPct val="112000"/>
              </a:lnSpc>
              <a:spcBef>
                <a:spcPts val="0"/>
              </a:spcBef>
              <a:spcAft>
                <a:spcPts val="500"/>
              </a:spcAft>
              <a:defRPr sz="1200" b="1">
                <a:solidFill>
                  <a:srgbClr val="215C49"/>
                </a:solidFill>
                <a:latin typeface="Arial"/>
              </a:defRPr>
            </a:pPr>
            <a:r>
              <a:t>MOBILE</a:t>
            </a:r>
          </a:p>
        </p:txBody>
      </p:sp>
      <p:sp>
        <p:nvSpPr>
          <p:cNvPr id="13" name="TextBox 12"/>
          <p:cNvSpPr txBox="1"/>
          <p:nvPr/>
        </p:nvSpPr>
        <p:spPr>
          <a:xfrm>
            <a:off x="941832" y="3602736"/>
            <a:ext cx="4782312" cy="356616"/>
          </a:xfrm>
          <a:prstGeom prst="rect">
            <a:avLst/>
          </a:prstGeom>
          <a:noFill/>
          <a:effectLst/>
        </p:spPr>
        <p:txBody>
          <a:bodyPr wrap="square" lIns="0" tIns="0" rIns="0" bIns="0" anchor="t">
            <a:spAutoFit/>
          </a:bodyPr>
          <a:lstStyle/>
          <a:p>
            <a:pPr algn="l">
              <a:lnSpc>
                <a:spcPct val="112000"/>
              </a:lnSpc>
              <a:spcBef>
                <a:spcPts val="0"/>
              </a:spcBef>
              <a:spcAft>
                <a:spcPts val="500"/>
              </a:spcAft>
              <a:defRPr sz="2300" b="1">
                <a:solidFill>
                  <a:srgbClr val="233D33"/>
                </a:solidFill>
                <a:latin typeface="Arial"/>
              </a:defRPr>
            </a:pPr>
            <a:r>
              <a:rPr>
                <a:hlinkClick r:id="rId4"/>
              </a:rPr>
              <a:t>+91 9964050926</a:t>
            </a:r>
          </a:p>
        </p:txBody>
      </p:sp>
      <p:sp>
        <p:nvSpPr>
          <p:cNvPr id="14" name="TextBox 13"/>
          <p:cNvSpPr txBox="1"/>
          <p:nvPr/>
        </p:nvSpPr>
        <p:spPr>
          <a:xfrm>
            <a:off x="941832" y="4297680"/>
            <a:ext cx="4782312" cy="228600"/>
          </a:xfrm>
          <a:prstGeom prst="rect">
            <a:avLst/>
          </a:prstGeom>
          <a:noFill/>
          <a:effectLst/>
        </p:spPr>
        <p:txBody>
          <a:bodyPr wrap="square" lIns="0" tIns="0" rIns="0" bIns="0" anchor="t">
            <a:spAutoFit/>
          </a:bodyPr>
          <a:lstStyle/>
          <a:p>
            <a:pPr algn="l">
              <a:lnSpc>
                <a:spcPct val="112000"/>
              </a:lnSpc>
              <a:spcBef>
                <a:spcPts val="0"/>
              </a:spcBef>
              <a:spcAft>
                <a:spcPts val="500"/>
              </a:spcAft>
              <a:defRPr sz="1200" b="1">
                <a:solidFill>
                  <a:srgbClr val="215C49"/>
                </a:solidFill>
                <a:latin typeface="Arial"/>
              </a:defRPr>
            </a:pPr>
            <a:r>
              <a:t>WEB OF SCIENCE ID</a:t>
            </a:r>
          </a:p>
        </p:txBody>
      </p:sp>
      <p:sp>
        <p:nvSpPr>
          <p:cNvPr id="15" name="TextBox 14"/>
          <p:cNvSpPr txBox="1"/>
          <p:nvPr/>
        </p:nvSpPr>
        <p:spPr>
          <a:xfrm>
            <a:off x="941832" y="4718304"/>
            <a:ext cx="4782312" cy="384048"/>
          </a:xfrm>
          <a:prstGeom prst="rect">
            <a:avLst/>
          </a:prstGeom>
          <a:noFill/>
          <a:effectLst/>
        </p:spPr>
        <p:txBody>
          <a:bodyPr wrap="square" lIns="0" tIns="0" rIns="0" bIns="0" anchor="t">
            <a:spAutoFit/>
          </a:bodyPr>
          <a:lstStyle/>
          <a:p>
            <a:pPr algn="l">
              <a:lnSpc>
                <a:spcPct val="112000"/>
              </a:lnSpc>
              <a:spcBef>
                <a:spcPts val="0"/>
              </a:spcBef>
              <a:spcAft>
                <a:spcPts val="500"/>
              </a:spcAft>
              <a:defRPr sz="2300" b="1">
                <a:solidFill>
                  <a:srgbClr val="233D33"/>
                </a:solidFill>
                <a:latin typeface="Arial"/>
              </a:defRPr>
            </a:pPr>
            <a:r>
              <a:t>JCF-0012-2023</a:t>
            </a:r>
          </a:p>
        </p:txBody>
      </p:sp>
      <p:sp>
        <p:nvSpPr>
          <p:cNvPr id="16" name="TextBox 15"/>
          <p:cNvSpPr txBox="1"/>
          <p:nvPr/>
        </p:nvSpPr>
        <p:spPr>
          <a:xfrm>
            <a:off x="950976" y="5458968"/>
            <a:ext cx="4736592" cy="356616"/>
          </a:xfrm>
          <a:prstGeom prst="rect">
            <a:avLst/>
          </a:prstGeom>
          <a:noFill/>
          <a:effectLst/>
        </p:spPr>
        <p:txBody>
          <a:bodyPr wrap="square" lIns="0" tIns="0" rIns="0" bIns="0" anchor="t">
            <a:spAutoFit/>
          </a:bodyPr>
          <a:lstStyle/>
          <a:p>
            <a:pPr algn="l">
              <a:lnSpc>
                <a:spcPct val="112000"/>
              </a:lnSpc>
              <a:spcBef>
                <a:spcPts val="0"/>
              </a:spcBef>
              <a:spcAft>
                <a:spcPts val="500"/>
              </a:spcAft>
              <a:defRPr sz="1700" b="0">
                <a:solidFill>
                  <a:srgbClr val="5C6B62"/>
                </a:solidFill>
                <a:latin typeface="Arial"/>
              </a:defRPr>
            </a:pPr>
            <a:r>
              <a:t>Professor, ISE • AJIET, Mangaluru</a:t>
            </a:r>
          </a:p>
        </p:txBody>
      </p:sp>
      <p:sp>
        <p:nvSpPr>
          <p:cNvPr id="17" name="TextBox 16"/>
          <p:cNvSpPr txBox="1"/>
          <p:nvPr/>
        </p:nvSpPr>
        <p:spPr>
          <a:xfrm>
            <a:off x="6437376" y="1929384"/>
            <a:ext cx="4937760" cy="228600"/>
          </a:xfrm>
          <a:prstGeom prst="rect">
            <a:avLst/>
          </a:prstGeom>
          <a:noFill/>
          <a:effectLst/>
        </p:spPr>
        <p:txBody>
          <a:bodyPr wrap="square" lIns="0" tIns="0" rIns="0" bIns="0" anchor="t">
            <a:spAutoFit/>
          </a:bodyPr>
          <a:lstStyle/>
          <a:p>
            <a:pPr algn="l">
              <a:lnSpc>
                <a:spcPct val="112000"/>
              </a:lnSpc>
              <a:spcBef>
                <a:spcPts val="0"/>
              </a:spcBef>
              <a:spcAft>
                <a:spcPts val="500"/>
              </a:spcAft>
              <a:defRPr sz="1200" b="1">
                <a:solidFill>
                  <a:srgbClr val="215C49"/>
                </a:solidFill>
                <a:latin typeface="Arial"/>
              </a:defRPr>
            </a:pPr>
            <a:r>
              <a:t>ORCID</a:t>
            </a:r>
          </a:p>
        </p:txBody>
      </p:sp>
      <p:sp>
        <p:nvSpPr>
          <p:cNvPr id="18" name="TextBox 17"/>
          <p:cNvSpPr txBox="1"/>
          <p:nvPr/>
        </p:nvSpPr>
        <p:spPr>
          <a:xfrm>
            <a:off x="6437376" y="2203703"/>
            <a:ext cx="4937760" cy="292608"/>
          </a:xfrm>
          <a:prstGeom prst="rect">
            <a:avLst/>
          </a:prstGeom>
          <a:noFill/>
          <a:effectLst/>
        </p:spPr>
        <p:txBody>
          <a:bodyPr wrap="square" lIns="0" tIns="0" rIns="0" bIns="0" anchor="t">
            <a:spAutoFit/>
          </a:bodyPr>
          <a:lstStyle/>
          <a:p>
            <a:pPr algn="l">
              <a:lnSpc>
                <a:spcPct val="112000"/>
              </a:lnSpc>
              <a:spcBef>
                <a:spcPts val="0"/>
              </a:spcBef>
              <a:spcAft>
                <a:spcPts val="500"/>
              </a:spcAft>
              <a:defRPr sz="1800" b="0">
                <a:solidFill>
                  <a:srgbClr val="233D33"/>
                </a:solidFill>
                <a:latin typeface="Arial"/>
              </a:defRPr>
            </a:pPr>
            <a:r>
              <a:rPr>
                <a:hlinkClick r:id="rId5"/>
              </a:rPr>
              <a:t>0000-0003-0025-7941</a:t>
            </a:r>
          </a:p>
        </p:txBody>
      </p:sp>
      <p:cxnSp>
        <p:nvCxnSpPr>
          <p:cNvPr id="19" name="Connector 18"/>
          <p:cNvCxnSpPr/>
          <p:nvPr/>
        </p:nvCxnSpPr>
        <p:spPr>
          <a:xfrm>
            <a:off x="6437376" y="2537460"/>
            <a:ext cx="4901184" cy="0"/>
          </a:xfrm>
          <a:prstGeom prst="line">
            <a:avLst/>
          </a:prstGeom>
          <a:ln w="8890">
            <a:solidFill>
              <a:srgbClr val="DCE4DA"/>
            </a:solidFill>
          </a:ln>
          <a:effectLst/>
        </p:spPr>
        <p:style>
          <a:lnRef idx="2">
            <a:schemeClr val="accent1"/>
          </a:lnRef>
          <a:fillRef idx="0">
            <a:schemeClr val="accent1"/>
          </a:fillRef>
          <a:effectRef idx="0">
            <a:schemeClr val="accent1"/>
          </a:effectRef>
          <a:fontRef idx="minor">
            <a:schemeClr val="tx1"/>
          </a:fontRef>
        </p:style>
      </p:cxnSp>
      <p:sp>
        <p:nvSpPr>
          <p:cNvPr id="20" name="TextBox 19"/>
          <p:cNvSpPr txBox="1"/>
          <p:nvPr/>
        </p:nvSpPr>
        <p:spPr>
          <a:xfrm>
            <a:off x="6437376" y="2619756"/>
            <a:ext cx="4937760" cy="228600"/>
          </a:xfrm>
          <a:prstGeom prst="rect">
            <a:avLst/>
          </a:prstGeom>
          <a:noFill/>
          <a:effectLst/>
        </p:spPr>
        <p:txBody>
          <a:bodyPr wrap="square" lIns="0" tIns="0" rIns="0" bIns="0" anchor="t">
            <a:spAutoFit/>
          </a:bodyPr>
          <a:lstStyle/>
          <a:p>
            <a:pPr algn="l">
              <a:lnSpc>
                <a:spcPct val="112000"/>
              </a:lnSpc>
              <a:spcBef>
                <a:spcPts val="0"/>
              </a:spcBef>
              <a:spcAft>
                <a:spcPts val="500"/>
              </a:spcAft>
              <a:defRPr sz="1200" b="1">
                <a:solidFill>
                  <a:srgbClr val="215C49"/>
                </a:solidFill>
                <a:latin typeface="Arial"/>
              </a:defRPr>
            </a:pPr>
            <a:r>
              <a:t>SCOPUS</a:t>
            </a:r>
          </a:p>
        </p:txBody>
      </p:sp>
      <p:sp>
        <p:nvSpPr>
          <p:cNvPr id="21" name="TextBox 20"/>
          <p:cNvSpPr txBox="1"/>
          <p:nvPr/>
        </p:nvSpPr>
        <p:spPr>
          <a:xfrm>
            <a:off x="6437376" y="2894075"/>
            <a:ext cx="4937760" cy="292608"/>
          </a:xfrm>
          <a:prstGeom prst="rect">
            <a:avLst/>
          </a:prstGeom>
          <a:noFill/>
          <a:effectLst/>
        </p:spPr>
        <p:txBody>
          <a:bodyPr wrap="square" lIns="0" tIns="0" rIns="0" bIns="0" anchor="t">
            <a:spAutoFit/>
          </a:bodyPr>
          <a:lstStyle/>
          <a:p>
            <a:pPr algn="l">
              <a:lnSpc>
                <a:spcPct val="112000"/>
              </a:lnSpc>
              <a:spcBef>
                <a:spcPts val="0"/>
              </a:spcBef>
              <a:spcAft>
                <a:spcPts val="500"/>
              </a:spcAft>
              <a:defRPr sz="1800" b="0">
                <a:solidFill>
                  <a:srgbClr val="233D33"/>
                </a:solidFill>
                <a:latin typeface="Arial"/>
              </a:defRPr>
            </a:pPr>
            <a:r>
              <a:rPr>
                <a:hlinkClick r:id="rId6"/>
              </a:rPr>
              <a:t>Author ID: 57687382800</a:t>
            </a:r>
          </a:p>
        </p:txBody>
      </p:sp>
      <p:cxnSp>
        <p:nvCxnSpPr>
          <p:cNvPr id="22" name="Connector 21"/>
          <p:cNvCxnSpPr/>
          <p:nvPr/>
        </p:nvCxnSpPr>
        <p:spPr>
          <a:xfrm>
            <a:off x="6437376" y="3227832"/>
            <a:ext cx="4901184" cy="0"/>
          </a:xfrm>
          <a:prstGeom prst="line">
            <a:avLst/>
          </a:prstGeom>
          <a:ln w="8890">
            <a:solidFill>
              <a:srgbClr val="DCE4DA"/>
            </a:solidFill>
          </a:ln>
          <a:effectLst/>
        </p:spPr>
        <p:style>
          <a:lnRef idx="2">
            <a:schemeClr val="accent1"/>
          </a:lnRef>
          <a:fillRef idx="0">
            <a:schemeClr val="accent1"/>
          </a:fillRef>
          <a:effectRef idx="0">
            <a:schemeClr val="accent1"/>
          </a:effectRef>
          <a:fontRef idx="minor">
            <a:schemeClr val="tx1"/>
          </a:fontRef>
        </p:style>
      </p:cxnSp>
      <p:sp>
        <p:nvSpPr>
          <p:cNvPr id="23" name="TextBox 22"/>
          <p:cNvSpPr txBox="1"/>
          <p:nvPr/>
        </p:nvSpPr>
        <p:spPr>
          <a:xfrm>
            <a:off x="6437376" y="3310128"/>
            <a:ext cx="4937760" cy="228600"/>
          </a:xfrm>
          <a:prstGeom prst="rect">
            <a:avLst/>
          </a:prstGeom>
          <a:noFill/>
          <a:effectLst/>
        </p:spPr>
        <p:txBody>
          <a:bodyPr wrap="square" lIns="0" tIns="0" rIns="0" bIns="0" anchor="t">
            <a:spAutoFit/>
          </a:bodyPr>
          <a:lstStyle/>
          <a:p>
            <a:pPr algn="l">
              <a:lnSpc>
                <a:spcPct val="112000"/>
              </a:lnSpc>
              <a:spcBef>
                <a:spcPts val="0"/>
              </a:spcBef>
              <a:spcAft>
                <a:spcPts val="500"/>
              </a:spcAft>
              <a:defRPr sz="1200" b="1">
                <a:solidFill>
                  <a:srgbClr val="215C49"/>
                </a:solidFill>
                <a:latin typeface="Arial"/>
              </a:defRPr>
            </a:pPr>
            <a:r>
              <a:t>GOOGLE SCHOLAR</a:t>
            </a:r>
          </a:p>
        </p:txBody>
      </p:sp>
      <p:sp>
        <p:nvSpPr>
          <p:cNvPr id="24" name="TextBox 23"/>
          <p:cNvSpPr txBox="1"/>
          <p:nvPr/>
        </p:nvSpPr>
        <p:spPr>
          <a:xfrm>
            <a:off x="6437376" y="3584448"/>
            <a:ext cx="4937760" cy="292608"/>
          </a:xfrm>
          <a:prstGeom prst="rect">
            <a:avLst/>
          </a:prstGeom>
          <a:noFill/>
          <a:effectLst/>
        </p:spPr>
        <p:txBody>
          <a:bodyPr wrap="square" lIns="0" tIns="0" rIns="0" bIns="0" anchor="t">
            <a:spAutoFit/>
          </a:bodyPr>
          <a:lstStyle/>
          <a:p>
            <a:pPr algn="l">
              <a:lnSpc>
                <a:spcPct val="112000"/>
              </a:lnSpc>
              <a:spcBef>
                <a:spcPts val="0"/>
              </a:spcBef>
              <a:spcAft>
                <a:spcPts val="500"/>
              </a:spcAft>
              <a:defRPr sz="1800" b="0">
                <a:solidFill>
                  <a:srgbClr val="233D33"/>
                </a:solidFill>
                <a:latin typeface="Arial"/>
              </a:defRPr>
            </a:pPr>
            <a:r>
              <a:rPr>
                <a:hlinkClick r:id="rId7"/>
              </a:rPr>
              <a:t>CCfMxaMAAAAJ</a:t>
            </a:r>
          </a:p>
        </p:txBody>
      </p:sp>
      <p:cxnSp>
        <p:nvCxnSpPr>
          <p:cNvPr id="25" name="Connector 24"/>
          <p:cNvCxnSpPr/>
          <p:nvPr/>
        </p:nvCxnSpPr>
        <p:spPr>
          <a:xfrm>
            <a:off x="6437376" y="3918204"/>
            <a:ext cx="4901184" cy="0"/>
          </a:xfrm>
          <a:prstGeom prst="line">
            <a:avLst/>
          </a:prstGeom>
          <a:ln w="8890">
            <a:solidFill>
              <a:srgbClr val="DCE4DA"/>
            </a:solidFill>
          </a:ln>
          <a:effectLst/>
        </p:spPr>
        <p:style>
          <a:lnRef idx="2">
            <a:schemeClr val="accent1"/>
          </a:lnRef>
          <a:fillRef idx="0">
            <a:schemeClr val="accent1"/>
          </a:fillRef>
          <a:effectRef idx="0">
            <a:schemeClr val="accent1"/>
          </a:effectRef>
          <a:fontRef idx="minor">
            <a:schemeClr val="tx1"/>
          </a:fontRef>
        </p:style>
      </p:cxnSp>
      <p:sp>
        <p:nvSpPr>
          <p:cNvPr id="26" name="TextBox 25"/>
          <p:cNvSpPr txBox="1"/>
          <p:nvPr/>
        </p:nvSpPr>
        <p:spPr>
          <a:xfrm>
            <a:off x="6437376" y="4000500"/>
            <a:ext cx="4937760" cy="228600"/>
          </a:xfrm>
          <a:prstGeom prst="rect">
            <a:avLst/>
          </a:prstGeom>
          <a:noFill/>
          <a:effectLst/>
        </p:spPr>
        <p:txBody>
          <a:bodyPr wrap="square" lIns="0" tIns="0" rIns="0" bIns="0" anchor="t">
            <a:spAutoFit/>
          </a:bodyPr>
          <a:lstStyle/>
          <a:p>
            <a:pPr algn="l">
              <a:lnSpc>
                <a:spcPct val="112000"/>
              </a:lnSpc>
              <a:spcBef>
                <a:spcPts val="0"/>
              </a:spcBef>
              <a:spcAft>
                <a:spcPts val="500"/>
              </a:spcAft>
              <a:defRPr sz="1200" b="1">
                <a:solidFill>
                  <a:srgbClr val="215C49"/>
                </a:solidFill>
                <a:latin typeface="Arial"/>
              </a:defRPr>
            </a:pPr>
            <a:r>
              <a:t>LINKEDIN</a:t>
            </a:r>
          </a:p>
        </p:txBody>
      </p:sp>
      <p:sp>
        <p:nvSpPr>
          <p:cNvPr id="27" name="TextBox 26"/>
          <p:cNvSpPr txBox="1"/>
          <p:nvPr/>
        </p:nvSpPr>
        <p:spPr>
          <a:xfrm>
            <a:off x="6437376" y="4274820"/>
            <a:ext cx="4937760" cy="292608"/>
          </a:xfrm>
          <a:prstGeom prst="rect">
            <a:avLst/>
          </a:prstGeom>
          <a:noFill/>
          <a:effectLst/>
        </p:spPr>
        <p:txBody>
          <a:bodyPr wrap="square" lIns="0" tIns="0" rIns="0" bIns="0" anchor="t">
            <a:spAutoFit/>
          </a:bodyPr>
          <a:lstStyle/>
          <a:p>
            <a:pPr algn="l">
              <a:lnSpc>
                <a:spcPct val="112000"/>
              </a:lnSpc>
              <a:spcBef>
                <a:spcPts val="0"/>
              </a:spcBef>
              <a:spcAft>
                <a:spcPts val="500"/>
              </a:spcAft>
              <a:defRPr sz="1800" b="0">
                <a:solidFill>
                  <a:srgbClr val="233D33"/>
                </a:solidFill>
                <a:latin typeface="Arial"/>
              </a:defRPr>
            </a:pPr>
            <a:r>
              <a:rPr>
                <a:hlinkClick r:id="rId8"/>
              </a:rPr>
              <a:t>lokesh-m-r-b6880b169</a:t>
            </a:r>
          </a:p>
        </p:txBody>
      </p:sp>
      <p:cxnSp>
        <p:nvCxnSpPr>
          <p:cNvPr id="28" name="Connector 27"/>
          <p:cNvCxnSpPr/>
          <p:nvPr/>
        </p:nvCxnSpPr>
        <p:spPr>
          <a:xfrm>
            <a:off x="6437376" y="4608576"/>
            <a:ext cx="4901184" cy="0"/>
          </a:xfrm>
          <a:prstGeom prst="line">
            <a:avLst/>
          </a:prstGeom>
          <a:ln w="8890">
            <a:solidFill>
              <a:srgbClr val="DCE4DA"/>
            </a:solidFill>
          </a:ln>
          <a:effectLst/>
        </p:spPr>
        <p:style>
          <a:lnRef idx="2">
            <a:schemeClr val="accent1"/>
          </a:lnRef>
          <a:fillRef idx="0">
            <a:schemeClr val="accent1"/>
          </a:fillRef>
          <a:effectRef idx="0">
            <a:schemeClr val="accent1"/>
          </a:effectRef>
          <a:fontRef idx="minor">
            <a:schemeClr val="tx1"/>
          </a:fontRef>
        </p:style>
      </p:cxnSp>
      <p:sp>
        <p:nvSpPr>
          <p:cNvPr id="29" name="TextBox 28"/>
          <p:cNvSpPr txBox="1"/>
          <p:nvPr/>
        </p:nvSpPr>
        <p:spPr>
          <a:xfrm>
            <a:off x="6437376" y="4690872"/>
            <a:ext cx="4937760" cy="228600"/>
          </a:xfrm>
          <a:prstGeom prst="rect">
            <a:avLst/>
          </a:prstGeom>
          <a:noFill/>
          <a:effectLst/>
        </p:spPr>
        <p:txBody>
          <a:bodyPr wrap="square" lIns="0" tIns="0" rIns="0" bIns="0" anchor="t">
            <a:spAutoFit/>
          </a:bodyPr>
          <a:lstStyle/>
          <a:p>
            <a:pPr algn="l">
              <a:lnSpc>
                <a:spcPct val="112000"/>
              </a:lnSpc>
              <a:spcBef>
                <a:spcPts val="0"/>
              </a:spcBef>
              <a:spcAft>
                <a:spcPts val="500"/>
              </a:spcAft>
              <a:defRPr sz="1200" b="1">
                <a:solidFill>
                  <a:srgbClr val="215C49"/>
                </a:solidFill>
                <a:latin typeface="Arial"/>
              </a:defRPr>
            </a:pPr>
            <a:r>
              <a:t>GITHUB</a:t>
            </a:r>
          </a:p>
        </p:txBody>
      </p:sp>
      <p:sp>
        <p:nvSpPr>
          <p:cNvPr id="30" name="TextBox 29"/>
          <p:cNvSpPr txBox="1"/>
          <p:nvPr/>
        </p:nvSpPr>
        <p:spPr>
          <a:xfrm>
            <a:off x="6437376" y="4965192"/>
            <a:ext cx="4937760" cy="292608"/>
          </a:xfrm>
          <a:prstGeom prst="rect">
            <a:avLst/>
          </a:prstGeom>
          <a:noFill/>
          <a:effectLst/>
        </p:spPr>
        <p:txBody>
          <a:bodyPr wrap="square" lIns="0" tIns="0" rIns="0" bIns="0" anchor="t">
            <a:spAutoFit/>
          </a:bodyPr>
          <a:lstStyle/>
          <a:p>
            <a:pPr algn="l">
              <a:lnSpc>
                <a:spcPct val="112000"/>
              </a:lnSpc>
              <a:spcBef>
                <a:spcPts val="0"/>
              </a:spcBef>
              <a:spcAft>
                <a:spcPts val="500"/>
              </a:spcAft>
              <a:defRPr sz="1800" b="0">
                <a:solidFill>
                  <a:srgbClr val="233D33"/>
                </a:solidFill>
                <a:latin typeface="Arial"/>
              </a:defRPr>
            </a:pPr>
            <a:r>
              <a:rPr>
                <a:hlinkClick r:id="rId9"/>
              </a:rPr>
              <a:t>lokeshmr23</a:t>
            </a:r>
          </a:p>
        </p:txBody>
      </p:sp>
      <p:cxnSp>
        <p:nvCxnSpPr>
          <p:cNvPr id="31" name="Connector 30"/>
          <p:cNvCxnSpPr/>
          <p:nvPr/>
        </p:nvCxnSpPr>
        <p:spPr>
          <a:xfrm>
            <a:off x="6437376" y="5298948"/>
            <a:ext cx="4901184" cy="0"/>
          </a:xfrm>
          <a:prstGeom prst="line">
            <a:avLst/>
          </a:prstGeom>
          <a:ln w="8890">
            <a:solidFill>
              <a:srgbClr val="DCE4DA"/>
            </a:solidFill>
          </a:ln>
          <a:effectLst/>
        </p:spPr>
        <p:style>
          <a:lnRef idx="2">
            <a:schemeClr val="accent1"/>
          </a:lnRef>
          <a:fillRef idx="0">
            <a:schemeClr val="accent1"/>
          </a:fillRef>
          <a:effectRef idx="0">
            <a:schemeClr val="accent1"/>
          </a:effectRef>
          <a:fontRef idx="minor">
            <a:schemeClr val="tx1"/>
          </a:fontRef>
        </p:style>
      </p:cxnSp>
      <p:sp>
        <p:nvSpPr>
          <p:cNvPr id="32" name="TextBox 31"/>
          <p:cNvSpPr txBox="1"/>
          <p:nvPr/>
        </p:nvSpPr>
        <p:spPr>
          <a:xfrm>
            <a:off x="6437376" y="5381244"/>
            <a:ext cx="4937760" cy="228600"/>
          </a:xfrm>
          <a:prstGeom prst="rect">
            <a:avLst/>
          </a:prstGeom>
          <a:noFill/>
          <a:effectLst/>
        </p:spPr>
        <p:txBody>
          <a:bodyPr wrap="square" lIns="0" tIns="0" rIns="0" bIns="0" anchor="t">
            <a:spAutoFit/>
          </a:bodyPr>
          <a:lstStyle/>
          <a:p>
            <a:pPr algn="l">
              <a:lnSpc>
                <a:spcPct val="112000"/>
              </a:lnSpc>
              <a:spcBef>
                <a:spcPts val="0"/>
              </a:spcBef>
              <a:spcAft>
                <a:spcPts val="500"/>
              </a:spcAft>
              <a:defRPr sz="1200" b="1">
                <a:solidFill>
                  <a:srgbClr val="215C49"/>
                </a:solidFill>
                <a:latin typeface="Arial"/>
              </a:defRPr>
            </a:pPr>
            <a:r>
              <a:t>VIDWAN</a:t>
            </a:r>
          </a:p>
        </p:txBody>
      </p:sp>
      <p:sp>
        <p:nvSpPr>
          <p:cNvPr id="33" name="TextBox 32"/>
          <p:cNvSpPr txBox="1"/>
          <p:nvPr/>
        </p:nvSpPr>
        <p:spPr>
          <a:xfrm>
            <a:off x="6437376" y="5655564"/>
            <a:ext cx="4937760" cy="292608"/>
          </a:xfrm>
          <a:prstGeom prst="rect">
            <a:avLst/>
          </a:prstGeom>
          <a:noFill/>
          <a:effectLst/>
        </p:spPr>
        <p:txBody>
          <a:bodyPr wrap="square" lIns="0" tIns="0" rIns="0" bIns="0" anchor="t">
            <a:spAutoFit/>
          </a:bodyPr>
          <a:lstStyle/>
          <a:p>
            <a:pPr algn="l">
              <a:lnSpc>
                <a:spcPct val="112000"/>
              </a:lnSpc>
              <a:spcBef>
                <a:spcPts val="0"/>
              </a:spcBef>
              <a:spcAft>
                <a:spcPts val="500"/>
              </a:spcAft>
              <a:defRPr sz="1800" b="0">
                <a:solidFill>
                  <a:srgbClr val="233D33"/>
                </a:solidFill>
                <a:latin typeface="Arial"/>
              </a:defRPr>
            </a:pPr>
            <a:r>
              <a:rPr>
                <a:hlinkClick r:id="rId10"/>
              </a:rPr>
              <a:t>Profile: 344450</a:t>
            </a:r>
          </a:p>
        </p:txBody>
      </p:sp>
      <p:cxnSp>
        <p:nvCxnSpPr>
          <p:cNvPr id="34" name="Connector 33"/>
          <p:cNvCxnSpPr/>
          <p:nvPr/>
        </p:nvCxnSpPr>
        <p:spPr>
          <a:xfrm>
            <a:off x="6437376" y="5989320"/>
            <a:ext cx="4901184" cy="0"/>
          </a:xfrm>
          <a:prstGeom prst="line">
            <a:avLst/>
          </a:prstGeom>
          <a:ln w="8890">
            <a:solidFill>
              <a:srgbClr val="DCE4DA"/>
            </a:solidFill>
          </a:ln>
          <a:effectLst/>
        </p:spPr>
        <p:style>
          <a:lnRef idx="2">
            <a:schemeClr val="accent1"/>
          </a:lnRef>
          <a:fillRef idx="0">
            <a:schemeClr val="accent1"/>
          </a:fillRef>
          <a:effectRef idx="0">
            <a:schemeClr val="accent1"/>
          </a:effectRef>
          <a:fontRef idx="minor">
            <a:schemeClr val="tx1"/>
          </a:fontRef>
        </p:style>
      </p:cxn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8F9F5"/>
        </a:solidFill>
        <a:effectLst/>
      </p:bgPr>
    </p:bg>
    <p:spTree>
      <p:nvGrpSpPr>
        <p:cNvPr id="1" name=""/>
        <p:cNvGrpSpPr/>
        <p:nvPr/>
      </p:nvGrpSpPr>
      <p:grpSpPr>
        <a:xfrm>
          <a:off x="0" y="0"/>
          <a:ext cx="0" cy="0"/>
          <a:chOff x="0" y="0"/>
          <a:chExt cx="0" cy="0"/>
        </a:xfrm>
      </p:grpSpPr>
      <p:sp>
        <p:nvSpPr>
          <p:cNvPr id="2" name="TextBox 1"/>
          <p:cNvSpPr txBox="1"/>
          <p:nvPr/>
        </p:nvSpPr>
        <p:spPr>
          <a:xfrm>
            <a:off x="576072" y="310896"/>
            <a:ext cx="7315200" cy="237744"/>
          </a:xfrm>
          <a:prstGeom prst="rect">
            <a:avLst/>
          </a:prstGeom>
          <a:noFill/>
          <a:effectLst/>
        </p:spPr>
        <p:txBody>
          <a:bodyPr wrap="square" lIns="0" tIns="0" rIns="0" bIns="0" anchor="t">
            <a:spAutoFit/>
          </a:bodyPr>
          <a:lstStyle/>
          <a:p>
            <a:pPr algn="l">
              <a:lnSpc>
                <a:spcPct val="112000"/>
              </a:lnSpc>
              <a:spcBef>
                <a:spcPts val="0"/>
              </a:spcBef>
              <a:spcAft>
                <a:spcPts val="500"/>
              </a:spcAft>
              <a:defRPr sz="1000" b="1">
                <a:solidFill>
                  <a:srgbClr val="215C49"/>
                </a:solidFill>
                <a:latin typeface="Arial"/>
              </a:defRPr>
            </a:pPr>
            <a:r>
              <a:t>SAHAYA  /  AUTHOR</a:t>
            </a:r>
          </a:p>
        </p:txBody>
      </p:sp>
      <p:sp>
        <p:nvSpPr>
          <p:cNvPr id="3" name="TextBox 2"/>
          <p:cNvSpPr txBox="1"/>
          <p:nvPr/>
        </p:nvSpPr>
        <p:spPr>
          <a:xfrm>
            <a:off x="576072" y="749808"/>
            <a:ext cx="11064240" cy="576072"/>
          </a:xfrm>
          <a:prstGeom prst="rect">
            <a:avLst/>
          </a:prstGeom>
          <a:noFill/>
          <a:effectLst/>
        </p:spPr>
        <p:txBody>
          <a:bodyPr wrap="square" lIns="0" tIns="0" rIns="0" bIns="0" anchor="t">
            <a:spAutoFit/>
          </a:bodyPr>
          <a:lstStyle/>
          <a:p>
            <a:pPr algn="l">
              <a:lnSpc>
                <a:spcPct val="112000"/>
              </a:lnSpc>
              <a:spcBef>
                <a:spcPts val="0"/>
              </a:spcBef>
              <a:spcAft>
                <a:spcPts val="500"/>
              </a:spcAft>
              <a:defRPr sz="3100" b="0">
                <a:solidFill>
                  <a:srgbClr val="233D33"/>
                </a:solidFill>
                <a:latin typeface="Georgia"/>
              </a:defRPr>
            </a:pPr>
            <a:r>
              <a:t>Acknowledgement &amp; dedication</a:t>
            </a:r>
          </a:p>
        </p:txBody>
      </p:sp>
      <p:cxnSp>
        <p:nvCxnSpPr>
          <p:cNvPr id="4" name="Connector 3"/>
          <p:cNvCxnSpPr/>
          <p:nvPr/>
        </p:nvCxnSpPr>
        <p:spPr>
          <a:xfrm>
            <a:off x="585216" y="6373368"/>
            <a:ext cx="11018520" cy="0"/>
          </a:xfrm>
          <a:prstGeom prst="line">
            <a:avLst/>
          </a:prstGeom>
          <a:ln w="12700">
            <a:solidFill>
              <a:srgbClr val="DCE4DA"/>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585216" y="6419088"/>
            <a:ext cx="10972800" cy="164592"/>
          </a:xfrm>
          <a:prstGeom prst="rect">
            <a:avLst/>
          </a:prstGeom>
          <a:noFill/>
          <a:effectLst/>
        </p:spPr>
        <p:txBody>
          <a:bodyPr wrap="square" lIns="0" tIns="0" rIns="0" bIns="0" anchor="t">
            <a:spAutoFit/>
          </a:bodyPr>
          <a:lstStyle/>
          <a:p>
            <a:pPr algn="l">
              <a:lnSpc>
                <a:spcPct val="112000"/>
              </a:lnSpc>
              <a:spcBef>
                <a:spcPts val="0"/>
              </a:spcBef>
              <a:spcAft>
                <a:spcPts val="500"/>
              </a:spcAft>
              <a:defRPr sz="800" b="0">
                <a:solidFill>
                  <a:srgbClr val="5C6B62"/>
                </a:solidFill>
                <a:latin typeface="Arial"/>
              </a:defRPr>
            </a:pPr>
            <a:r>
              <a:t>Acknowledgement and dedication supplied by the author for inclusion in this presentation.</a:t>
            </a:r>
          </a:p>
        </p:txBody>
      </p:sp>
      <p:sp>
        <p:nvSpPr>
          <p:cNvPr id="6" name="TextBox 5"/>
          <p:cNvSpPr txBox="1"/>
          <p:nvPr/>
        </p:nvSpPr>
        <p:spPr>
          <a:xfrm>
            <a:off x="585216" y="6638544"/>
            <a:ext cx="10607040" cy="173736"/>
          </a:xfrm>
          <a:prstGeom prst="rect">
            <a:avLst/>
          </a:prstGeom>
          <a:noFill/>
          <a:effectLst/>
        </p:spPr>
        <p:txBody>
          <a:bodyPr wrap="square" lIns="0" tIns="0" rIns="0" bIns="0" anchor="t">
            <a:spAutoFit/>
          </a:bodyPr>
          <a:lstStyle/>
          <a:p>
            <a:pPr algn="l">
              <a:lnSpc>
                <a:spcPct val="112000"/>
              </a:lnSpc>
              <a:spcBef>
                <a:spcPts val="0"/>
              </a:spcBef>
              <a:spcAft>
                <a:spcPts val="500"/>
              </a:spcAft>
              <a:defRPr sz="900" b="1">
                <a:solidFill>
                  <a:srgbClr val="215C49"/>
                </a:solidFill>
                <a:latin typeface="Arial"/>
              </a:defRPr>
            </a:pPr>
            <a:r>
              <a:t>Dr. Lokesh M R  |  Professor, ISE  |  AJIET, Mangaluru</a:t>
            </a:r>
          </a:p>
        </p:txBody>
      </p:sp>
      <p:sp>
        <p:nvSpPr>
          <p:cNvPr id="7" name="TextBox 6"/>
          <p:cNvSpPr txBox="1"/>
          <p:nvPr/>
        </p:nvSpPr>
        <p:spPr>
          <a:xfrm>
            <a:off x="11201400" y="6620256"/>
            <a:ext cx="393192" cy="210312"/>
          </a:xfrm>
          <a:prstGeom prst="rect">
            <a:avLst/>
          </a:prstGeom>
          <a:noFill/>
          <a:effectLst/>
        </p:spPr>
        <p:txBody>
          <a:bodyPr wrap="square" lIns="0" tIns="0" rIns="0" bIns="0" anchor="t">
            <a:spAutoFit/>
          </a:bodyPr>
          <a:lstStyle/>
          <a:p>
            <a:pPr algn="r">
              <a:lnSpc>
                <a:spcPct val="112000"/>
              </a:lnSpc>
              <a:spcBef>
                <a:spcPts val="0"/>
              </a:spcBef>
              <a:spcAft>
                <a:spcPts val="500"/>
              </a:spcAft>
              <a:defRPr sz="1000" b="1">
                <a:solidFill>
                  <a:srgbClr val="215C49"/>
                </a:solidFill>
                <a:latin typeface="Arial"/>
              </a:defRPr>
            </a:pPr>
            <a:r>
              <a:t>23</a:t>
            </a:r>
          </a:p>
        </p:txBody>
      </p:sp>
      <p:sp>
        <p:nvSpPr>
          <p:cNvPr id="8" name="TextBox 7"/>
          <p:cNvSpPr txBox="1"/>
          <p:nvPr/>
        </p:nvSpPr>
        <p:spPr>
          <a:xfrm>
            <a:off x="749808" y="1783080"/>
            <a:ext cx="6099048" cy="329184"/>
          </a:xfrm>
          <a:prstGeom prst="rect">
            <a:avLst/>
          </a:prstGeom>
          <a:noFill/>
          <a:effectLst/>
        </p:spPr>
        <p:txBody>
          <a:bodyPr wrap="square" lIns="0" tIns="0" rIns="0" bIns="0" anchor="t">
            <a:spAutoFit/>
          </a:bodyPr>
          <a:lstStyle/>
          <a:p>
            <a:pPr algn="l">
              <a:lnSpc>
                <a:spcPct val="112000"/>
              </a:lnSpc>
              <a:spcBef>
                <a:spcPts val="0"/>
              </a:spcBef>
              <a:spcAft>
                <a:spcPts val="500"/>
              </a:spcAft>
              <a:defRPr sz="2000" b="1">
                <a:solidFill>
                  <a:srgbClr val="215C49"/>
                </a:solidFill>
                <a:latin typeface="Arial"/>
              </a:defRPr>
            </a:pPr>
            <a:r>
              <a:t>The author expresses gratitude to:</a:t>
            </a:r>
          </a:p>
        </p:txBody>
      </p:sp>
      <p:sp>
        <p:nvSpPr>
          <p:cNvPr id="9" name="TextBox 8"/>
          <p:cNvSpPr txBox="1"/>
          <p:nvPr/>
        </p:nvSpPr>
        <p:spPr>
          <a:xfrm>
            <a:off x="768096" y="2286000"/>
            <a:ext cx="6263640" cy="310896"/>
          </a:xfrm>
          <a:prstGeom prst="rect">
            <a:avLst/>
          </a:prstGeom>
          <a:noFill/>
          <a:effectLst/>
        </p:spPr>
        <p:txBody>
          <a:bodyPr wrap="square" lIns="0" tIns="0" rIns="0" bIns="0" anchor="t">
            <a:spAutoFit/>
          </a:bodyPr>
          <a:lstStyle/>
          <a:p>
            <a:pPr algn="l">
              <a:lnSpc>
                <a:spcPct val="112000"/>
              </a:lnSpc>
              <a:spcBef>
                <a:spcPts val="0"/>
              </a:spcBef>
              <a:spcAft>
                <a:spcPts val="500"/>
              </a:spcAft>
              <a:defRPr sz="1900" b="1">
                <a:solidFill>
                  <a:srgbClr val="233D33"/>
                </a:solidFill>
                <a:latin typeface="Arial"/>
              </a:defRPr>
            </a:pPr>
            <a:r>
              <a:t>VTU, Belagavi</a:t>
            </a:r>
          </a:p>
        </p:txBody>
      </p:sp>
      <p:sp>
        <p:nvSpPr>
          <p:cNvPr id="10" name="TextBox 9"/>
          <p:cNvSpPr txBox="1"/>
          <p:nvPr/>
        </p:nvSpPr>
        <p:spPr>
          <a:xfrm>
            <a:off x="768096" y="2642616"/>
            <a:ext cx="6263640" cy="347472"/>
          </a:xfrm>
          <a:prstGeom prst="rect">
            <a:avLst/>
          </a:prstGeom>
          <a:noFill/>
          <a:effectLst/>
        </p:spPr>
        <p:txBody>
          <a:bodyPr wrap="square" lIns="0" tIns="0" rIns="0" bIns="0" anchor="t">
            <a:spAutoFit/>
          </a:bodyPr>
          <a:lstStyle/>
          <a:p>
            <a:pPr algn="l">
              <a:lnSpc>
                <a:spcPct val="112000"/>
              </a:lnSpc>
              <a:spcBef>
                <a:spcPts val="0"/>
              </a:spcBef>
              <a:spcAft>
                <a:spcPts val="500"/>
              </a:spcAft>
              <a:defRPr sz="1600" b="0">
                <a:solidFill>
                  <a:srgbClr val="5C6B62"/>
                </a:solidFill>
                <a:latin typeface="Arial"/>
              </a:defRPr>
            </a:pPr>
            <a:r>
              <a:t>For the curriculum framework.</a:t>
            </a:r>
          </a:p>
        </p:txBody>
      </p:sp>
      <p:sp>
        <p:nvSpPr>
          <p:cNvPr id="11" name="TextBox 10"/>
          <p:cNvSpPr txBox="1"/>
          <p:nvPr/>
        </p:nvSpPr>
        <p:spPr>
          <a:xfrm>
            <a:off x="768096" y="3044952"/>
            <a:ext cx="6263640" cy="310896"/>
          </a:xfrm>
          <a:prstGeom prst="rect">
            <a:avLst/>
          </a:prstGeom>
          <a:noFill/>
          <a:effectLst/>
        </p:spPr>
        <p:txBody>
          <a:bodyPr wrap="square" lIns="0" tIns="0" rIns="0" bIns="0" anchor="t">
            <a:spAutoFit/>
          </a:bodyPr>
          <a:lstStyle/>
          <a:p>
            <a:pPr algn="l">
              <a:lnSpc>
                <a:spcPct val="112000"/>
              </a:lnSpc>
              <a:spcBef>
                <a:spcPts val="0"/>
              </a:spcBef>
              <a:spcAft>
                <a:spcPts val="500"/>
              </a:spcAft>
              <a:defRPr sz="1900" b="1">
                <a:solidFill>
                  <a:srgbClr val="233D33"/>
                </a:solidFill>
                <a:latin typeface="Arial"/>
              </a:defRPr>
            </a:pPr>
            <a:r>
              <a:t>A J Institute of Engineering and Technology</a:t>
            </a:r>
          </a:p>
        </p:txBody>
      </p:sp>
      <p:sp>
        <p:nvSpPr>
          <p:cNvPr id="12" name="TextBox 11"/>
          <p:cNvSpPr txBox="1"/>
          <p:nvPr/>
        </p:nvSpPr>
        <p:spPr>
          <a:xfrm>
            <a:off x="768096" y="3401568"/>
            <a:ext cx="6263640" cy="347472"/>
          </a:xfrm>
          <a:prstGeom prst="rect">
            <a:avLst/>
          </a:prstGeom>
          <a:noFill/>
          <a:effectLst/>
        </p:spPr>
        <p:txBody>
          <a:bodyPr wrap="square" lIns="0" tIns="0" rIns="0" bIns="0" anchor="t">
            <a:spAutoFit/>
          </a:bodyPr>
          <a:lstStyle/>
          <a:p>
            <a:pPr algn="l">
              <a:lnSpc>
                <a:spcPct val="112000"/>
              </a:lnSpc>
              <a:spcBef>
                <a:spcPts val="0"/>
              </a:spcBef>
              <a:spcAft>
                <a:spcPts val="500"/>
              </a:spcAft>
              <a:defRPr sz="1600" b="0">
                <a:solidFill>
                  <a:srgbClr val="5C6B62"/>
                </a:solidFill>
                <a:latin typeface="Arial"/>
              </a:defRPr>
            </a:pPr>
            <a:r>
              <a:t>For infrastructure.</a:t>
            </a:r>
          </a:p>
        </p:txBody>
      </p:sp>
      <p:sp>
        <p:nvSpPr>
          <p:cNvPr id="13" name="TextBox 12"/>
          <p:cNvSpPr txBox="1"/>
          <p:nvPr/>
        </p:nvSpPr>
        <p:spPr>
          <a:xfrm>
            <a:off x="768096" y="3803904"/>
            <a:ext cx="6263640" cy="310896"/>
          </a:xfrm>
          <a:prstGeom prst="rect">
            <a:avLst/>
          </a:prstGeom>
          <a:noFill/>
          <a:effectLst/>
        </p:spPr>
        <p:txBody>
          <a:bodyPr wrap="square" lIns="0" tIns="0" rIns="0" bIns="0" anchor="t">
            <a:spAutoFit/>
          </a:bodyPr>
          <a:lstStyle/>
          <a:p>
            <a:pPr algn="l">
              <a:lnSpc>
                <a:spcPct val="112000"/>
              </a:lnSpc>
              <a:spcBef>
                <a:spcPts val="0"/>
              </a:spcBef>
              <a:spcAft>
                <a:spcPts val="500"/>
              </a:spcAft>
              <a:defRPr sz="1900" b="1">
                <a:solidFill>
                  <a:srgbClr val="233D33"/>
                </a:solidFill>
                <a:latin typeface="Arial"/>
              </a:defRPr>
            </a:pPr>
            <a:r>
              <a:t>Deep Learning textbook</a:t>
            </a:r>
          </a:p>
        </p:txBody>
      </p:sp>
      <p:sp>
        <p:nvSpPr>
          <p:cNvPr id="14" name="TextBox 13"/>
          <p:cNvSpPr txBox="1"/>
          <p:nvPr/>
        </p:nvSpPr>
        <p:spPr>
          <a:xfrm>
            <a:off x="768096" y="4160520"/>
            <a:ext cx="6263640" cy="347472"/>
          </a:xfrm>
          <a:prstGeom prst="rect">
            <a:avLst/>
          </a:prstGeom>
          <a:noFill/>
          <a:effectLst/>
        </p:spPr>
        <p:txBody>
          <a:bodyPr wrap="square" lIns="0" tIns="0" rIns="0" bIns="0" anchor="t">
            <a:spAutoFit/>
          </a:bodyPr>
          <a:lstStyle/>
          <a:p>
            <a:pPr algn="l">
              <a:lnSpc>
                <a:spcPct val="112000"/>
              </a:lnSpc>
              <a:spcBef>
                <a:spcPts val="0"/>
              </a:spcBef>
              <a:spcAft>
                <a:spcPts val="500"/>
              </a:spcAft>
              <a:defRPr sz="1600" b="0">
                <a:solidFill>
                  <a:srgbClr val="5C6B62"/>
                </a:solidFill>
                <a:latin typeface="Arial"/>
              </a:defRPr>
            </a:pPr>
            <a:r>
              <a:t>Ian Goodfellow, Yoshua Bengio and Aaron Courville.</a:t>
            </a:r>
          </a:p>
        </p:txBody>
      </p:sp>
      <p:sp>
        <p:nvSpPr>
          <p:cNvPr id="15" name="TextBox 14"/>
          <p:cNvSpPr txBox="1"/>
          <p:nvPr/>
        </p:nvSpPr>
        <p:spPr>
          <a:xfrm>
            <a:off x="768096" y="4562856"/>
            <a:ext cx="6263640" cy="310896"/>
          </a:xfrm>
          <a:prstGeom prst="rect">
            <a:avLst/>
          </a:prstGeom>
          <a:noFill/>
          <a:effectLst/>
        </p:spPr>
        <p:txBody>
          <a:bodyPr wrap="square" lIns="0" tIns="0" rIns="0" bIns="0" anchor="t">
            <a:spAutoFit/>
          </a:bodyPr>
          <a:lstStyle/>
          <a:p>
            <a:pPr algn="l">
              <a:lnSpc>
                <a:spcPct val="112000"/>
              </a:lnSpc>
              <a:spcBef>
                <a:spcPts val="0"/>
              </a:spcBef>
              <a:spcAft>
                <a:spcPts val="500"/>
              </a:spcAft>
              <a:defRPr sz="1900" b="1">
                <a:solidFill>
                  <a:srgbClr val="233D33"/>
                </a:solidFill>
                <a:latin typeface="Arial"/>
              </a:defRPr>
            </a:pPr>
            <a:r>
              <a:t>All students who provided feedback</a:t>
            </a:r>
          </a:p>
        </p:txBody>
      </p:sp>
      <p:sp>
        <p:nvSpPr>
          <p:cNvPr id="16" name="TextBox 15"/>
          <p:cNvSpPr txBox="1"/>
          <p:nvPr/>
        </p:nvSpPr>
        <p:spPr>
          <a:xfrm>
            <a:off x="768096" y="4919472"/>
            <a:ext cx="6263640" cy="347472"/>
          </a:xfrm>
          <a:prstGeom prst="rect">
            <a:avLst/>
          </a:prstGeom>
          <a:noFill/>
          <a:effectLst/>
        </p:spPr>
        <p:txBody>
          <a:bodyPr wrap="square" lIns="0" tIns="0" rIns="0" bIns="0" anchor="t">
            <a:spAutoFit/>
          </a:bodyPr>
          <a:lstStyle/>
          <a:p>
            <a:pPr algn="l">
              <a:lnSpc>
                <a:spcPct val="112000"/>
              </a:lnSpc>
              <a:spcBef>
                <a:spcPts val="0"/>
              </a:spcBef>
              <a:spcAft>
                <a:spcPts val="500"/>
              </a:spcAft>
              <a:defRPr sz="1600" b="0">
                <a:solidFill>
                  <a:srgbClr val="5C6B62"/>
                </a:solidFill>
                <a:latin typeface="Arial"/>
              </a:defRPr>
            </a:pPr>
            <a:r>
              <a:t>For their feedback.</a:t>
            </a:r>
          </a:p>
        </p:txBody>
      </p:sp>
      <p:sp>
        <p:nvSpPr>
          <p:cNvPr id="17" name="TextBox 16"/>
          <p:cNvSpPr txBox="1"/>
          <p:nvPr/>
        </p:nvSpPr>
        <p:spPr>
          <a:xfrm>
            <a:off x="768096" y="5321808"/>
            <a:ext cx="6263640" cy="310896"/>
          </a:xfrm>
          <a:prstGeom prst="rect">
            <a:avLst/>
          </a:prstGeom>
          <a:noFill/>
          <a:effectLst/>
        </p:spPr>
        <p:txBody>
          <a:bodyPr wrap="square" lIns="0" tIns="0" rIns="0" bIns="0" anchor="t">
            <a:spAutoFit/>
          </a:bodyPr>
          <a:lstStyle/>
          <a:p>
            <a:pPr algn="l">
              <a:lnSpc>
                <a:spcPct val="112000"/>
              </a:lnSpc>
              <a:spcBef>
                <a:spcPts val="0"/>
              </a:spcBef>
              <a:spcAft>
                <a:spcPts val="500"/>
              </a:spcAft>
              <a:defRPr sz="1900" b="1">
                <a:solidFill>
                  <a:srgbClr val="233D33"/>
                </a:solidFill>
                <a:latin typeface="Arial"/>
              </a:defRPr>
            </a:pPr>
            <a:r>
              <a:t>Family</a:t>
            </a:r>
          </a:p>
        </p:txBody>
      </p:sp>
      <p:sp>
        <p:nvSpPr>
          <p:cNvPr id="18" name="TextBox 17"/>
          <p:cNvSpPr txBox="1"/>
          <p:nvPr/>
        </p:nvSpPr>
        <p:spPr>
          <a:xfrm>
            <a:off x="768096" y="5678424"/>
            <a:ext cx="6263640" cy="347472"/>
          </a:xfrm>
          <a:prstGeom prst="rect">
            <a:avLst/>
          </a:prstGeom>
          <a:noFill/>
          <a:effectLst/>
        </p:spPr>
        <p:txBody>
          <a:bodyPr wrap="square" lIns="0" tIns="0" rIns="0" bIns="0" anchor="t">
            <a:spAutoFit/>
          </a:bodyPr>
          <a:lstStyle/>
          <a:p>
            <a:pPr algn="l">
              <a:lnSpc>
                <a:spcPct val="112000"/>
              </a:lnSpc>
              <a:spcBef>
                <a:spcPts val="0"/>
              </a:spcBef>
              <a:spcAft>
                <a:spcPts val="500"/>
              </a:spcAft>
              <a:defRPr sz="1600" b="0">
                <a:solidFill>
                  <a:srgbClr val="5C6B62"/>
                </a:solidFill>
                <a:latin typeface="Arial"/>
              </a:defRPr>
            </a:pPr>
            <a:r>
              <a:t>For constant support and encouragement.</a:t>
            </a:r>
          </a:p>
        </p:txBody>
      </p:sp>
      <p:sp>
        <p:nvSpPr>
          <p:cNvPr id="19" name="Rounded Rectangle 18"/>
          <p:cNvSpPr/>
          <p:nvPr/>
        </p:nvSpPr>
        <p:spPr>
          <a:xfrm>
            <a:off x="7507224" y="1892807"/>
            <a:ext cx="4014215" cy="4142232"/>
          </a:xfrm>
          <a:prstGeom prst="roundRect">
            <a:avLst>
              <a:gd name="adj" fmla="val 12000"/>
            </a:avLst>
          </a:prstGeom>
          <a:solidFill>
            <a:srgbClr val="E8ED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endParaRPr/>
          </a:p>
        </p:txBody>
      </p:sp>
      <p:sp>
        <p:nvSpPr>
          <p:cNvPr id="20" name="TextBox 19"/>
          <p:cNvSpPr txBox="1"/>
          <p:nvPr/>
        </p:nvSpPr>
        <p:spPr>
          <a:xfrm>
            <a:off x="7808975" y="2203704"/>
            <a:ext cx="3392424" cy="274320"/>
          </a:xfrm>
          <a:prstGeom prst="rect">
            <a:avLst/>
          </a:prstGeom>
          <a:noFill/>
          <a:effectLst/>
        </p:spPr>
        <p:txBody>
          <a:bodyPr wrap="square" lIns="0" tIns="0" rIns="0" bIns="0" anchor="t">
            <a:spAutoFit/>
          </a:bodyPr>
          <a:lstStyle/>
          <a:p>
            <a:pPr algn="l">
              <a:lnSpc>
                <a:spcPct val="112000"/>
              </a:lnSpc>
              <a:spcBef>
                <a:spcPts val="0"/>
              </a:spcBef>
              <a:spcAft>
                <a:spcPts val="500"/>
              </a:spcAft>
              <a:defRPr sz="1200" b="1">
                <a:solidFill>
                  <a:srgbClr val="215C49"/>
                </a:solidFill>
                <a:latin typeface="Arial"/>
              </a:defRPr>
            </a:pPr>
            <a:r>
              <a:t>DEDICATION</a:t>
            </a:r>
          </a:p>
        </p:txBody>
      </p:sp>
      <p:sp>
        <p:nvSpPr>
          <p:cNvPr id="21" name="TextBox 20"/>
          <p:cNvSpPr txBox="1"/>
          <p:nvPr/>
        </p:nvSpPr>
        <p:spPr>
          <a:xfrm>
            <a:off x="7808975" y="2862072"/>
            <a:ext cx="3392424" cy="2542032"/>
          </a:xfrm>
          <a:prstGeom prst="rect">
            <a:avLst/>
          </a:prstGeom>
          <a:noFill/>
          <a:effectLst/>
        </p:spPr>
        <p:txBody>
          <a:bodyPr wrap="square" lIns="0" tIns="0" rIns="0" bIns="0" anchor="t">
            <a:spAutoFit/>
          </a:bodyPr>
          <a:lstStyle/>
          <a:p>
            <a:pPr algn="l">
              <a:lnSpc>
                <a:spcPct val="112000"/>
              </a:lnSpc>
              <a:spcBef>
                <a:spcPts val="0"/>
              </a:spcBef>
              <a:spcAft>
                <a:spcPts val="500"/>
              </a:spcAft>
              <a:defRPr sz="2800" b="0">
                <a:solidFill>
                  <a:srgbClr val="233D33"/>
                </a:solidFill>
                <a:latin typeface="Georgia"/>
              </a:defRPr>
            </a:pPr>
            <a:r>
              <a:t>To all VTU students who aspire to excel in their examinations.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73D31"/>
        </a:solidFill>
        <a:effectLst/>
      </p:bgPr>
    </p:bg>
    <p:spTree>
      <p:nvGrpSpPr>
        <p:cNvPr id="1" name=""/>
        <p:cNvGrpSpPr/>
        <p:nvPr/>
      </p:nvGrpSpPr>
      <p:grpSpPr>
        <a:xfrm>
          <a:off x="0" y="0"/>
          <a:ext cx="0" cy="0"/>
          <a:chOff x="0" y="0"/>
          <a:chExt cx="0" cy="0"/>
        </a:xfrm>
      </p:grpSpPr>
      <p:sp>
        <p:nvSpPr>
          <p:cNvPr id="2" name="TextBox 1"/>
          <p:cNvSpPr txBox="1"/>
          <p:nvPr/>
        </p:nvSpPr>
        <p:spPr>
          <a:xfrm>
            <a:off x="594360" y="6419088"/>
            <a:ext cx="10972800" cy="164592"/>
          </a:xfrm>
          <a:prstGeom prst="rect">
            <a:avLst/>
          </a:prstGeom>
          <a:noFill/>
          <a:effectLst/>
        </p:spPr>
        <p:txBody>
          <a:bodyPr wrap="square" lIns="0" tIns="0" rIns="0" bIns="0" anchor="t">
            <a:spAutoFit/>
          </a:bodyPr>
          <a:lstStyle/>
          <a:p>
            <a:pPr algn="l">
              <a:lnSpc>
                <a:spcPct val="112000"/>
              </a:lnSpc>
              <a:spcBef>
                <a:spcPts val="0"/>
              </a:spcBef>
              <a:spcAft>
                <a:spcPts val="500"/>
              </a:spcAft>
              <a:defRPr sz="800" b="0">
                <a:solidFill>
                  <a:srgbClr val="CEDDC9"/>
                </a:solidFill>
                <a:latin typeface="Arial"/>
              </a:defRPr>
            </a:pPr>
            <a:r>
              <a:t>Report Chs. 13–15 and Appendix C; no new impact or deployment claim</a:t>
            </a:r>
          </a:p>
        </p:txBody>
      </p:sp>
      <p:sp>
        <p:nvSpPr>
          <p:cNvPr id="3" name="TextBox 2"/>
          <p:cNvSpPr txBox="1"/>
          <p:nvPr/>
        </p:nvSpPr>
        <p:spPr>
          <a:xfrm>
            <a:off x="594360" y="6638544"/>
            <a:ext cx="10607040" cy="173736"/>
          </a:xfrm>
          <a:prstGeom prst="rect">
            <a:avLst/>
          </a:prstGeom>
          <a:noFill/>
          <a:effectLst/>
        </p:spPr>
        <p:txBody>
          <a:bodyPr wrap="square" lIns="0" tIns="0" rIns="0" bIns="0" anchor="t">
            <a:spAutoFit/>
          </a:bodyPr>
          <a:lstStyle/>
          <a:p>
            <a:pPr algn="l">
              <a:lnSpc>
                <a:spcPct val="112000"/>
              </a:lnSpc>
              <a:spcBef>
                <a:spcPts val="0"/>
              </a:spcBef>
              <a:spcAft>
                <a:spcPts val="500"/>
              </a:spcAft>
              <a:defRPr sz="900" b="1">
                <a:solidFill>
                  <a:srgbClr val="CEDDC9"/>
                </a:solidFill>
                <a:latin typeface="Arial"/>
              </a:defRPr>
            </a:pPr>
            <a:r>
              <a:t>Dr. Lokesh M R  |  Professor, ISE  |  AJIET, Mangaluru</a:t>
            </a:r>
          </a:p>
        </p:txBody>
      </p:sp>
      <p:sp>
        <p:nvSpPr>
          <p:cNvPr id="4" name="TextBox 3"/>
          <p:cNvSpPr txBox="1"/>
          <p:nvPr/>
        </p:nvSpPr>
        <p:spPr>
          <a:xfrm>
            <a:off x="11155680" y="6620256"/>
            <a:ext cx="438912" cy="210312"/>
          </a:xfrm>
          <a:prstGeom prst="rect">
            <a:avLst/>
          </a:prstGeom>
          <a:noFill/>
          <a:effectLst/>
        </p:spPr>
        <p:txBody>
          <a:bodyPr wrap="square" lIns="0" tIns="0" rIns="0" bIns="0" anchor="t">
            <a:spAutoFit/>
          </a:bodyPr>
          <a:lstStyle/>
          <a:p>
            <a:pPr algn="r">
              <a:lnSpc>
                <a:spcPct val="112000"/>
              </a:lnSpc>
              <a:spcBef>
                <a:spcPts val="0"/>
              </a:spcBef>
              <a:spcAft>
                <a:spcPts val="500"/>
              </a:spcAft>
              <a:defRPr sz="1000" b="1">
                <a:solidFill>
                  <a:srgbClr val="CEDDC9"/>
                </a:solidFill>
                <a:latin typeface="Arial"/>
              </a:defRPr>
            </a:pPr>
            <a:r>
              <a:t>24</a:t>
            </a:r>
          </a:p>
        </p:txBody>
      </p:sp>
      <p:sp>
        <p:nvSpPr>
          <p:cNvPr id="5" name="TextBox 4"/>
          <p:cNvSpPr txBox="1"/>
          <p:nvPr/>
        </p:nvSpPr>
        <p:spPr>
          <a:xfrm>
            <a:off x="676656" y="448056"/>
            <a:ext cx="10058400" cy="310896"/>
          </a:xfrm>
          <a:prstGeom prst="rect">
            <a:avLst/>
          </a:prstGeom>
          <a:noFill/>
          <a:effectLst/>
        </p:spPr>
        <p:txBody>
          <a:bodyPr wrap="square" lIns="0" tIns="0" rIns="0" bIns="0" anchor="t">
            <a:spAutoFit/>
          </a:bodyPr>
          <a:lstStyle/>
          <a:p>
            <a:pPr algn="l">
              <a:lnSpc>
                <a:spcPct val="112000"/>
              </a:lnSpc>
              <a:spcBef>
                <a:spcPts val="0"/>
              </a:spcBef>
              <a:spcAft>
                <a:spcPts val="500"/>
              </a:spcAft>
              <a:defRPr sz="1100" b="1">
                <a:solidFill>
                  <a:srgbClr val="CEDDC9"/>
                </a:solidFill>
                <a:latin typeface="Arial"/>
              </a:defRPr>
            </a:pPr>
            <a:r>
              <a:t>REFLECT  /  DISCUSS  /  DEFEND</a:t>
            </a:r>
          </a:p>
        </p:txBody>
      </p:sp>
      <p:sp>
        <p:nvSpPr>
          <p:cNvPr id="6" name="TextBox 5"/>
          <p:cNvSpPr txBox="1"/>
          <p:nvPr/>
        </p:nvSpPr>
        <p:spPr>
          <a:xfrm>
            <a:off x="667512" y="1216152"/>
            <a:ext cx="10780776" cy="1508760"/>
          </a:xfrm>
          <a:prstGeom prst="rect">
            <a:avLst/>
          </a:prstGeom>
          <a:noFill/>
          <a:effectLst/>
        </p:spPr>
        <p:txBody>
          <a:bodyPr wrap="square" lIns="0" tIns="0" rIns="0" bIns="0" anchor="t">
            <a:spAutoFit/>
          </a:bodyPr>
          <a:lstStyle/>
          <a:p>
            <a:pPr algn="l">
              <a:lnSpc>
                <a:spcPct val="112000"/>
              </a:lnSpc>
              <a:spcBef>
                <a:spcPts val="0"/>
              </a:spcBef>
              <a:spcAft>
                <a:spcPts val="500"/>
              </a:spcAft>
              <a:defRPr sz="4300" b="0">
                <a:solidFill>
                  <a:srgbClr val="FFFFFF"/>
                </a:solidFill>
                <a:latin typeface="Georgia"/>
              </a:defRPr>
            </a:pPr>
            <a:r>
              <a:t>What would you validate</a:t>
            </a:r>
          </a:p>
          <a:p>
            <a:pPr algn="l">
              <a:lnSpc>
                <a:spcPct val="112000"/>
              </a:lnSpc>
              <a:spcBef>
                <a:spcPts val="0"/>
              </a:spcBef>
              <a:spcAft>
                <a:spcPts val="500"/>
              </a:spcAft>
              <a:defRPr sz="4300" b="0">
                <a:solidFill>
                  <a:srgbClr val="FFFFFF"/>
                </a:solidFill>
                <a:latin typeface="Georgia"/>
              </a:defRPr>
            </a:pPr>
            <a:r>
              <a:t>before the first class?</a:t>
            </a:r>
          </a:p>
        </p:txBody>
      </p:sp>
      <p:cxnSp>
        <p:nvCxnSpPr>
          <p:cNvPr id="7" name="Connector 6"/>
          <p:cNvCxnSpPr/>
          <p:nvPr/>
        </p:nvCxnSpPr>
        <p:spPr>
          <a:xfrm>
            <a:off x="722376" y="3438144"/>
            <a:ext cx="3337559" cy="0"/>
          </a:xfrm>
          <a:prstGeom prst="line">
            <a:avLst/>
          </a:prstGeom>
          <a:ln w="12700">
            <a:solidFill>
              <a:srgbClr val="CEDDC9"/>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722376" y="3675887"/>
            <a:ext cx="3355848" cy="411480"/>
          </a:xfrm>
          <a:prstGeom prst="rect">
            <a:avLst/>
          </a:prstGeom>
          <a:noFill/>
          <a:effectLst/>
        </p:spPr>
        <p:txBody>
          <a:bodyPr wrap="square" lIns="0" tIns="0" rIns="0" bIns="0" anchor="t">
            <a:spAutoFit/>
          </a:bodyPr>
          <a:lstStyle/>
          <a:p>
            <a:pPr algn="l">
              <a:lnSpc>
                <a:spcPct val="112000"/>
              </a:lnSpc>
              <a:spcBef>
                <a:spcPts val="0"/>
              </a:spcBef>
              <a:spcAft>
                <a:spcPts val="500"/>
              </a:spcAft>
              <a:defRPr sz="2500" b="0">
                <a:solidFill>
                  <a:srgbClr val="F0F2D8"/>
                </a:solidFill>
                <a:latin typeface="Georgia"/>
              </a:defRPr>
            </a:pPr>
            <a:r>
              <a:t>The learner</a:t>
            </a:r>
          </a:p>
        </p:txBody>
      </p:sp>
      <p:sp>
        <p:nvSpPr>
          <p:cNvPr id="9" name="TextBox 8"/>
          <p:cNvSpPr txBox="1"/>
          <p:nvPr/>
        </p:nvSpPr>
        <p:spPr>
          <a:xfrm>
            <a:off x="722376" y="4343400"/>
            <a:ext cx="3328416" cy="932688"/>
          </a:xfrm>
          <a:prstGeom prst="rect">
            <a:avLst/>
          </a:prstGeom>
          <a:noFill/>
          <a:effectLst/>
        </p:spPr>
        <p:txBody>
          <a:bodyPr wrap="square" lIns="0" tIns="0" rIns="0" bIns="0" anchor="t">
            <a:spAutoFit/>
          </a:bodyPr>
          <a:lstStyle/>
          <a:p>
            <a:pPr algn="l">
              <a:lnSpc>
                <a:spcPct val="112000"/>
              </a:lnSpc>
              <a:spcBef>
                <a:spcPts val="0"/>
              </a:spcBef>
              <a:spcAft>
                <a:spcPts val="500"/>
              </a:spcAft>
              <a:defRPr sz="2100" b="0">
                <a:solidFill>
                  <a:srgbClr val="CEDDC9"/>
                </a:solidFill>
                <a:latin typeface="Arial"/>
              </a:defRPr>
            </a:pPr>
            <a:r>
              <a:t>Language, input, sensory needs.</a:t>
            </a:r>
          </a:p>
        </p:txBody>
      </p:sp>
      <p:cxnSp>
        <p:nvCxnSpPr>
          <p:cNvPr id="10" name="Connector 9"/>
          <p:cNvCxnSpPr/>
          <p:nvPr/>
        </p:nvCxnSpPr>
        <p:spPr>
          <a:xfrm>
            <a:off x="4517136" y="3438144"/>
            <a:ext cx="3337560" cy="0"/>
          </a:xfrm>
          <a:prstGeom prst="line">
            <a:avLst/>
          </a:prstGeom>
          <a:ln w="12700">
            <a:solidFill>
              <a:srgbClr val="CEDDC9"/>
            </a:solidFill>
          </a:ln>
          <a:effectLst/>
        </p:spPr>
        <p:style>
          <a:lnRef idx="2">
            <a:schemeClr val="accent1"/>
          </a:lnRef>
          <a:fillRef idx="0">
            <a:schemeClr val="accent1"/>
          </a:fillRef>
          <a:effectRef idx="0">
            <a:schemeClr val="accent1"/>
          </a:effectRef>
          <a:fontRef idx="minor">
            <a:schemeClr val="tx1"/>
          </a:fontRef>
        </p:style>
      </p:cxnSp>
      <p:sp>
        <p:nvSpPr>
          <p:cNvPr id="11" name="TextBox 10"/>
          <p:cNvSpPr txBox="1"/>
          <p:nvPr/>
        </p:nvSpPr>
        <p:spPr>
          <a:xfrm>
            <a:off x="4517136" y="3675887"/>
            <a:ext cx="3355848" cy="411480"/>
          </a:xfrm>
          <a:prstGeom prst="rect">
            <a:avLst/>
          </a:prstGeom>
          <a:noFill/>
          <a:effectLst/>
        </p:spPr>
        <p:txBody>
          <a:bodyPr wrap="square" lIns="0" tIns="0" rIns="0" bIns="0" anchor="t">
            <a:spAutoFit/>
          </a:bodyPr>
          <a:lstStyle/>
          <a:p>
            <a:pPr algn="l">
              <a:lnSpc>
                <a:spcPct val="112000"/>
              </a:lnSpc>
              <a:spcBef>
                <a:spcPts val="0"/>
              </a:spcBef>
              <a:spcAft>
                <a:spcPts val="500"/>
              </a:spcAft>
              <a:defRPr sz="2500" b="0">
                <a:solidFill>
                  <a:srgbClr val="F0F2D8"/>
                </a:solidFill>
                <a:latin typeface="Georgia"/>
              </a:defRPr>
            </a:pPr>
            <a:r>
              <a:t>The evidence</a:t>
            </a:r>
          </a:p>
        </p:txBody>
      </p:sp>
      <p:sp>
        <p:nvSpPr>
          <p:cNvPr id="12" name="TextBox 11"/>
          <p:cNvSpPr txBox="1"/>
          <p:nvPr/>
        </p:nvSpPr>
        <p:spPr>
          <a:xfrm>
            <a:off x="4517136" y="4343400"/>
            <a:ext cx="3328416" cy="932688"/>
          </a:xfrm>
          <a:prstGeom prst="rect">
            <a:avLst/>
          </a:prstGeom>
          <a:noFill/>
          <a:effectLst/>
        </p:spPr>
        <p:txBody>
          <a:bodyPr wrap="square" lIns="0" tIns="0" rIns="0" bIns="0" anchor="t">
            <a:spAutoFit/>
          </a:bodyPr>
          <a:lstStyle/>
          <a:p>
            <a:pPr algn="l">
              <a:lnSpc>
                <a:spcPct val="112000"/>
              </a:lnSpc>
              <a:spcBef>
                <a:spcPts val="0"/>
              </a:spcBef>
              <a:spcAft>
                <a:spcPts val="500"/>
              </a:spcAft>
              <a:defRPr sz="2100" b="0">
                <a:solidFill>
                  <a:srgbClr val="CEDDC9"/>
                </a:solidFill>
                <a:latin typeface="Arial"/>
              </a:defRPr>
            </a:pPr>
            <a:r>
              <a:t>Source quality, tests, model limits.</a:t>
            </a:r>
          </a:p>
        </p:txBody>
      </p:sp>
      <p:cxnSp>
        <p:nvCxnSpPr>
          <p:cNvPr id="13" name="Connector 12"/>
          <p:cNvCxnSpPr/>
          <p:nvPr/>
        </p:nvCxnSpPr>
        <p:spPr>
          <a:xfrm>
            <a:off x="8311896" y="3438144"/>
            <a:ext cx="3337560" cy="0"/>
          </a:xfrm>
          <a:prstGeom prst="line">
            <a:avLst/>
          </a:prstGeom>
          <a:ln w="12700">
            <a:solidFill>
              <a:srgbClr val="CEDDC9"/>
            </a:solidFill>
          </a:ln>
          <a:effectLst/>
        </p:spPr>
        <p:style>
          <a:lnRef idx="2">
            <a:schemeClr val="accent1"/>
          </a:lnRef>
          <a:fillRef idx="0">
            <a:schemeClr val="accent1"/>
          </a:fillRef>
          <a:effectRef idx="0">
            <a:schemeClr val="accent1"/>
          </a:effectRef>
          <a:fontRef idx="minor">
            <a:schemeClr val="tx1"/>
          </a:fontRef>
        </p:style>
      </p:cxnSp>
      <p:sp>
        <p:nvSpPr>
          <p:cNvPr id="14" name="TextBox 13"/>
          <p:cNvSpPr txBox="1"/>
          <p:nvPr/>
        </p:nvSpPr>
        <p:spPr>
          <a:xfrm>
            <a:off x="8311896" y="3675887"/>
            <a:ext cx="3355848" cy="411480"/>
          </a:xfrm>
          <a:prstGeom prst="rect">
            <a:avLst/>
          </a:prstGeom>
          <a:noFill/>
          <a:effectLst/>
        </p:spPr>
        <p:txBody>
          <a:bodyPr wrap="square" lIns="0" tIns="0" rIns="0" bIns="0" anchor="t">
            <a:spAutoFit/>
          </a:bodyPr>
          <a:lstStyle/>
          <a:p>
            <a:pPr algn="l">
              <a:lnSpc>
                <a:spcPct val="112000"/>
              </a:lnSpc>
              <a:spcBef>
                <a:spcPts val="0"/>
              </a:spcBef>
              <a:spcAft>
                <a:spcPts val="500"/>
              </a:spcAft>
              <a:defRPr sz="2500" b="0">
                <a:solidFill>
                  <a:srgbClr val="F0F2D8"/>
                </a:solidFill>
                <a:latin typeface="Georgia"/>
              </a:defRPr>
            </a:pPr>
            <a:r>
              <a:t>The setting</a:t>
            </a:r>
          </a:p>
        </p:txBody>
      </p:sp>
      <p:sp>
        <p:nvSpPr>
          <p:cNvPr id="15" name="TextBox 14"/>
          <p:cNvSpPr txBox="1"/>
          <p:nvPr/>
        </p:nvSpPr>
        <p:spPr>
          <a:xfrm>
            <a:off x="8311896" y="4343400"/>
            <a:ext cx="3328416" cy="932688"/>
          </a:xfrm>
          <a:prstGeom prst="rect">
            <a:avLst/>
          </a:prstGeom>
          <a:noFill/>
          <a:effectLst/>
        </p:spPr>
        <p:txBody>
          <a:bodyPr wrap="square" lIns="0" tIns="0" rIns="0" bIns="0" anchor="t">
            <a:spAutoFit/>
          </a:bodyPr>
          <a:lstStyle/>
          <a:p>
            <a:pPr algn="l">
              <a:lnSpc>
                <a:spcPct val="112000"/>
              </a:lnSpc>
              <a:spcBef>
                <a:spcPts val="0"/>
              </a:spcBef>
              <a:spcAft>
                <a:spcPts val="500"/>
              </a:spcAft>
              <a:defRPr sz="2100" b="0">
                <a:solidFill>
                  <a:srgbClr val="CEDDC9"/>
                </a:solidFill>
                <a:latin typeface="Arial"/>
              </a:defRPr>
            </a:pPr>
            <a:r>
              <a:t>Permission, device, support, privacy.</a:t>
            </a:r>
          </a:p>
        </p:txBody>
      </p:sp>
      <p:sp>
        <p:nvSpPr>
          <p:cNvPr id="16" name="TextBox 15"/>
          <p:cNvSpPr txBox="1"/>
          <p:nvPr/>
        </p:nvSpPr>
        <p:spPr>
          <a:xfrm>
            <a:off x="731520" y="5623560"/>
            <a:ext cx="10661904" cy="393192"/>
          </a:xfrm>
          <a:prstGeom prst="rect">
            <a:avLst/>
          </a:prstGeom>
          <a:noFill/>
          <a:effectLst/>
        </p:spPr>
        <p:txBody>
          <a:bodyPr wrap="square" lIns="0" tIns="0" rIns="0" bIns="0" anchor="t">
            <a:spAutoFit/>
          </a:bodyPr>
          <a:lstStyle/>
          <a:p>
            <a:pPr algn="l">
              <a:lnSpc>
                <a:spcPct val="112000"/>
              </a:lnSpc>
              <a:spcBef>
                <a:spcPts val="0"/>
              </a:spcBef>
              <a:spcAft>
                <a:spcPts val="500"/>
              </a:spcAft>
              <a:defRPr sz="2300" b="1">
                <a:solidFill>
                  <a:srgbClr val="FFFFFF"/>
                </a:solidFill>
                <a:latin typeface="Arial"/>
              </a:defRPr>
            </a:pPr>
            <a:r>
              <a:t>Build transparently. Validate locally. Report only what the evidence supports.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8F9F5"/>
        </a:solidFill>
        <a:effectLst/>
      </p:bgPr>
    </p:bg>
    <p:spTree>
      <p:nvGrpSpPr>
        <p:cNvPr id="1" name=""/>
        <p:cNvGrpSpPr/>
        <p:nvPr/>
      </p:nvGrpSpPr>
      <p:grpSpPr>
        <a:xfrm>
          <a:off x="0" y="0"/>
          <a:ext cx="0" cy="0"/>
          <a:chOff x="0" y="0"/>
          <a:chExt cx="0" cy="0"/>
        </a:xfrm>
      </p:grpSpPr>
      <p:sp>
        <p:nvSpPr>
          <p:cNvPr id="2" name="TextBox 1"/>
          <p:cNvSpPr txBox="1"/>
          <p:nvPr/>
        </p:nvSpPr>
        <p:spPr>
          <a:xfrm>
            <a:off x="576072" y="310896"/>
            <a:ext cx="7315200" cy="237744"/>
          </a:xfrm>
          <a:prstGeom prst="rect">
            <a:avLst/>
          </a:prstGeom>
          <a:noFill/>
          <a:effectLst/>
        </p:spPr>
        <p:txBody>
          <a:bodyPr wrap="square" lIns="0" tIns="0" rIns="0" bIns="0" anchor="t">
            <a:spAutoFit/>
          </a:bodyPr>
          <a:lstStyle/>
          <a:p>
            <a:pPr algn="l">
              <a:lnSpc>
                <a:spcPct val="112000"/>
              </a:lnSpc>
              <a:spcBef>
                <a:spcPts val="0"/>
              </a:spcBef>
              <a:spcAft>
                <a:spcPts val="500"/>
              </a:spcAft>
              <a:defRPr sz="1000" b="1">
                <a:solidFill>
                  <a:srgbClr val="215C49"/>
                </a:solidFill>
                <a:latin typeface="Arial"/>
              </a:defRPr>
            </a:pPr>
            <a:r>
              <a:t>SAHAYA  /  REFERENCE</a:t>
            </a:r>
          </a:p>
        </p:txBody>
      </p:sp>
      <p:sp>
        <p:nvSpPr>
          <p:cNvPr id="3" name="TextBox 2"/>
          <p:cNvSpPr txBox="1"/>
          <p:nvPr/>
        </p:nvSpPr>
        <p:spPr>
          <a:xfrm>
            <a:off x="576072" y="749808"/>
            <a:ext cx="11064240" cy="576072"/>
          </a:xfrm>
          <a:prstGeom prst="rect">
            <a:avLst/>
          </a:prstGeom>
          <a:noFill/>
          <a:effectLst/>
        </p:spPr>
        <p:txBody>
          <a:bodyPr wrap="square" lIns="0" tIns="0" rIns="0" bIns="0" anchor="t">
            <a:spAutoFit/>
          </a:bodyPr>
          <a:lstStyle/>
          <a:p>
            <a:pPr algn="l">
              <a:lnSpc>
                <a:spcPct val="112000"/>
              </a:lnSpc>
              <a:spcBef>
                <a:spcPts val="0"/>
              </a:spcBef>
              <a:spcAft>
                <a:spcPts val="500"/>
              </a:spcAft>
              <a:defRPr sz="3100" b="0">
                <a:solidFill>
                  <a:srgbClr val="233D33"/>
                </a:solidFill>
                <a:latin typeface="Georgia"/>
              </a:defRPr>
            </a:pPr>
            <a:r>
              <a:t>References and reproducibility</a:t>
            </a:r>
          </a:p>
        </p:txBody>
      </p:sp>
      <p:sp>
        <p:nvSpPr>
          <p:cNvPr id="4" name="TextBox 3"/>
          <p:cNvSpPr txBox="1"/>
          <p:nvPr/>
        </p:nvSpPr>
        <p:spPr>
          <a:xfrm>
            <a:off x="594360" y="1371600"/>
            <a:ext cx="10972800" cy="384048"/>
          </a:xfrm>
          <a:prstGeom prst="rect">
            <a:avLst/>
          </a:prstGeom>
          <a:noFill/>
          <a:effectLst/>
        </p:spPr>
        <p:txBody>
          <a:bodyPr wrap="square" lIns="0" tIns="0" rIns="0" bIns="0" anchor="t">
            <a:spAutoFit/>
          </a:bodyPr>
          <a:lstStyle/>
          <a:p>
            <a:pPr algn="l">
              <a:lnSpc>
                <a:spcPct val="112000"/>
              </a:lnSpc>
              <a:spcBef>
                <a:spcPts val="0"/>
              </a:spcBef>
              <a:spcAft>
                <a:spcPts val="500"/>
              </a:spcAft>
              <a:defRPr sz="1600" b="0">
                <a:solidFill>
                  <a:srgbClr val="5C6B62"/>
                </a:solidFill>
                <a:latin typeface="Arial"/>
              </a:defRPr>
            </a:pPr>
            <a:r>
              <a:t>Source files are included in the project package; repository links below are clickable.</a:t>
            </a:r>
          </a:p>
        </p:txBody>
      </p:sp>
      <p:cxnSp>
        <p:nvCxnSpPr>
          <p:cNvPr id="5" name="Connector 4"/>
          <p:cNvCxnSpPr/>
          <p:nvPr/>
        </p:nvCxnSpPr>
        <p:spPr>
          <a:xfrm>
            <a:off x="585216" y="6373368"/>
            <a:ext cx="11018520" cy="0"/>
          </a:xfrm>
          <a:prstGeom prst="line">
            <a:avLst/>
          </a:prstGeom>
          <a:ln w="12700">
            <a:solidFill>
              <a:srgbClr val="DCE4DA"/>
            </a:solidFill>
          </a:ln>
          <a:effectLst/>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585216" y="6419088"/>
            <a:ext cx="10972800" cy="164592"/>
          </a:xfrm>
          <a:prstGeom prst="rect">
            <a:avLst/>
          </a:prstGeom>
          <a:noFill/>
          <a:effectLst/>
        </p:spPr>
        <p:txBody>
          <a:bodyPr wrap="square" lIns="0" tIns="0" rIns="0" bIns="0" anchor="t">
            <a:spAutoFit/>
          </a:bodyPr>
          <a:lstStyle/>
          <a:p>
            <a:pPr algn="l">
              <a:lnSpc>
                <a:spcPct val="112000"/>
              </a:lnSpc>
              <a:spcBef>
                <a:spcPts val="0"/>
              </a:spcBef>
              <a:spcAft>
                <a:spcPts val="500"/>
              </a:spcAft>
              <a:defRPr sz="800" b="0">
                <a:solidFill>
                  <a:srgbClr val="5C6B62"/>
                </a:solidFill>
                <a:latin typeface="Arial"/>
              </a:defRPr>
            </a:pPr>
            <a:r>
              <a:t>Deck based on supplied package and 48-page PDF. External source metadata follows their source register.</a:t>
            </a:r>
          </a:p>
        </p:txBody>
      </p:sp>
      <p:sp>
        <p:nvSpPr>
          <p:cNvPr id="7" name="TextBox 6"/>
          <p:cNvSpPr txBox="1"/>
          <p:nvPr/>
        </p:nvSpPr>
        <p:spPr>
          <a:xfrm>
            <a:off x="585216" y="6638544"/>
            <a:ext cx="10607040" cy="173736"/>
          </a:xfrm>
          <a:prstGeom prst="rect">
            <a:avLst/>
          </a:prstGeom>
          <a:noFill/>
          <a:effectLst/>
        </p:spPr>
        <p:txBody>
          <a:bodyPr wrap="square" lIns="0" tIns="0" rIns="0" bIns="0" anchor="t">
            <a:spAutoFit/>
          </a:bodyPr>
          <a:lstStyle/>
          <a:p>
            <a:pPr algn="l">
              <a:lnSpc>
                <a:spcPct val="112000"/>
              </a:lnSpc>
              <a:spcBef>
                <a:spcPts val="0"/>
              </a:spcBef>
              <a:spcAft>
                <a:spcPts val="500"/>
              </a:spcAft>
              <a:defRPr sz="900" b="1">
                <a:solidFill>
                  <a:srgbClr val="215C49"/>
                </a:solidFill>
                <a:latin typeface="Arial"/>
              </a:defRPr>
            </a:pPr>
            <a:r>
              <a:t>Dr. Lokesh M R  |  Professor, ISE  |  AJIET, Mangaluru</a:t>
            </a:r>
          </a:p>
        </p:txBody>
      </p:sp>
      <p:sp>
        <p:nvSpPr>
          <p:cNvPr id="8" name="TextBox 7"/>
          <p:cNvSpPr txBox="1"/>
          <p:nvPr/>
        </p:nvSpPr>
        <p:spPr>
          <a:xfrm>
            <a:off x="11201400" y="6620256"/>
            <a:ext cx="393192" cy="210312"/>
          </a:xfrm>
          <a:prstGeom prst="rect">
            <a:avLst/>
          </a:prstGeom>
          <a:noFill/>
          <a:effectLst/>
        </p:spPr>
        <p:txBody>
          <a:bodyPr wrap="square" lIns="0" tIns="0" rIns="0" bIns="0" anchor="t">
            <a:spAutoFit/>
          </a:bodyPr>
          <a:lstStyle/>
          <a:p>
            <a:pPr algn="r">
              <a:lnSpc>
                <a:spcPct val="112000"/>
              </a:lnSpc>
              <a:spcBef>
                <a:spcPts val="0"/>
              </a:spcBef>
              <a:spcAft>
                <a:spcPts val="500"/>
              </a:spcAft>
              <a:defRPr sz="1000" b="1">
                <a:solidFill>
                  <a:srgbClr val="215C49"/>
                </a:solidFill>
                <a:latin typeface="Arial"/>
              </a:defRPr>
            </a:pPr>
            <a:r>
              <a:t>25</a:t>
            </a:r>
          </a:p>
        </p:txBody>
      </p:sp>
      <p:sp>
        <p:nvSpPr>
          <p:cNvPr id="9" name="TextBox 8"/>
          <p:cNvSpPr txBox="1"/>
          <p:nvPr/>
        </p:nvSpPr>
        <p:spPr>
          <a:xfrm>
            <a:off x="740664" y="1828800"/>
            <a:ext cx="3017520" cy="374904"/>
          </a:xfrm>
          <a:prstGeom prst="rect">
            <a:avLst/>
          </a:prstGeom>
          <a:noFill/>
          <a:effectLst/>
        </p:spPr>
        <p:txBody>
          <a:bodyPr wrap="square" lIns="0" tIns="0" rIns="0" bIns="0" anchor="t">
            <a:spAutoFit/>
          </a:bodyPr>
          <a:lstStyle/>
          <a:p>
            <a:pPr algn="l">
              <a:lnSpc>
                <a:spcPct val="112000"/>
              </a:lnSpc>
              <a:spcBef>
                <a:spcPts val="0"/>
              </a:spcBef>
              <a:spcAft>
                <a:spcPts val="500"/>
              </a:spcAft>
              <a:defRPr sz="1100" b="1">
                <a:solidFill>
                  <a:srgbClr val="215C49"/>
                </a:solidFill>
                <a:latin typeface="Arial"/>
              </a:defRPr>
            </a:pPr>
            <a:r>
              <a:t>PRIMARY DELIVERABLES</a:t>
            </a:r>
          </a:p>
        </p:txBody>
      </p:sp>
      <p:sp>
        <p:nvSpPr>
          <p:cNvPr id="10" name="TextBox 9"/>
          <p:cNvSpPr txBox="1"/>
          <p:nvPr/>
        </p:nvSpPr>
        <p:spPr>
          <a:xfrm>
            <a:off x="3767328" y="1828800"/>
            <a:ext cx="7525512" cy="475488"/>
          </a:xfrm>
          <a:prstGeom prst="rect">
            <a:avLst/>
          </a:prstGeom>
          <a:noFill/>
          <a:effectLst/>
        </p:spPr>
        <p:txBody>
          <a:bodyPr wrap="square" lIns="0" tIns="0" rIns="0" bIns="0" anchor="t">
            <a:spAutoFit/>
          </a:bodyPr>
          <a:lstStyle/>
          <a:p>
            <a:pPr algn="l">
              <a:lnSpc>
                <a:spcPct val="112000"/>
              </a:lnSpc>
              <a:spcBef>
                <a:spcPts val="0"/>
              </a:spcBef>
              <a:spcAft>
                <a:spcPts val="500"/>
              </a:spcAft>
              <a:defRPr sz="1600" b="0">
                <a:solidFill>
                  <a:srgbClr val="233D33"/>
                </a:solidFill>
                <a:latin typeface="Arial"/>
              </a:defRPr>
            </a:pPr>
            <a:r>
              <a:t>Community-Project-Sahaya-Continuation.pdf • 48 pages</a:t>
            </a:r>
          </a:p>
          <a:p>
            <a:pPr algn="l">
              <a:lnSpc>
                <a:spcPct val="112000"/>
              </a:lnSpc>
              <a:spcBef>
                <a:spcPts val="0"/>
              </a:spcBef>
              <a:spcAft>
                <a:spcPts val="500"/>
              </a:spcAft>
              <a:defRPr sz="1600" b="0">
                <a:solidFill>
                  <a:srgbClr val="233D33"/>
                </a:solidFill>
                <a:latin typeface="Arial"/>
              </a:defRPr>
            </a:pPr>
            <a:r>
              <a:t>Sahaya-Project-Package.zip • code, data, evidence, Git bundle</a:t>
            </a:r>
          </a:p>
        </p:txBody>
      </p:sp>
      <p:cxnSp>
        <p:nvCxnSpPr>
          <p:cNvPr id="11" name="Connector 10"/>
          <p:cNvCxnSpPr/>
          <p:nvPr/>
        </p:nvCxnSpPr>
        <p:spPr>
          <a:xfrm>
            <a:off x="731520" y="2354580"/>
            <a:ext cx="10762488" cy="0"/>
          </a:xfrm>
          <a:prstGeom prst="line">
            <a:avLst/>
          </a:prstGeom>
          <a:ln w="6350">
            <a:solidFill>
              <a:srgbClr val="DCE4DA"/>
            </a:solidFill>
          </a:ln>
          <a:effectLst/>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740664" y="2436876"/>
            <a:ext cx="3017520" cy="374904"/>
          </a:xfrm>
          <a:prstGeom prst="rect">
            <a:avLst/>
          </a:prstGeom>
          <a:noFill/>
          <a:effectLst/>
        </p:spPr>
        <p:txBody>
          <a:bodyPr wrap="square" lIns="0" tIns="0" rIns="0" bIns="0" anchor="t">
            <a:spAutoFit/>
          </a:bodyPr>
          <a:lstStyle/>
          <a:p>
            <a:pPr algn="l">
              <a:lnSpc>
                <a:spcPct val="112000"/>
              </a:lnSpc>
              <a:spcBef>
                <a:spcPts val="0"/>
              </a:spcBef>
              <a:spcAft>
                <a:spcPts val="500"/>
              </a:spcAft>
              <a:defRPr sz="1100" b="1">
                <a:solidFill>
                  <a:srgbClr val="215C49"/>
                </a:solidFill>
                <a:latin typeface="Arial"/>
              </a:defRPr>
            </a:pPr>
            <a:r>
              <a:t>UCI HANDWRITTEN DIGITS</a:t>
            </a:r>
          </a:p>
        </p:txBody>
      </p:sp>
      <p:sp>
        <p:nvSpPr>
          <p:cNvPr id="13" name="TextBox 12"/>
          <p:cNvSpPr txBox="1"/>
          <p:nvPr/>
        </p:nvSpPr>
        <p:spPr>
          <a:xfrm>
            <a:off x="3767328" y="2436876"/>
            <a:ext cx="7525512" cy="475488"/>
          </a:xfrm>
          <a:prstGeom prst="rect">
            <a:avLst/>
          </a:prstGeom>
          <a:noFill/>
          <a:effectLst/>
        </p:spPr>
        <p:txBody>
          <a:bodyPr wrap="square" lIns="0" tIns="0" rIns="0" bIns="0" anchor="t">
            <a:spAutoFit/>
          </a:bodyPr>
          <a:lstStyle/>
          <a:p>
            <a:pPr algn="l">
              <a:lnSpc>
                <a:spcPct val="112000"/>
              </a:lnSpc>
              <a:spcBef>
                <a:spcPts val="0"/>
              </a:spcBef>
              <a:spcAft>
                <a:spcPts val="500"/>
              </a:spcAft>
              <a:defRPr sz="1600" b="0">
                <a:solidFill>
                  <a:srgbClr val="233D33"/>
                </a:solidFill>
                <a:latin typeface="Arial"/>
              </a:defRPr>
            </a:pPr>
            <a:r>
              <a:rPr>
                <a:hlinkClick r:id="rId3"/>
              </a:rPr>
              <a:t>Alpaydin &amp; Kaynak, 1998 • DOI: 10.24432/C50P49 • CC BY 4.0</a:t>
            </a:r>
          </a:p>
        </p:txBody>
      </p:sp>
      <p:cxnSp>
        <p:nvCxnSpPr>
          <p:cNvPr id="14" name="Connector 13"/>
          <p:cNvCxnSpPr/>
          <p:nvPr/>
        </p:nvCxnSpPr>
        <p:spPr>
          <a:xfrm>
            <a:off x="731520" y="2962656"/>
            <a:ext cx="10762488" cy="0"/>
          </a:xfrm>
          <a:prstGeom prst="line">
            <a:avLst/>
          </a:prstGeom>
          <a:ln w="6350">
            <a:solidFill>
              <a:srgbClr val="DCE4DA"/>
            </a:solidFill>
          </a:ln>
          <a:effectLst/>
        </p:spPr>
        <p:style>
          <a:lnRef idx="2">
            <a:schemeClr val="accent1"/>
          </a:lnRef>
          <a:fillRef idx="0">
            <a:schemeClr val="accent1"/>
          </a:fillRef>
          <a:effectRef idx="0">
            <a:schemeClr val="accent1"/>
          </a:effectRef>
          <a:fontRef idx="minor">
            <a:schemeClr val="tx1"/>
          </a:fontRef>
        </p:style>
      </p:cxnSp>
      <p:sp>
        <p:nvSpPr>
          <p:cNvPr id="15" name="TextBox 14"/>
          <p:cNvSpPr txBox="1"/>
          <p:nvPr/>
        </p:nvSpPr>
        <p:spPr>
          <a:xfrm>
            <a:off x="740664" y="3044952"/>
            <a:ext cx="3017520" cy="374904"/>
          </a:xfrm>
          <a:prstGeom prst="rect">
            <a:avLst/>
          </a:prstGeom>
          <a:noFill/>
          <a:effectLst/>
        </p:spPr>
        <p:txBody>
          <a:bodyPr wrap="square" lIns="0" tIns="0" rIns="0" bIns="0" anchor="t">
            <a:spAutoFit/>
          </a:bodyPr>
          <a:lstStyle/>
          <a:p>
            <a:pPr algn="l">
              <a:lnSpc>
                <a:spcPct val="112000"/>
              </a:lnSpc>
              <a:spcBef>
                <a:spcPts val="0"/>
              </a:spcBef>
              <a:spcAft>
                <a:spcPts val="500"/>
              </a:spcAft>
              <a:defRPr sz="1100" b="1">
                <a:solidFill>
                  <a:srgbClr val="215C49"/>
                </a:solidFill>
                <a:latin typeface="Arial"/>
              </a:defRPr>
            </a:pPr>
            <a:r>
              <a:t>DISTRICT GEOMETRY + CONTEXT</a:t>
            </a:r>
          </a:p>
        </p:txBody>
      </p:sp>
      <p:sp>
        <p:nvSpPr>
          <p:cNvPr id="16" name="TextBox 15"/>
          <p:cNvSpPr txBox="1"/>
          <p:nvPr/>
        </p:nvSpPr>
        <p:spPr>
          <a:xfrm>
            <a:off x="3767328" y="3044952"/>
            <a:ext cx="7525512" cy="475488"/>
          </a:xfrm>
          <a:prstGeom prst="rect">
            <a:avLst/>
          </a:prstGeom>
          <a:noFill/>
          <a:effectLst/>
        </p:spPr>
        <p:txBody>
          <a:bodyPr wrap="square" lIns="0" tIns="0" rIns="0" bIns="0" anchor="t">
            <a:spAutoFit/>
          </a:bodyPr>
          <a:lstStyle/>
          <a:p>
            <a:pPr algn="l">
              <a:lnSpc>
                <a:spcPct val="112000"/>
              </a:lnSpc>
              <a:spcBef>
                <a:spcPts val="0"/>
              </a:spcBef>
              <a:spcAft>
                <a:spcPts val="500"/>
              </a:spcAft>
              <a:defRPr sz="1600" b="0">
                <a:solidFill>
                  <a:srgbClr val="233D33"/>
                </a:solidFill>
                <a:latin typeface="Arial"/>
              </a:defRPr>
            </a:pPr>
            <a:r>
              <a:rPr>
                <a:hlinkClick r:id="rId4"/>
              </a:rPr>
              <a:t>geoBoundaries IND ADM2, 2021 • ODbL 1.0; official district profile</a:t>
            </a:r>
          </a:p>
        </p:txBody>
      </p:sp>
      <p:cxnSp>
        <p:nvCxnSpPr>
          <p:cNvPr id="17" name="Connector 16"/>
          <p:cNvCxnSpPr/>
          <p:nvPr/>
        </p:nvCxnSpPr>
        <p:spPr>
          <a:xfrm>
            <a:off x="731520" y="3570732"/>
            <a:ext cx="10762488" cy="0"/>
          </a:xfrm>
          <a:prstGeom prst="line">
            <a:avLst/>
          </a:prstGeom>
          <a:ln w="6350">
            <a:solidFill>
              <a:srgbClr val="DCE4DA"/>
            </a:solidFill>
          </a:ln>
          <a:effectLst/>
        </p:spPr>
        <p:style>
          <a:lnRef idx="2">
            <a:schemeClr val="accent1"/>
          </a:lnRef>
          <a:fillRef idx="0">
            <a:schemeClr val="accent1"/>
          </a:fillRef>
          <a:effectRef idx="0">
            <a:schemeClr val="accent1"/>
          </a:effectRef>
          <a:fontRef idx="minor">
            <a:schemeClr val="tx1"/>
          </a:fontRef>
        </p:style>
      </p:cxnSp>
      <p:sp>
        <p:nvSpPr>
          <p:cNvPr id="18" name="TextBox 17"/>
          <p:cNvSpPr txBox="1"/>
          <p:nvPr/>
        </p:nvSpPr>
        <p:spPr>
          <a:xfrm>
            <a:off x="740664" y="3653028"/>
            <a:ext cx="3017520" cy="374904"/>
          </a:xfrm>
          <a:prstGeom prst="rect">
            <a:avLst/>
          </a:prstGeom>
          <a:noFill/>
          <a:effectLst/>
        </p:spPr>
        <p:txBody>
          <a:bodyPr wrap="square" lIns="0" tIns="0" rIns="0" bIns="0" anchor="t">
            <a:spAutoFit/>
          </a:bodyPr>
          <a:lstStyle/>
          <a:p>
            <a:pPr algn="l">
              <a:lnSpc>
                <a:spcPct val="112000"/>
              </a:lnSpc>
              <a:spcBef>
                <a:spcPts val="0"/>
              </a:spcBef>
              <a:spcAft>
                <a:spcPts val="500"/>
              </a:spcAft>
              <a:defRPr sz="1100" b="1">
                <a:solidFill>
                  <a:srgbClr val="215C49"/>
                </a:solidFill>
                <a:latin typeface="Arial"/>
              </a:defRPr>
            </a:pPr>
            <a:r>
              <a:t>OPEN-SOURCE MODEL</a:t>
            </a:r>
          </a:p>
        </p:txBody>
      </p:sp>
      <p:sp>
        <p:nvSpPr>
          <p:cNvPr id="19" name="TextBox 18"/>
          <p:cNvSpPr txBox="1"/>
          <p:nvPr/>
        </p:nvSpPr>
        <p:spPr>
          <a:xfrm>
            <a:off x="3767328" y="3653028"/>
            <a:ext cx="7525512" cy="475488"/>
          </a:xfrm>
          <a:prstGeom prst="rect">
            <a:avLst/>
          </a:prstGeom>
          <a:noFill/>
          <a:effectLst/>
        </p:spPr>
        <p:txBody>
          <a:bodyPr wrap="square" lIns="0" tIns="0" rIns="0" bIns="0" anchor="t">
            <a:spAutoFit/>
          </a:bodyPr>
          <a:lstStyle/>
          <a:p>
            <a:pPr algn="l">
              <a:lnSpc>
                <a:spcPct val="112000"/>
              </a:lnSpc>
              <a:spcBef>
                <a:spcPts val="0"/>
              </a:spcBef>
              <a:spcAft>
                <a:spcPts val="500"/>
              </a:spcAft>
              <a:defRPr sz="1600" b="0">
                <a:solidFill>
                  <a:srgbClr val="233D33"/>
                </a:solidFill>
                <a:latin typeface="Arial"/>
              </a:defRPr>
            </a:pPr>
            <a:r>
              <a:rPr>
                <a:hlinkClick r:id="rId5"/>
              </a:rPr>
              <a:t>scikit-learn 1.6.1 • KNeighborsClassifier • BSD-3-Clause</a:t>
            </a:r>
          </a:p>
        </p:txBody>
      </p:sp>
      <p:cxnSp>
        <p:nvCxnSpPr>
          <p:cNvPr id="20" name="Connector 19"/>
          <p:cNvCxnSpPr/>
          <p:nvPr/>
        </p:nvCxnSpPr>
        <p:spPr>
          <a:xfrm>
            <a:off x="731520" y="4178808"/>
            <a:ext cx="10762488" cy="0"/>
          </a:xfrm>
          <a:prstGeom prst="line">
            <a:avLst/>
          </a:prstGeom>
          <a:ln w="6350">
            <a:solidFill>
              <a:srgbClr val="DCE4DA"/>
            </a:solidFill>
          </a:ln>
          <a:effectLst/>
        </p:spPr>
        <p:style>
          <a:lnRef idx="2">
            <a:schemeClr val="accent1"/>
          </a:lnRef>
          <a:fillRef idx="0">
            <a:schemeClr val="accent1"/>
          </a:fillRef>
          <a:effectRef idx="0">
            <a:schemeClr val="accent1"/>
          </a:effectRef>
          <a:fontRef idx="minor">
            <a:schemeClr val="tx1"/>
          </a:fontRef>
        </p:style>
      </p:cxnSp>
      <p:sp>
        <p:nvSpPr>
          <p:cNvPr id="21" name="TextBox 20"/>
          <p:cNvSpPr txBox="1"/>
          <p:nvPr/>
        </p:nvSpPr>
        <p:spPr>
          <a:xfrm>
            <a:off x="740664" y="4261104"/>
            <a:ext cx="3017520" cy="374904"/>
          </a:xfrm>
          <a:prstGeom prst="rect">
            <a:avLst/>
          </a:prstGeom>
          <a:noFill/>
          <a:effectLst/>
        </p:spPr>
        <p:txBody>
          <a:bodyPr wrap="square" lIns="0" tIns="0" rIns="0" bIns="0" anchor="t">
            <a:spAutoFit/>
          </a:bodyPr>
          <a:lstStyle/>
          <a:p>
            <a:pPr algn="l">
              <a:lnSpc>
                <a:spcPct val="112000"/>
              </a:lnSpc>
              <a:spcBef>
                <a:spcPts val="0"/>
              </a:spcBef>
              <a:spcAft>
                <a:spcPts val="500"/>
              </a:spcAft>
              <a:defRPr sz="1100" b="1">
                <a:solidFill>
                  <a:srgbClr val="215C49"/>
                </a:solidFill>
                <a:latin typeface="Arial"/>
              </a:defRPr>
            </a:pPr>
            <a:r>
              <a:t>OPTIONAL MODEL ONLY</a:t>
            </a:r>
          </a:p>
        </p:txBody>
      </p:sp>
      <p:sp>
        <p:nvSpPr>
          <p:cNvPr id="22" name="TextBox 21"/>
          <p:cNvSpPr txBox="1"/>
          <p:nvPr/>
        </p:nvSpPr>
        <p:spPr>
          <a:xfrm>
            <a:off x="3767328" y="4261104"/>
            <a:ext cx="7525512" cy="475488"/>
          </a:xfrm>
          <a:prstGeom prst="rect">
            <a:avLst/>
          </a:prstGeom>
          <a:noFill/>
          <a:effectLst/>
        </p:spPr>
        <p:txBody>
          <a:bodyPr wrap="square" lIns="0" tIns="0" rIns="0" bIns="0" anchor="t">
            <a:spAutoFit/>
          </a:bodyPr>
          <a:lstStyle/>
          <a:p>
            <a:pPr algn="l">
              <a:lnSpc>
                <a:spcPct val="112000"/>
              </a:lnSpc>
              <a:spcBef>
                <a:spcPts val="0"/>
              </a:spcBef>
              <a:spcAft>
                <a:spcPts val="500"/>
              </a:spcAft>
              <a:defRPr sz="1600" b="0">
                <a:solidFill>
                  <a:srgbClr val="233D33"/>
                </a:solidFill>
                <a:latin typeface="Arial"/>
              </a:defRPr>
            </a:pPr>
            <a:r>
              <a:rPr>
                <a:hlinkClick r:id="rId6"/>
              </a:rPr>
              <a:t>AI4Bharat IndicTrans2 En–Indic 200M • not integrated</a:t>
            </a:r>
          </a:p>
        </p:txBody>
      </p:sp>
      <p:cxnSp>
        <p:nvCxnSpPr>
          <p:cNvPr id="23" name="Connector 22"/>
          <p:cNvCxnSpPr/>
          <p:nvPr/>
        </p:nvCxnSpPr>
        <p:spPr>
          <a:xfrm>
            <a:off x="731520" y="4786884"/>
            <a:ext cx="10762488" cy="0"/>
          </a:xfrm>
          <a:prstGeom prst="line">
            <a:avLst/>
          </a:prstGeom>
          <a:ln w="6350">
            <a:solidFill>
              <a:srgbClr val="DCE4DA"/>
            </a:solidFill>
          </a:ln>
          <a:effectLst/>
        </p:spPr>
        <p:style>
          <a:lnRef idx="2">
            <a:schemeClr val="accent1"/>
          </a:lnRef>
          <a:fillRef idx="0">
            <a:schemeClr val="accent1"/>
          </a:fillRef>
          <a:effectRef idx="0">
            <a:schemeClr val="accent1"/>
          </a:effectRef>
          <a:fontRef idx="minor">
            <a:schemeClr val="tx1"/>
          </a:fontRef>
        </p:style>
      </p:cxnSp>
      <p:sp>
        <p:nvSpPr>
          <p:cNvPr id="24" name="TextBox 23"/>
          <p:cNvSpPr txBox="1"/>
          <p:nvPr/>
        </p:nvSpPr>
        <p:spPr>
          <a:xfrm>
            <a:off x="740664" y="4869180"/>
            <a:ext cx="3017520" cy="374904"/>
          </a:xfrm>
          <a:prstGeom prst="rect">
            <a:avLst/>
          </a:prstGeom>
          <a:noFill/>
          <a:effectLst/>
        </p:spPr>
        <p:txBody>
          <a:bodyPr wrap="square" lIns="0" tIns="0" rIns="0" bIns="0" anchor="t">
            <a:spAutoFit/>
          </a:bodyPr>
          <a:lstStyle/>
          <a:p>
            <a:pPr algn="l">
              <a:lnSpc>
                <a:spcPct val="112000"/>
              </a:lnSpc>
              <a:spcBef>
                <a:spcPts val="0"/>
              </a:spcBef>
              <a:spcAft>
                <a:spcPts val="500"/>
              </a:spcAft>
              <a:defRPr sz="1100" b="1">
                <a:solidFill>
                  <a:srgbClr val="215C49"/>
                </a:solidFill>
                <a:latin typeface="Arial"/>
              </a:defRPr>
            </a:pPr>
            <a:r>
              <a:t>DEPLOYMENT</a:t>
            </a:r>
          </a:p>
        </p:txBody>
      </p:sp>
      <p:sp>
        <p:nvSpPr>
          <p:cNvPr id="25" name="TextBox 24"/>
          <p:cNvSpPr txBox="1"/>
          <p:nvPr/>
        </p:nvSpPr>
        <p:spPr>
          <a:xfrm>
            <a:off x="3767328" y="4869180"/>
            <a:ext cx="7525512" cy="475488"/>
          </a:xfrm>
          <a:prstGeom prst="rect">
            <a:avLst/>
          </a:prstGeom>
          <a:noFill/>
          <a:effectLst/>
        </p:spPr>
        <p:txBody>
          <a:bodyPr wrap="square" lIns="0" tIns="0" rIns="0" bIns="0" anchor="t">
            <a:spAutoFit/>
          </a:bodyPr>
          <a:lstStyle/>
          <a:p>
            <a:pPr algn="l">
              <a:lnSpc>
                <a:spcPct val="112000"/>
              </a:lnSpc>
              <a:spcBef>
                <a:spcPts val="0"/>
              </a:spcBef>
              <a:spcAft>
                <a:spcPts val="500"/>
              </a:spcAft>
              <a:defRPr sz="1600" b="0">
                <a:solidFill>
                  <a:srgbClr val="233D33"/>
                </a:solidFill>
                <a:latin typeface="Arial"/>
              </a:defRPr>
            </a:pPr>
            <a:r>
              <a:rPr>
                <a:hlinkClick r:id="rId7"/>
              </a:rPr>
              <a:t>Render Blueprint documentation • account setup remains pending</a:t>
            </a:r>
          </a:p>
        </p:txBody>
      </p:sp>
      <p:cxnSp>
        <p:nvCxnSpPr>
          <p:cNvPr id="26" name="Connector 25"/>
          <p:cNvCxnSpPr/>
          <p:nvPr/>
        </p:nvCxnSpPr>
        <p:spPr>
          <a:xfrm>
            <a:off x="731520" y="5394960"/>
            <a:ext cx="10762488" cy="0"/>
          </a:xfrm>
          <a:prstGeom prst="line">
            <a:avLst/>
          </a:prstGeom>
          <a:ln w="6350">
            <a:solidFill>
              <a:srgbClr val="DCE4DA"/>
            </a:solidFill>
          </a:ln>
          <a:effectLst/>
        </p:spPr>
        <p:style>
          <a:lnRef idx="2">
            <a:schemeClr val="accent1"/>
          </a:lnRef>
          <a:fillRef idx="0">
            <a:schemeClr val="accent1"/>
          </a:fillRef>
          <a:effectRef idx="0">
            <a:schemeClr val="accent1"/>
          </a:effectRef>
          <a:fontRef idx="minor">
            <a:schemeClr val="tx1"/>
          </a:fontRef>
        </p:style>
      </p:cxnSp>
      <p:sp>
        <p:nvSpPr>
          <p:cNvPr id="27" name="TextBox 26"/>
          <p:cNvSpPr txBox="1"/>
          <p:nvPr/>
        </p:nvSpPr>
        <p:spPr>
          <a:xfrm>
            <a:off x="740664" y="5751576"/>
            <a:ext cx="10716768" cy="365760"/>
          </a:xfrm>
          <a:prstGeom prst="rect">
            <a:avLst/>
          </a:prstGeom>
          <a:noFill/>
          <a:effectLst/>
        </p:spPr>
        <p:txBody>
          <a:bodyPr wrap="square" lIns="0" tIns="0" rIns="0" bIns="0" anchor="t">
            <a:spAutoFit/>
          </a:bodyPr>
          <a:lstStyle/>
          <a:p>
            <a:pPr algn="l">
              <a:lnSpc>
                <a:spcPct val="112000"/>
              </a:lnSpc>
              <a:spcBef>
                <a:spcPts val="0"/>
              </a:spcBef>
              <a:spcAft>
                <a:spcPts val="500"/>
              </a:spcAft>
              <a:defRPr sz="1400" b="0">
                <a:solidFill>
                  <a:srgbClr val="5C6B62"/>
                </a:solidFill>
                <a:latin typeface="Arial"/>
              </a:defRPr>
            </a:pPr>
            <a:r>
              <a:t>Asset credits: Twemoji / Twitter contributors (CC BY 4.0); Noto Sans Kannada (SIL OFL 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215C49"/>
      </a:hlink>
      <a:folHlink>
        <a:srgbClr val="A25436"/>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6300</Words>
  <Application>Microsoft Office PowerPoint</Application>
  <PresentationFormat>Widescreen</PresentationFormat>
  <Paragraphs>716</Paragraphs>
  <Slides>24</Slides>
  <Notes>24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Sahaya — Classroom Presentation | Dr. Lokesh M R</dc:title>
  <dc:subject>Community Project 1BCP308 | Report-based classroom presentation</dc:subject>
  <dc:creator>Dr. Lokesh M R</dc:creator>
  <cp:keywords>Sahaya, English, Kannada, Dakshina Kannada, community project, open data, Render</cp:keywords>
  <dc:description>generated using python-pptx</dc:description>
  <cp:lastModifiedBy>User</cp:lastModifiedBy>
  <cp:revision>2</cp:revision>
  <dcterms:created xsi:type="dcterms:W3CDTF">2013-01-27T09:14:16Z</dcterms:created>
  <dcterms:modified xsi:type="dcterms:W3CDTF">2026-09-19T22:07:35Z</dcterms:modified>
  <cp:category/>
</cp:coreProperties>
</file>